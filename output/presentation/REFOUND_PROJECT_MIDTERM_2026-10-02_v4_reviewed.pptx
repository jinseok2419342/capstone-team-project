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a63a07ecf64501" /><Relationship Type="http://schemas.openxmlformats.org/officeDocument/2006/relationships/extended-properties" Target="/docProps/app.xml" Id="R842e9791b7484469" /><Relationship Type="http://schemas.openxmlformats.org/officeDocument/2006/relationships/officeDocument" Target="/ppt/presentation.xml" Id="R99ef1e7a345549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6539ac84d4871"/>
  </p:sldMasterIdLst>
  <p:notesMasterIdLst>
    <p:notesMasterId xmlns:r="http://schemas.openxmlformats.org/officeDocument/2006/relationships" r:id="R74c7ac26a29a4e93"/>
  </p:notesMasterIdLst>
  <p:sldIdLst>
    <p:sldId xmlns:r="http://schemas.openxmlformats.org/officeDocument/2006/relationships" id="256" r:id="Re78e6857049b405a"/>
    <p:sldId xmlns:r="http://schemas.openxmlformats.org/officeDocument/2006/relationships" id="257" r:id="R8e05c7be45074af1"/>
    <p:sldId xmlns:r="http://schemas.openxmlformats.org/officeDocument/2006/relationships" id="258" r:id="R04ab87628b9e44de"/>
    <p:sldId xmlns:r="http://schemas.openxmlformats.org/officeDocument/2006/relationships" id="259" r:id="R082ddeb0536c400c"/>
    <p:sldId xmlns:r="http://schemas.openxmlformats.org/officeDocument/2006/relationships" id="260" r:id="Rd1666dac801e4deb"/>
    <p:sldId xmlns:r="http://schemas.openxmlformats.org/officeDocument/2006/relationships" id="261" r:id="R28d8f9b75a4f4c89"/>
    <p:sldId xmlns:r="http://schemas.openxmlformats.org/officeDocument/2006/relationships" id="262" r:id="R949edeaee4e94487"/>
    <p:sldId xmlns:r="http://schemas.openxmlformats.org/officeDocument/2006/relationships" id="263" r:id="Rba0890a39393497e"/>
    <p:sldId xmlns:r="http://schemas.openxmlformats.org/officeDocument/2006/relationships" id="264" r:id="Rb1c7370f15c54a44"/>
    <p:sldId xmlns:r="http://schemas.openxmlformats.org/officeDocument/2006/relationships" id="265" r:id="R2d035f62cb9b471b"/>
    <p:sldId xmlns:r="http://schemas.openxmlformats.org/officeDocument/2006/relationships" id="266" r:id="Rcf46aab6c351469a"/>
    <p:sldId xmlns:r="http://schemas.openxmlformats.org/officeDocument/2006/relationships" id="267" r:id="R72e658db850841ad"/>
    <p:sldId xmlns:r="http://schemas.openxmlformats.org/officeDocument/2006/relationships" id="268" r:id="R0e2c821492464b43"/>
    <p:sldId xmlns:r="http://schemas.openxmlformats.org/officeDocument/2006/relationships" id="269" r:id="Raaeb2a8492c44340"/>
    <p:sldId xmlns:r="http://schemas.openxmlformats.org/officeDocument/2006/relationships" id="270" r:id="R45de4a0bf9cd441b"/>
    <p:sldId xmlns:r="http://schemas.openxmlformats.org/officeDocument/2006/relationships" id="271" r:id="R9bf7a0dad7b94ce1"/>
    <p:sldId xmlns:r="http://schemas.openxmlformats.org/officeDocument/2006/relationships" id="272" r:id="R202a83d647524b32"/>
    <p:sldId xmlns:r="http://schemas.openxmlformats.org/officeDocument/2006/relationships" id="273" r:id="R384c034959d54dc7"/>
    <p:sldId xmlns:r="http://schemas.openxmlformats.org/officeDocument/2006/relationships" id="274" r:id="Rf1c757d1de394371"/>
    <p:sldId xmlns:r="http://schemas.openxmlformats.org/officeDocument/2006/relationships" id="275" r:id="Rbd38c46cdd8e48fa"/>
    <p:sldId xmlns:r="http://schemas.openxmlformats.org/officeDocument/2006/relationships" id="276" r:id="Raccbc873e6354468"/>
    <p:sldId xmlns:r="http://schemas.openxmlformats.org/officeDocument/2006/relationships" id="277" r:id="R07b7ad12c2d94b23"/>
    <p:sldId xmlns:r="http://schemas.openxmlformats.org/officeDocument/2006/relationships" id="278" r:id="R793248d427164b8a"/>
    <p:sldId xmlns:r="http://schemas.openxmlformats.org/officeDocument/2006/relationships" id="279" r:id="Re172859583474642"/>
    <p:sldId xmlns:r="http://schemas.openxmlformats.org/officeDocument/2006/relationships" id="280" r:id="R72e10579919f4519"/>
    <p:sldId xmlns:r="http://schemas.openxmlformats.org/officeDocument/2006/relationships" id="281" r:id="R1c4f3cc5ade14cf9"/>
    <p:sldId xmlns:r="http://schemas.openxmlformats.org/officeDocument/2006/relationships" id="282" r:id="Rca0cc0644eb94d07"/>
    <p:sldId xmlns:r="http://schemas.openxmlformats.org/officeDocument/2006/relationships" id="283" r:id="R007db97fa5ff4d49"/>
    <p:sldId xmlns:r="http://schemas.openxmlformats.org/officeDocument/2006/relationships" id="284" r:id="Rcafa112239af42a5"/>
    <p:sldId xmlns:r="http://schemas.openxmlformats.org/officeDocument/2006/relationships" id="285" r:id="R96d1a51c5d474a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5e5be8e4434a24" /><Relationship Type="http://schemas.openxmlformats.org/officeDocument/2006/relationships/slideMaster" Target="/ppt/slideMasters/slideMaster1.xml" Id="Reee6539ac84d4871" /><Relationship Type="http://schemas.openxmlformats.org/officeDocument/2006/relationships/notesMaster" Target="/ppt/notesMasters/notesMaster1.xml" Id="R74c7ac26a29a4e93" /><Relationship Type="http://schemas.openxmlformats.org/officeDocument/2006/relationships/presProps" Target="/ppt/presProps.xml" Id="R959fb322185349de" /><Relationship Type="http://schemas.openxmlformats.org/officeDocument/2006/relationships/tableStyles" Target="/ppt/tableStyles.xml" Id="R161195977b9f4b8a" /><Relationship Type="http://schemas.openxmlformats.org/officeDocument/2006/relationships/slide" Target="/ppt/slides/slide1.xml" Id="Re78e6857049b405a" /><Relationship Type="http://schemas.openxmlformats.org/officeDocument/2006/relationships/slide" Target="/ppt/slides/slide2.xml" Id="R8e05c7be45074af1" /><Relationship Type="http://schemas.openxmlformats.org/officeDocument/2006/relationships/slide" Target="/ppt/slides/slide3.xml" Id="R04ab87628b9e44de" /><Relationship Type="http://schemas.openxmlformats.org/officeDocument/2006/relationships/slide" Target="/ppt/slides/slide4.xml" Id="R082ddeb0536c400c" /><Relationship Type="http://schemas.openxmlformats.org/officeDocument/2006/relationships/slide" Target="/ppt/slides/slide5.xml" Id="Rd1666dac801e4deb" /><Relationship Type="http://schemas.openxmlformats.org/officeDocument/2006/relationships/slide" Target="/ppt/slides/slide6.xml" Id="R28d8f9b75a4f4c89" /><Relationship Type="http://schemas.openxmlformats.org/officeDocument/2006/relationships/slide" Target="/ppt/slides/slide7.xml" Id="R949edeaee4e94487" /><Relationship Type="http://schemas.openxmlformats.org/officeDocument/2006/relationships/slide" Target="/ppt/slides/slide8.xml" Id="Rba0890a39393497e" /><Relationship Type="http://schemas.openxmlformats.org/officeDocument/2006/relationships/slide" Target="/ppt/slides/slide9.xml" Id="Rb1c7370f15c54a44" /><Relationship Type="http://schemas.openxmlformats.org/officeDocument/2006/relationships/slide" Target="/ppt/slides/slide10.xml" Id="R2d035f62cb9b471b" /><Relationship Type="http://schemas.openxmlformats.org/officeDocument/2006/relationships/slide" Target="/ppt/slides/slide11.xml" Id="Rcf46aab6c351469a" /><Relationship Type="http://schemas.openxmlformats.org/officeDocument/2006/relationships/slide" Target="/ppt/slides/slide12.xml" Id="R72e658db850841ad" /><Relationship Type="http://schemas.openxmlformats.org/officeDocument/2006/relationships/slide" Target="/ppt/slides/slide13.xml" Id="R0e2c821492464b43" /><Relationship Type="http://schemas.openxmlformats.org/officeDocument/2006/relationships/slide" Target="/ppt/slides/slide14.xml" Id="Raaeb2a8492c44340" /><Relationship Type="http://schemas.openxmlformats.org/officeDocument/2006/relationships/slide" Target="/ppt/slides/slide15.xml" Id="R45de4a0bf9cd441b" /><Relationship Type="http://schemas.openxmlformats.org/officeDocument/2006/relationships/slide" Target="/ppt/slides/slide16.xml" Id="R9bf7a0dad7b94ce1" /><Relationship Type="http://schemas.openxmlformats.org/officeDocument/2006/relationships/slide" Target="/ppt/slides/slide17.xml" Id="R202a83d647524b32" /><Relationship Type="http://schemas.openxmlformats.org/officeDocument/2006/relationships/slide" Target="/ppt/slides/slide18.xml" Id="R384c034959d54dc7" /><Relationship Type="http://schemas.openxmlformats.org/officeDocument/2006/relationships/slide" Target="/ppt/slides/slide19.xml" Id="Rf1c757d1de394371" /><Relationship Type="http://schemas.openxmlformats.org/officeDocument/2006/relationships/slide" Target="/ppt/slides/slide20.xml" Id="Rbd38c46cdd8e48fa" /><Relationship Type="http://schemas.openxmlformats.org/officeDocument/2006/relationships/slide" Target="/ppt/slides/slide21.xml" Id="Raccbc873e6354468" /><Relationship Type="http://schemas.openxmlformats.org/officeDocument/2006/relationships/slide" Target="/ppt/slides/slide22.xml" Id="R07b7ad12c2d94b23" /><Relationship Type="http://schemas.openxmlformats.org/officeDocument/2006/relationships/slide" Target="/ppt/slides/slide23.xml" Id="R793248d427164b8a" /><Relationship Type="http://schemas.openxmlformats.org/officeDocument/2006/relationships/slide" Target="/ppt/slides/slide24.xml" Id="Re172859583474642" /><Relationship Type="http://schemas.openxmlformats.org/officeDocument/2006/relationships/slide" Target="/ppt/slides/slide25.xml" Id="R72e10579919f4519" /><Relationship Type="http://schemas.openxmlformats.org/officeDocument/2006/relationships/slide" Target="/ppt/slides/slide26.xml" Id="R1c4f3cc5ade14cf9" /><Relationship Type="http://schemas.openxmlformats.org/officeDocument/2006/relationships/slide" Target="/ppt/slides/slide27.xml" Id="Rca0cc0644eb94d07" /><Relationship Type="http://schemas.openxmlformats.org/officeDocument/2006/relationships/slide" Target="/ppt/slides/slide28.xml" Id="R007db97fa5ff4d49" /><Relationship Type="http://schemas.openxmlformats.org/officeDocument/2006/relationships/slide" Target="/ppt/slides/slide29.xml" Id="Rcafa112239af42a5" /><Relationship Type="http://schemas.openxmlformats.org/officeDocument/2006/relationships/slide" Target="/ppt/slides/slide30.xml" Id="R96d1a51c5d474a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a58012cd96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814cc5a9ea4d3b" /><Relationship Type="http://schemas.openxmlformats.org/officeDocument/2006/relationships/notesMaster" Target="/ppt/notesMasters/notesMaster1.xml" Id="R7a61dc9985fd4d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094d2ef8549d3" /><Relationship Type="http://schemas.openxmlformats.org/officeDocument/2006/relationships/notesMaster" Target="/ppt/notesMasters/notesMaster1.xml" Id="R93d032eb6b1f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1f50e9d4b5459b" /><Relationship Type="http://schemas.openxmlformats.org/officeDocument/2006/relationships/notesMaster" Target="/ppt/notesMasters/notesMaster1.xml" Id="Re3b1dd46e41946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a4dd7133e4d1c" /><Relationship Type="http://schemas.openxmlformats.org/officeDocument/2006/relationships/notesMaster" Target="/ppt/notesMasters/notesMaster1.xml" Id="R15d904c7baa9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15e346ebf54590" /><Relationship Type="http://schemas.openxmlformats.org/officeDocument/2006/relationships/notesMaster" Target="/ppt/notesMasters/notesMaster1.xml" Id="Ree8fc8d32b4b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14b71508bd436f" /><Relationship Type="http://schemas.openxmlformats.org/officeDocument/2006/relationships/notesMaster" Target="/ppt/notesMasters/notesMaster1.xml" Id="R411b8febf64a40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992a7948ad4996" /><Relationship Type="http://schemas.openxmlformats.org/officeDocument/2006/relationships/notesMaster" Target="/ppt/notesMasters/notesMaster1.xml" Id="Rb00efea2166042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33e13008454575" /><Relationship Type="http://schemas.openxmlformats.org/officeDocument/2006/relationships/notesMaster" Target="/ppt/notesMasters/notesMaster1.xml" Id="Rb438e88b3b034d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7af6ba47c84694" /><Relationship Type="http://schemas.openxmlformats.org/officeDocument/2006/relationships/notesMaster" Target="/ppt/notesMasters/notesMaster1.xml" Id="Rdd67355865df45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2feaa944e94e3d" /><Relationship Type="http://schemas.openxmlformats.org/officeDocument/2006/relationships/notesMaster" Target="/ppt/notesMasters/notesMaster1.xml" Id="R1d46628a3ed343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e9208c4a3c4bb8" /><Relationship Type="http://schemas.openxmlformats.org/officeDocument/2006/relationships/notesMaster" Target="/ppt/notesMasters/notesMaster1.xml" Id="R70e9c0a9b9b549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9b5221cea34108" /><Relationship Type="http://schemas.openxmlformats.org/officeDocument/2006/relationships/notesMaster" Target="/ppt/notesMasters/notesMaster1.xml" Id="Re38de6d6769f4d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03ba672cc54cd3" /><Relationship Type="http://schemas.openxmlformats.org/officeDocument/2006/relationships/notesMaster" Target="/ppt/notesMasters/notesMaster1.xml" Id="R39833eb3a8be44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84b896f7ee452d" /><Relationship Type="http://schemas.openxmlformats.org/officeDocument/2006/relationships/notesMaster" Target="/ppt/notesMasters/notesMaster1.xml" Id="R10cb821e45714a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6a706eee6f4353" /><Relationship Type="http://schemas.openxmlformats.org/officeDocument/2006/relationships/notesMaster" Target="/ppt/notesMasters/notesMaster1.xml" Id="Rd4257ba50d724a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f674e816ce4c77" /><Relationship Type="http://schemas.openxmlformats.org/officeDocument/2006/relationships/notesMaster" Target="/ppt/notesMasters/notesMaster1.xml" Id="R2242f1d85e424d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f6e6806ba94285" /><Relationship Type="http://schemas.openxmlformats.org/officeDocument/2006/relationships/notesMaster" Target="/ppt/notesMasters/notesMaster1.xml" Id="R307113c0d2e34d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fd38bc89e04b55" /><Relationship Type="http://schemas.openxmlformats.org/officeDocument/2006/relationships/notesMaster" Target="/ppt/notesMasters/notesMaster1.xml" Id="R347c7fde5f974a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b23e13c6374798" /><Relationship Type="http://schemas.openxmlformats.org/officeDocument/2006/relationships/notesMaster" Target="/ppt/notesMasters/notesMaster1.xml" Id="Re4723a0018cc4e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f048d1d6c14628" /><Relationship Type="http://schemas.openxmlformats.org/officeDocument/2006/relationships/notesMaster" Target="/ppt/notesMasters/notesMaster1.xml" Id="Ra9b094a57e9b46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2da34eb3a04db5" /><Relationship Type="http://schemas.openxmlformats.org/officeDocument/2006/relationships/notesMaster" Target="/ppt/notesMasters/notesMaster1.xml" Id="R8e0f136369dc4a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e2efa4af194425" /><Relationship Type="http://schemas.openxmlformats.org/officeDocument/2006/relationships/notesMaster" Target="/ppt/notesMasters/notesMaster1.xml" Id="Raf12bcd6a47d45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00277f89584e1f" /><Relationship Type="http://schemas.openxmlformats.org/officeDocument/2006/relationships/notesMaster" Target="/ppt/notesMasters/notesMaster1.xml" Id="Rf24c92bfb7fe40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573e9ee48b4558" /><Relationship Type="http://schemas.openxmlformats.org/officeDocument/2006/relationships/notesMaster" Target="/ppt/notesMasters/notesMaster1.xml" Id="Rde94f8abbec242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20fe07bfaa4a05" /><Relationship Type="http://schemas.openxmlformats.org/officeDocument/2006/relationships/notesMaster" Target="/ppt/notesMasters/notesMaster1.xml" Id="Rc90ead960ce549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6a8ac78d8f04b86" /><Relationship Type="http://schemas.openxmlformats.org/officeDocument/2006/relationships/notesMaster" Target="/ppt/notesMasters/notesMaster1.xml" Id="R7746f24c990c48d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2880176a9a246fe" /><Relationship Type="http://schemas.openxmlformats.org/officeDocument/2006/relationships/notesMaster" Target="/ppt/notesMasters/notesMaster1.xml" Id="R65f41664506b41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4e89dc800da4c3f" /><Relationship Type="http://schemas.openxmlformats.org/officeDocument/2006/relationships/notesMaster" Target="/ppt/notesMasters/notesMaster1.xml" Id="Rabb6a2ea3da0493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8bcbdae4d14bd9" /><Relationship Type="http://schemas.openxmlformats.org/officeDocument/2006/relationships/notesMaster" Target="/ppt/notesMasters/notesMaster1.xml" Id="R2d9731433f3743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33626a97f742fd" /><Relationship Type="http://schemas.openxmlformats.org/officeDocument/2006/relationships/notesMaster" Target="/ppt/notesMasters/notesMaster1.xml" Id="R8d820232a74742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README.md의 프로젝트명·소속·팀원. 발표일은 사용자가 제공한 수업 일정. 실기 근거는 9월 29일 사용자 보고, 개발 검사는 9월 30일 기록까지 반영. 10월 2일에는 슬라이드를 검토·수정했으며 새 앱·Pi 실험은 수행하지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첨부: 프로젝트개발중간보고 목차구성.md</a:t>
            </a:r>
          </a:p>
          <a:p xmlns:a="http://schemas.openxmlformats.org/drawingml/2006/main">
            <a:r>
              <a:t>- 사용자 제공 수업 일정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문제 정의와 적용 환경은 프로젝트의 설계 가정이다. 기관별 업무 실태 조사나 정량적인 수작업 절감 결과로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app/main.py:534</a:t>
            </a:r>
          </a:p>
          <a:p xmlns:a="http://schemas.openxmlformats.org/drawingml/2006/main">
            <a:r>
              <a:t>- app/ai.py:80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app/main.py</a:t>
            </a:r>
          </a:p>
          <a:p xmlns:a="http://schemas.openxmlformats.org/drawingml/2006/main">
            <a:r>
              <a:t>- app/vision.py</a:t>
            </a:r>
          </a:p>
          <a:p xmlns:a="http://schemas.openxmlformats.org/drawingml/2006/main">
            <a:r>
              <a:t>- app/store.py</a:t>
            </a:r>
          </a:p>
          <a:p xmlns:a="http://schemas.openxmlformats.org/drawingml/2006/main">
            <a:r>
              <a:t>- app/ai.py</a:t>
            </a:r>
          </a:p>
          <a:p xmlns:a="http://schemas.openxmlformats.org/drawingml/2006/main">
            <a:r>
              <a:t>AI 응답은 FastAPI로 돌아와 현재 기록과 검토 상태를 확인한 뒤 반영한다. 웹의 편집 요청도 FastAPI로 들어온다. 간결성을 위해 그림은 주요 흐름만 표시했다.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output/maintenance/2026-09-22-network-plan/SESSION_STATUS.json</a:t>
            </a:r>
          </a:p>
          <a:p xmlns:a="http://schemas.openxmlformats.org/drawingml/2006/main">
            <a:r>
              <a:t>- app/camera_sources.py</a:t>
            </a:r>
          </a:p>
          <a:p xmlns:a="http://schemas.openxmlformats.org/drawingml/2006/main">
            <a:r>
              <a:t>- app/notifier.py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docs/VISION_REVIEW_2026-09-18.md</a:t>
            </a:r>
          </a:p>
          <a:p xmlns:a="http://schemas.openxmlformats.org/drawingml/2006/main">
            <a:r>
              <a:t>- output/maintenance/2026-09-22-network-plan/SESSION_STATUS.json</a:t>
            </a:r>
          </a:p>
          <a:p xmlns:a="http://schemas.openxmlformats.org/drawingml/2006/main">
            <a:r>
              <a:t>- REFOUND_WINDOWS_HOTSPOT_GUIDE.md</a:t>
            </a:r>
          </a:p>
          <a:p xmlns:a="http://schemas.openxmlformats.org/drawingml/2006/main">
            <a:r>
              <a:t>- output/maintenance/2026-09-30-sync-review/REVIEW.md</a:t>
            </a:r>
          </a:p>
          <a:p xmlns:a="http://schemas.openxmlformats.org/drawingml/2006/main">
            <a:r>
              <a:t>- 사용자 제공 수업 일정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공식 진행률의 분모·가중치·완료 기준이 제공되지 않았으므로 수치를 만들지 않았다. 작성 가이드의 가중 작업 산식으로 산정 후 입력한다. 초기 계획 대비 빠름/지연은 기존 예정 완료일이 없어 단정하지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output/maintenance/2026-09-22-quick-reset/VALIDATION.json</a:t>
            </a:r>
          </a:p>
          <a:p xmlns:a="http://schemas.openxmlformats.org/drawingml/2006/main">
            <a:r>
              <a:t>- REFOUND_WINDOWS_HOTSPOT_GUIDE.md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git log at 69eb6ff (2026-10-02 inspection)</a:t>
            </a:r>
          </a:p>
          <a:p xmlns:a="http://schemas.openxmlformats.org/drawingml/2006/main">
            <a:r>
              <a:t>로컬 git log에서 날짜·해시·작성자·메시지를 확인했다. 저장소: https://github.com/Jinseok2419342/Capstone-team-project . 표는 실제 이력을 옮긴 편집 가능한 표이며 화면 캡처를 합성하지 않았다. 팀의 담당 역할은 README의 정의로, 개별 팀원이 언제 어떤 검토를 수행했는지에 관한 추가 기록은 수집하지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app/vision.py</a:t>
            </a:r>
          </a:p>
          <a:p xmlns:a="http://schemas.openxmlformats.org/drawingml/2006/main">
            <a:r>
              <a:t>- app/main.py:534</a:t>
            </a:r>
          </a:p>
          <a:p xmlns:a="http://schemas.openxmlformats.org/drawingml/2006/main">
            <a:r>
              <a:t>- app/main.py:432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app/main.py:361</a:t>
            </a:r>
          </a:p>
          <a:p xmlns:a="http://schemas.openxmlformats.org/drawingml/2006/main">
            <a:r>
              <a:t>- app/main.py:534</a:t>
            </a:r>
          </a:p>
          <a:p xmlns:a="http://schemas.openxmlformats.org/drawingml/2006/main">
            <a:r>
              <a:t>- app/classification.py:49</a:t>
            </a:r>
          </a:p>
          <a:p xmlns:a="http://schemas.openxmlformats.org/drawingml/2006/main">
            <a:r>
              <a:t>- docs/ARCHITECTURE_REVIEW_2026-09-18.md</a:t>
            </a:r>
          </a:p>
          <a:p xmlns:a="http://schemas.openxmlformats.org/drawingml/2006/main">
            <a:r>
              <a:t>두 코드는 app/main.py handle_vision_change의 실제 문장에서 발췌했으며 중간 예외 처리·조건문은 생략했다. 아래 submit_classification 표현은 호출부만 발췌한 것으로 전체 if 문은 보충자료와 원본 코드에서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docs/LIVE_FLOW_REVIEW_2026-09-18.md</a:t>
            </a:r>
          </a:p>
          <a:p xmlns:a="http://schemas.openxmlformats.org/drawingml/2006/main">
            <a:r>
              <a:t>- output/maintenance/2026-09-18-live-flow-review/browser-classified-detail.png</a:t>
            </a:r>
          </a:p>
          <a:p xmlns:a="http://schemas.openxmlformats.org/drawingml/2006/main">
            <a:r>
              <a:t>왼쪽은 기존 개발 검사 PNG의 상세 창 영역만 비율을 유지해 잘랐다. 실제 카메라·원격 모델 결과로 해석하지 않는다. 오른쪽은 구현 흐름이다. 사용자 보고에서는 실물 등록·이동 시 중복 방지·제거 후 회수 확인에 성공했다고 했으나 개별 ID·사진은 수집하지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templates/index.html</a:t>
            </a:r>
          </a:p>
          <a:p xmlns:a="http://schemas.openxmlformats.org/drawingml/2006/main">
            <a:r>
              <a:t>- static/app.js</a:t>
            </a:r>
          </a:p>
          <a:p xmlns:a="http://schemas.openxmlformats.org/drawingml/2006/main">
            <a:r>
              <a:t>- output/maintenance/2026-09-22-quick-reset/VALIDATION.json</a:t>
            </a:r>
          </a:p>
          <a:p xmlns:a="http://schemas.openxmlformats.org/drawingml/2006/main">
            <a:r>
              <a:t>- output/maintenance/2026-09-22-quick-reset/browser-dashboard-1440.png</a:t>
            </a:r>
          </a:p>
          <a:p xmlns:a="http://schemas.openxmlformats.org/drawingml/2006/main">
            <a:r>
              <a:t>실제 Pi 관리자 화면은 추가 확보 대상이다. 이 슬라이드는 보존된 개발 검사 캡처로 구현된 UI를 설명한다. 일반 초기화는 자동 백업을 유지하며, 시연 초기화는 사진까지 백업 없이 삭제한다. 실물은 초기화 전에 카메라 범위에서 치운다.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docs/LIVE_FLOW_REVIEW_2026-09-18.md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experiments/pair_runner.py</a:t>
            </a:r>
          </a:p>
          <a:p xmlns:a="http://schemas.openxmlformats.org/drawingml/2006/main">
            <a:r>
              <a:t>- docs/ARCHITECTURE_REVIEW_2026-09-18.md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app/vision.py</a:t>
            </a:r>
          </a:p>
          <a:p xmlns:a="http://schemas.openxmlformats.org/drawingml/2006/main">
            <a:r>
              <a:t>- app/ai.py</a:t>
            </a:r>
          </a:p>
          <a:p xmlns:a="http://schemas.openxmlformats.org/drawingml/2006/main">
            <a:r>
              <a:t>- app/config.py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통계형 결측치 대치나 학습 데이터 정규화는 적용 대상이 아니다. 프레임 읽기 실패는 연결 복구 흐름에서 처리한다. 사진 수량과 평가 사건 수를 근거 없이 만들지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app/ai.py</a:t>
            </a:r>
          </a:p>
          <a:p xmlns:a="http://schemas.openxmlformats.org/drawingml/2006/main">
            <a:r>
              <a:t>- app/config.py</a:t>
            </a:r>
          </a:p>
          <a:p xmlns:a="http://schemas.openxmlformats.org/drawingml/2006/main">
            <a:r>
              <a:t>- output/maintenance/2026-09-22-network-plan/SESSION_STATUS.json</a:t>
            </a:r>
          </a:p>
          <a:p xmlns:a="http://schemas.openxmlformats.org/drawingml/2006/main">
            <a:r>
              <a:t>- REFOUND_WINDOWS_HOTSPOT_GUIDE.md</a:t>
            </a:r>
          </a:p>
          <a:p xmlns:a="http://schemas.openxmlformats.org/drawingml/2006/main">
            <a:r>
              <a:t>모델은 Pi 설정 로그의 문자열을 날짜와 함께 표시했다. 학습 조건이 아니라 추론 요청 설정이다. OpenAI strict schema와 기본 모델의 낮은 추론 강도 설정은 app/ai.py 근거다. 특정 모델의 우수성이 비교 실험으로 확인됐다는 뜻은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REFOUND_WINDOWS_HOTSPOT_GUIDE.md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docs/paper/EXPERIMENT_GUIDE.md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AGENTS.md:필수 비교군</a:t>
            </a:r>
          </a:p>
          <a:p xmlns:a="http://schemas.openxmlformats.org/drawingml/2006/main">
            <a:r>
              <a:t>- experiments/ablation.py</a:t>
            </a:r>
          </a:p>
          <a:p xmlns:a="http://schemas.openxmlformats.org/drawingml/2006/main">
            <a:r>
              <a:t>- experiments/pair_runner.py</a:t>
            </a:r>
          </a:p>
          <a:p xmlns:a="http://schemas.openxmlformats.org/drawingml/2006/main">
            <a:r>
              <a:t>- docs/paper/EXPERIMENT_GUIDE.md</a:t>
            </a:r>
          </a:p>
          <a:p xmlns:a="http://schemas.openxmlformats.org/drawingml/2006/main">
            <a:r>
              <a:t>기존 stable image pair runner는 _detect_changes 코어 평가용이다. 캡처·상태기계·callback·DB·VLM을 포함하지 않는다. 기존 plain profile은 순수 grayscale baseline이 아니므로 B0로 표시하지 않는다. 초기 baseline 성능 비교값은 아직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output/maintenance/2026-09-22-quick-reset/VALIDATION.json</a:t>
            </a:r>
          </a:p>
          <a:p xmlns:a="http://schemas.openxmlformats.org/drawingml/2006/main">
            <a:r>
              <a:t>- docs/LIVE_FLOW_REVIEW_2026-09-18.md</a:t>
            </a:r>
          </a:p>
          <a:p xmlns:a="http://schemas.openxmlformats.org/drawingml/2006/main">
            <a:r>
              <a:t>- output/maintenance/2026-09-30-sync-review/REVIEW.md</a:t>
            </a:r>
          </a:p>
          <a:p xmlns:a="http://schemas.openxmlformats.org/drawingml/2006/main">
            <a:r>
              <a:t>Python 272개·Node 37개는 9월 30일 재실행 기록이다. Chromium 7개는 9월 22일 기록이며 9월 30일에 재실행하지 않았다. 10월 2일에는 슬라이드 검토만 수행했다. 개수를 서로 합산하거나 AI 정확도로 해석하지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output/maintenance/2026-09-22-network-plan/SESSION_STATUS.json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REFOUND_WINDOWS_HOTSPOT_GUIDE.md</a:t>
            </a:r>
          </a:p>
          <a:p xmlns:a="http://schemas.openxmlformats.org/drawingml/2006/main">
            <a:r>
              <a:t>9월 22일 본인 PC의 Tailscale 화면·영상도 성공 보고가 있다. 현재 주 시연 경로는 Windows 핫스팟과 SSH 터널이다. 친구 Tailscale 수락·접속은 별도 미확인으로 남으며 현재 시연의 선행 조건이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docs/VISION_REVIEW_2026-09-18.md</a:t>
            </a:r>
          </a:p>
          <a:p xmlns:a="http://schemas.openxmlformats.org/drawingml/2006/main">
            <a:r>
              <a:t>- docs/ARCHITECTURE_REVIEW_2026-09-18.md</a:t>
            </a:r>
          </a:p>
          <a:p xmlns:a="http://schemas.openxmlformats.org/drawingml/2006/main">
            <a:r>
              <a:t>- docs/LIVE_FLOW_REVIEW_2026-09-18.md</a:t>
            </a:r>
          </a:p>
          <a:p xmlns:a="http://schemas.openxmlformats.org/drawingml/2006/main">
            <a:r>
              <a:t>- REFOUND_WINDOWS_HOTSPOT_GUIDE.md</a:t>
            </a:r>
          </a:p>
          <a:p xmlns:a="http://schemas.openxmlformats.org/drawingml/2006/main">
            <a:r>
              <a:t>정지 영상 문제는 합성 장면에서 소프트웨어 원인을 재현했다. 센서 노출이나 물리 흔들림까지 해결됐다고 주장하지 않는다. 새 SD 설치 복구는 설치기·체크섬·카메라 및 시스템 진단 로그로 확인했다. SSH 오류 원인은 이번 9/29 터널 위치 오류에 한정한다. 다른 끊김이나 프로필 오류의 원인을 추측하지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docs/VISION_REVIEW_2026-09-18.md</a:t>
            </a:r>
          </a:p>
          <a:p xmlns:a="http://schemas.openxmlformats.org/drawingml/2006/main">
            <a:r>
              <a:t>- output/maintenance/2026-09-18-vision-review/benchmark-comparison.json</a:t>
            </a:r>
          </a:p>
          <a:p xmlns:a="http://schemas.openxmlformats.org/drawingml/2006/main">
            <a:r>
              <a:t>원천 값은 before_ms=27.756, after_ms=13.212. 이전/이후의 전체 최적화 조합을 비교한 개발 표본이며 단일 수정의 인과 효과로 해석하지 않는다. 변경 전후 처리 프레임 수 80/112, 미리보기 크기 1280×720/800×450. 호스트 스케줄링·부하·온도는 통제하지 않았으며 다른 실행의 변동 기록도 보존했다.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REFOUND_WINDOWS_HOTSPOT_GUIDE.md</a:t>
            </a:r>
          </a:p>
          <a:p xmlns:a="http://schemas.openxmlformats.org/drawingml/2006/main">
            <a:r>
              <a:t>- docs/paper/EXPERIMENT_GUIDE.md</a:t>
            </a:r>
          </a:p>
          <a:p xmlns:a="http://schemas.openxmlformats.org/drawingml/2006/main">
            <a:r>
              <a:t>- 사용자 제공 수업 일정</a:t>
            </a:r>
          </a:p>
          <a:p xmlns:a="http://schemas.openxmlformats.org/drawingml/2006/main">
            <a:r>
              <a:t>약 40건은 추가·이동·제거·none 각 10건의 제안 구성이며 확보한 데이터나 최종 표본 수가 아니다. 기존 모델 학습은 없으므로 입력 증거·프롬프트·판정 기준의 조정과 필요한 경우 모델 변경을 비교한다.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사용자 제공 수업 일정</a:t>
            </a:r>
          </a:p>
          <a:p xmlns:a="http://schemas.openxmlformats.org/drawingml/2006/main">
            <a:r>
              <a:t>- REFOUND_WINDOWS_HOTSPOT_GUIDE.md</a:t>
            </a:r>
          </a:p>
          <a:p xmlns:a="http://schemas.openxmlformats.org/drawingml/2006/main">
            <a:r>
              <a:t>10/20은 중간고사 일정이므로 실제 팀 작업량에 맞춰 10/14~10/20의 범위를 조정한다. 구현·계측은 팀장 주도, 자료 검토·시연 준비는 팀원 지원이라는 현재 역할을 기준으로 협업하며 세부 담당과 마감은 팀 합의가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docs/paper/EXPERIMENT_GUIDE.md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app/classification.py:70</a:t>
            </a:r>
          </a:p>
          <a:p xmlns:a="http://schemas.openxmlformats.org/drawingml/2006/main">
            <a:r>
              <a:t>- app/main.py:432</a:t>
            </a:r>
          </a:p>
          <a:p xmlns:a="http://schemas.openxmlformats.org/drawingml/2006/main">
            <a:r>
              <a:t>- app/item_policy.py</a:t>
            </a:r>
          </a:p>
          <a:p xmlns:a="http://schemas.openxmlformats.org/drawingml/2006/main">
            <a:r>
              <a:t>app/classification.py의 current 조회와 pending 검사 4줄을 그대로 발췌했다. signature와 revision은 이름·분류·기한의 단순 편집과 물리 추적 변경을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REFOUND_WINDOWS_HOTSPOT_GUIDE.md</a:t>
            </a:r>
          </a:p>
          <a:p xmlns:a="http://schemas.openxmlformats.org/drawingml/2006/main">
            <a:r>
              <a:t>상세 실행 7단계·종료 4단계·이름 오류 대응 5단계는 REFOUND_WINDOWS_HOTSPOT_GUIDE.md를 따른다. 공개 발표자료에는 내부 접속 주소·비밀번호·키를 적지 않았다. 이 사용 순서의 확정과 새 구성의 실제 전원 재인가 성공은 별개다.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정리일: 2026-10-02. 실기 보고: 2026-09-29까지. 개발 검사: 2026-09-30까지.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docs/paper/EXPERIMENT_GUIDE.md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평가 설계이며 수행 결과가 아니다. pair runner는 detector core만 평가한다. FP/hour와 실제 DB 중복 방지, 종단간 지연은 연속 입력과 영속 기록이 필요하다. 공식 진행률은 팀이 합의한 전체 작업 가중치와 완료 기준으로 별도 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b33dc93d44d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4f4f93ecc4e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830364ccd47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4a2ae38de4c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56c3f689d43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f28f0b07e48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7C2631-9A63-4B28-B66B-2E5715898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0FD78A-BC1C-4113-8A06-7AFFC11537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A078FB-EAFF-4A55-B7FA-46419CC0F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7126BA-3102-4349-814E-53139C55F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488250-E5EE-4F49-9980-7C6FD89131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A0CA0C-A7DC-442E-A27D-28EA4D61CF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2E9E7B-C62C-434C-9429-564F9C3409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2A14D1-FACB-481D-B4AB-1F00B2FB9E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F0D699-3E90-4305-AA8C-478CB600C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016F4C-2BE5-48C2-A580-E82AA7C1C1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b85aade95411e" /><Relationship Type="http://schemas.openxmlformats.org/officeDocument/2006/relationships/slideLayout" Target="/ppt/slideLayouts/slideLayout1.xml" Id="R7d329818418b472d" /><Relationship Type="http://schemas.openxmlformats.org/officeDocument/2006/relationships/slideLayout" Target="/ppt/slideLayouts/slideLayout2.xml" Id="R0fee160825074a2c" /><Relationship Type="http://schemas.openxmlformats.org/officeDocument/2006/relationships/slideLayout" Target="/ppt/slideLayouts/slideLayout3.xml" Id="R117be1edec4243f8" /><Relationship Type="http://schemas.openxmlformats.org/officeDocument/2006/relationships/slideLayout" Target="/ppt/slideLayouts/slideLayout4.xml" Id="R16a7892e282b40b1" /><Relationship Type="http://schemas.openxmlformats.org/officeDocument/2006/relationships/slideLayout" Target="/ppt/slideLayouts/slideLayout5.xml" Id="Rfb0f103168c94036" /><Relationship Type="http://schemas.openxmlformats.org/officeDocument/2006/relationships/slideLayout" Target="/ppt/slideLayouts/slideLayout6.xml" Id="R2fd2440cdf86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29818418b472d"/>
    <p:sldLayoutId xmlns:r="http://schemas.openxmlformats.org/officeDocument/2006/relationships" id="2147483650" r:id="R0fee160825074a2c"/>
    <p:sldLayoutId xmlns:r="http://schemas.openxmlformats.org/officeDocument/2006/relationships" id="2147483651" r:id="R117be1edec4243f8"/>
    <p:sldLayoutId xmlns:r="http://schemas.openxmlformats.org/officeDocument/2006/relationships" id="2147483652" r:id="R16a7892e282b40b1"/>
    <p:sldLayoutId xmlns:r="http://schemas.openxmlformats.org/officeDocument/2006/relationships" id="2147483653" r:id="Rfb0f103168c94036"/>
    <p:sldLayoutId xmlns:r="http://schemas.openxmlformats.org/officeDocument/2006/relationships" id="2147483654" r:id="R2fd2440cdf86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b74e44035403a" /><Relationship Type="http://schemas.openxmlformats.org/officeDocument/2006/relationships/notesSlide" Target="/ppt/notesSlides/notesSlide1.xml" Id="R134a3aa43b2743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edd4477ca47af" /><Relationship Type="http://schemas.openxmlformats.org/officeDocument/2006/relationships/notesSlide" Target="/ppt/notesSlides/notesSlide2.xml" Id="R76f497e3d77249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e46dbc9d84937" /><Relationship Type="http://schemas.openxmlformats.org/officeDocument/2006/relationships/notesSlide" Target="/ppt/notesSlides/notesSlide3.xml" Id="Rdd23ee48723a49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37543f16e470b" /><Relationship Type="http://schemas.openxmlformats.org/officeDocument/2006/relationships/notesSlide" Target="/ppt/notesSlides/notesSlide4.xml" Id="R4cb70d23b45e43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5aa437a4a4985" /><Relationship Type="http://schemas.openxmlformats.org/officeDocument/2006/relationships/notesSlide" Target="/ppt/notesSlides/notesSlide5.xml" Id="R582a5a692d704d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6d297a40c446c" /><Relationship Type="http://schemas.openxmlformats.org/officeDocument/2006/relationships/notesSlide" Target="/ppt/notesSlides/notesSlide6.xml" Id="Rcbaa925e427a46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e725db45c4040" /><Relationship Type="http://schemas.openxmlformats.org/officeDocument/2006/relationships/notesSlide" Target="/ppt/notesSlides/notesSlide7.xml" Id="R03c86c15117942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edcc135f04741" /><Relationship Type="http://schemas.openxmlformats.org/officeDocument/2006/relationships/notesSlide" Target="/ppt/notesSlides/notesSlide8.xml" Id="R0fcf1c07f8ac45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4dcbb0df34af0" /><Relationship Type="http://schemas.openxmlformats.org/officeDocument/2006/relationships/notesSlide" Target="/ppt/notesSlides/notesSlide9.xml" Id="R784bed4deb4649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ffd8209a64622" /><Relationship Type="http://schemas.openxmlformats.org/officeDocument/2006/relationships/notesSlide" Target="/ppt/notesSlides/notesSlide10.xml" Id="Rb4c891b9e9194e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0ba4b153a4224" /><Relationship Type="http://schemas.openxmlformats.org/officeDocument/2006/relationships/notesSlide" Target="/ppt/notesSlides/notesSlide11.xml" Id="Rb0dc8a5103884b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5f67b9454422d" /><Relationship Type="http://schemas.openxmlformats.org/officeDocument/2006/relationships/notesSlide" Target="/ppt/notesSlides/notesSlide12.xml" Id="Rf670e73076fc49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6039168d64c47" /><Relationship Type="http://schemas.openxmlformats.org/officeDocument/2006/relationships/notesSlide" Target="/ppt/notesSlides/notesSlide13.xml" Id="R06cee0a28c9147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811566fde4d5b" /><Relationship Type="http://schemas.openxmlformats.org/officeDocument/2006/relationships/image" Target="/ppt/media/image.png" Id="R84320e4196a6494d" /><Relationship Type="http://schemas.openxmlformats.org/officeDocument/2006/relationships/notesSlide" Target="/ppt/notesSlides/notesSlide14.xml" Id="R051e00c096a041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8b519132e4e18" /><Relationship Type="http://schemas.openxmlformats.org/officeDocument/2006/relationships/image" Target="/ppt/media/image2.png" Id="Re4212b63797d4df1" /><Relationship Type="http://schemas.openxmlformats.org/officeDocument/2006/relationships/notesSlide" Target="/ppt/notesSlides/notesSlide15.xml" Id="R7c1bba3ce06e48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95f8632934ab1" /><Relationship Type="http://schemas.openxmlformats.org/officeDocument/2006/relationships/notesSlide" Target="/ppt/notesSlides/notesSlide16.xml" Id="R9a0bd5e7789843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f6b24dd4240bf" /><Relationship Type="http://schemas.openxmlformats.org/officeDocument/2006/relationships/notesSlide" Target="/ppt/notesSlides/notesSlide17.xml" Id="Rdeb79691ef8341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0cc556e5b41b8" /><Relationship Type="http://schemas.openxmlformats.org/officeDocument/2006/relationships/notesSlide" Target="/ppt/notesSlides/notesSlide18.xml" Id="Reb19b070bf2844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3b2a08e784129" /><Relationship Type="http://schemas.openxmlformats.org/officeDocument/2006/relationships/notesSlide" Target="/ppt/notesSlides/notesSlide19.xml" Id="Rebd158141d2e44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09252a67c4def" /><Relationship Type="http://schemas.openxmlformats.org/officeDocument/2006/relationships/notesSlide" Target="/ppt/notesSlides/notesSlide20.xml" Id="Rd0986768b9f84d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5c27d8668340b5" /><Relationship Type="http://schemas.openxmlformats.org/officeDocument/2006/relationships/notesSlide" Target="/ppt/notesSlides/notesSlide21.xml" Id="R5ee8194412154d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31fd43a02422d" /><Relationship Type="http://schemas.openxmlformats.org/officeDocument/2006/relationships/notesSlide" Target="/ppt/notesSlides/notesSlide22.xml" Id="Rc9cdeec2e0b043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2fc63a5c94a47" /><Relationship Type="http://schemas.openxmlformats.org/officeDocument/2006/relationships/notesSlide" Target="/ppt/notesSlides/notesSlide23.xml" Id="Rf9939537c2924a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7b8ca896042ab" /><Relationship Type="http://schemas.openxmlformats.org/officeDocument/2006/relationships/chart" Target="/ppt/slides/charts/chart1.xml" Id="R23c26c7cab7045f1" /><Relationship Type="http://schemas.openxmlformats.org/officeDocument/2006/relationships/notesSlide" Target="/ppt/notesSlides/notesSlide24.xml" Id="R7441425ab41a44e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a10ea60b04b3f" /><Relationship Type="http://schemas.openxmlformats.org/officeDocument/2006/relationships/notesSlide" Target="/ppt/notesSlides/notesSlide25.xml" Id="R757c84c2d3c848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53cac1e4e4e7a" /><Relationship Type="http://schemas.openxmlformats.org/officeDocument/2006/relationships/notesSlide" Target="/ppt/notesSlides/notesSlide26.xml" Id="R6ce91dfcaee1436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aa11bb6e841a7" /><Relationship Type="http://schemas.openxmlformats.org/officeDocument/2006/relationships/notesSlide" Target="/ppt/notesSlides/notesSlide27.xml" Id="Rdd17cccb53a746f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6ae0e768c4b2c" /><Relationship Type="http://schemas.openxmlformats.org/officeDocument/2006/relationships/notesSlide" Target="/ppt/notesSlides/notesSlide28.xml" Id="Race8f3e71b5745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62b0d4db3430b" /><Relationship Type="http://schemas.openxmlformats.org/officeDocument/2006/relationships/notesSlide" Target="/ppt/notesSlides/notesSlide29.xml" Id="R3946836887c9461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84a258f01a4e27" /><Relationship Type="http://schemas.openxmlformats.org/officeDocument/2006/relationships/notesSlide" Target="/ppt/notesSlides/notesSlide30.xml" Id="Re97020221b7f47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처리 시간 (ms)</c:v>
          </c:tx>
          <c:spPr>
            <a:solidFill xmlns:a="http://schemas.openxmlformats.org/drawingml/2006/main">
              <a:srgbClr val="067C80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183442"/>
                        </a:solidFill>
                        <a:latin typeface="Malgun Gothic"/>
                        <a:ea typeface="Malgun Gothic"/>
                        <a:cs typeface="Malgun Gothic"/>
                      </a:rPr>
                      <a:t>27.76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183442"/>
                      </a:solidFill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183442"/>
                        </a:solidFill>
                        <a:latin typeface="Malgun Gothic"/>
                        <a:ea typeface="Malgun Gothic"/>
                        <a:cs typeface="Malgun Gothic"/>
                      </a:rPr>
                      <a:t>13.21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183442"/>
                      </a:solidFill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변경 전</c:v>
                </c:pt>
                <c:pt idx="1">
                  <c:v>변경 후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27.756</c:v>
                </c:pt>
                <c:pt idx="1">
                  <c:v>13.212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83442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B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4D3DE-A2EA-4CAF-BAC1-DC2E3AC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87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66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6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Re:Found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62C86-5C1F-49E0-AED1-10BBBDBC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 lang="ko-KR">
                <a:solidFill>
                  <a:srgbClr val="BDE8E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000" b="1" lang="ko-KR">
                <a:solidFill>
                  <a:srgbClr val="BDE8E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lang="ko-KR">
                <a:solidFill>
                  <a:srgbClr val="BDE8E2"/>
                </a:solidFill>
                <a:latin typeface="Malgun Gothic"/>
                <a:ea typeface="Malgun Gothic"/>
                <a:cs typeface="Malgun Gothic"/>
              </a:rPr>
              <a:t>분실물 자동 추론 및 시각화 관리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908AC-80A0-4152-98E8-BAF1CA5A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625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프로젝트 개발 중간보고서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C06B8-B986-4D05-95B5-0CD23BE2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동양미래대학교 인공지능소프트웨어학과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상부상조(2조) 장진석 · 권기원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D90B0-51CA-4BBA-8A3E-7E304A66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 lang="ko-KR">
                <a:solidFill>
                  <a:srgbClr val="BDE8E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500" b="0" lang="ko-KR">
                <a:solidFill>
                  <a:srgbClr val="BDE8E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lang="ko-KR">
                <a:solidFill>
                  <a:srgbClr val="BDE8E2"/>
                </a:solidFill>
                <a:latin typeface="Malgun Gothic"/>
                <a:ea typeface="Malgun Gothic"/>
                <a:cs typeface="Malgun Gothic"/>
              </a:rPr>
              <a:t>발표 2026.10.13 / 자료 정리 2026.10.02</a:t>
            </a:r>
          </a:p>
        </p:txBody>
      </p:sp>
    </p:spTree>
    <p:extLst>
      <p:ext uri="{BB962C8B-B14F-4D97-AF65-F5344CB8AC3E}">
        <p14:creationId xmlns:p14="http://schemas.microsoft.com/office/powerpoint/2010/main" val="1379058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930A6-FE94-41C9-8D2F-89613B43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중간보고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FD6ED-8947-4325-ABD4-FA41D138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발표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3F277-F1A1-4FA7-8BDC-53891492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22815-FBBA-4B32-B03F-67E45F26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개발 진행상태 및 중간점검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26C14-B83C-4DBB-BA1C-D8D39421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EBE1F-D84F-4003-B022-87C7953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C9117-CE0A-4420-AF1C-17CCBCCB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프로젝트 개요 및 개발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A3E1E-CCB3-441A-8946-F6428E04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34AA6-4A61-4631-9782-FBAD92FD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시스템 설계 및 개발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86EF0-DF39-4FE1-B039-AF6C69B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E6C49-B1A0-4B51-AA3C-BF0920AE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프로젝트 개발 진행 현황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BEBA8-3BA8-436D-B953-AF75AB0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98A46-7091-45D2-8B0E-77D2CDD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04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핵심 기능 구현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41AFC-B1BC-4D70-95EF-1582BE9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A9A22-9175-40AA-B268-79BA6DCB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모델 및 데이터 개발 현황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41086-FFBB-40F3-B411-94ED1943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08F22-803F-455F-9641-5700FEB3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862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테스트 결과 및 문제점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4EE8E-8A9E-4D98-97DA-C877552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2313E-B9FC-4765-BD59-66DE672E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292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향후 개발 및 완성 계획</a:t>
            </a:r>
          </a:p>
        </p:txBody>
      </p:sp>
    </p:spTree>
    <p:extLst>
      <p:ext uri="{BB962C8B-B14F-4D97-AF65-F5344CB8AC3E}">
        <p14:creationId xmlns:p14="http://schemas.microsoft.com/office/powerpoint/2010/main" val="1172533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9B919-C9FA-4478-9E99-FF19A19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1. 프로젝트 개요 및 개발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F1ADD-67FC-4D97-AC01-E6412A14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분실물 보관대의 기록과 관리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8EF4B-0FC4-486F-8E70-6AF37FDB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22E87-748A-4180-8DA1-33682BFF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43832-0732-4C8B-8FC6-2FB41010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해결할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64DBE-CE1C-4F15-861B-67D4531B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47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물품을 발견해도 사진 등록과 분류,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기한 확인을 담당자가 이어서 처리해야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AD40C-ED77-401F-850A-B13566C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기록의 일관성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9AD4B-407D-4611-9BE7-D347483B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76625"/>
            <a:ext cx="8324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물품을 옮겼을 때 같은 기록을 유지하고,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사라졌을 때 상태와 이력을 연결해야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FE032-3091-4BAA-8575-383FFB69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487EE-D65F-4DC9-9309-11701154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주요 사용자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ADA40-36C2-4B91-8AC2-5829E307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76725"/>
            <a:ext cx="8324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학교 행정실, 도서관, 공용공간의 분실물 관리자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5F0D3-C083-4160-9FB0-A534BDA3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1BDCC-F3A1-45DC-B613-29139641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2D9A7-C8BE-4ED7-BE34-C012263B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76825"/>
            <a:ext cx="8324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카메라를 고정할 수 있는 보관대와 실내 수거 공간</a:t>
            </a:r>
          </a:p>
        </p:txBody>
      </p:sp>
    </p:spTree>
    <p:extLst>
      <p:ext uri="{BB962C8B-B14F-4D97-AF65-F5344CB8AC3E}">
        <p14:creationId xmlns:p14="http://schemas.microsoft.com/office/powerpoint/2010/main" val="1787387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7AD39-B11C-416C-AD7A-047DB1F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1. 프로젝트 개요 및 개발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9243B-A0D8-430B-BBCC-45E1837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로컬 사건 감지와 선택적 AI 추론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9042A-4B7C-49DD-997B-FCFAA779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29A23-257A-45DC-B4A6-540EE4FC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FB900-3007-4D9D-AF30-9B208CCA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4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Pi가 변화 시점을 찾고, 필요한 사건의 의미를 AI로 보완한다.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D3825-3936-4C48-96A8-26246BB1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장면 관찰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AB267-CAEB-4929-AE70-F7319AF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853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고정 카메라에서 물품의 추가·이동·제거 후보를 찾는다.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71717-2D04-4A09-985F-6A17BB43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26FA9-64A7-4B77-A276-9ABED04E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AI의 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DDB5-42B9-409B-9D8F-C7D62D9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853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신규 물품의 이름·분류를 제안하고 모호한 제거를 검증한다.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B6794-4E3A-4B6F-A38F-8C22A82F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07D12-08DF-470E-A609-AE459245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관리 업무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E5C0C-CB87-4440-887F-E5254359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853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보관 기한과 알림, 회수·폐기·복원을 같은 기록에 연결한다.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B7177-6797-4E9E-9D7C-F624F51A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49EFB-BF02-49C3-924B-412C0572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F7CE3-5584-48F5-85EE-83BC2595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853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Pi 카메라 장치 + FastAPI 서버 + 관리자 웹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설치 패키지와 실행·검증 기록</a:t>
            </a:r>
          </a:p>
        </p:txBody>
      </p:sp>
    </p:spTree>
    <p:extLst>
      <p:ext uri="{BB962C8B-B14F-4D97-AF65-F5344CB8AC3E}">
        <p14:creationId xmlns:p14="http://schemas.microsoft.com/office/powerpoint/2010/main" val="1969575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EE745-ED3D-4444-9AD5-DF61B3F6D14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00900" y="3152775"/>
            <a:ext cx="3143250" cy="1304925"/>
          </a:xfrm>
          <a:prstGeom xmlns:a="http://schemas.openxmlformats.org/drawingml/2006/main" prst="bentConnector4">
            <a:avLst>
              <a:gd name="adj1" fmla="val 0"/>
              <a:gd name="adj2" fmla="val 17518"/>
            </a:avLst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E7C59-09C3-4955-AABC-37464AA7BE9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7200900" y="3152775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D8923-2D7C-49F8-B2A7-2103662AC95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96300" y="260032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58E42-8CEA-4F03-8D25-C32513DFD1E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00675" y="2600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882BE-1644-456F-AD09-D97A15AD49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95575" y="26003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032C6-9367-406D-A65A-2822E868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2. 시스템 설계 및 개발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7A95E-6E90-495C-BFA5-6D595E41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전체 시스템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0D59A-E994-42B7-8E8D-6356B5EA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3E428-07E8-496A-94C5-DE7CCA31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화살표는 주요 데이터 전달 방향을 나타냄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C0A42-3E61-489C-AD21-ADBC87A4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69410-CDB5-467F-81FC-50AC4576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0859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CSI 카메라</a:t>
            </a:r>
          </a:p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Picamera2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35D27-1A37-48F6-979C-552CA2C3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47875"/>
            <a:ext cx="22764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로컬 사건 감지</a:t>
            </a:r>
          </a:p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OpenCV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9752D-671F-4CB1-8C95-2A9132C5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590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사건 처리 · API</a:t>
            </a:r>
          </a:p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A33A6-C5A9-4D9F-9BD9-40F8B340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47875"/>
            <a:ext cx="23907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관리자 웹</a:t>
            </a:r>
          </a:p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HTML / CSS / 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9D3B7-0DAD-4FE6-AE3B-C55DC99E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240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프레임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A728B-EFA8-4C1D-A3EB-C9FEB226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240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후보·증거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6F9EC-F71A-49E7-B73A-E137A63C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24025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JSON / MJPEG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D8B16-373D-473F-8F7C-96CD3EC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57700"/>
            <a:ext cx="29527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SQLite WAL</a:t>
            </a:r>
          </a:p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물품·활동·알림·설정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D1B2C-F615-438E-AAFB-54AC3D68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2476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외부 VLM API</a:t>
            </a:r>
          </a:p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OpenAI / 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6FF9F-87D6-4F12-9662-A79E72BA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5052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6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관찰 기록을 먼저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95BD1-48BC-40F2-A693-DFEBE909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86200"/>
            <a:ext cx="2714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5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added / verify_removed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5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사건만 요청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E356F-25C5-4E0A-A674-ADB4B18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45624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Pi 내부에 사진 파일 저장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systemd 자동 시작</a:t>
            </a:r>
          </a:p>
        </p:txBody>
      </p:sp>
    </p:spTree>
    <p:extLst>
      <p:ext uri="{BB962C8B-B14F-4D97-AF65-F5344CB8AC3E}">
        <p14:creationId xmlns:p14="http://schemas.microsoft.com/office/powerpoint/2010/main" val="1899261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A261B-5042-4F3D-8A10-81E53A49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2. 시스템 설계 및 개발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147AE-BE8F-4303-9CF8-9218850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모듈별 역할과 기술 스택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475D2-BA24-483B-B831-0CA9652E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BD7EB-3E48-45EC-A279-2EF8EB08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8C257-9ACF-4010-9964-D8FD43C44D8C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4429125"/>
                <a:gridCol w="4210050"/>
              </a:tblGrid>
              <a:tr h="5794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기능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기술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794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카메라·비전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입력, 안정화, 변화 감지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/ OpenCV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사건·AI 처리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저장, 추론 요청, 응답 검증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/ HTTPX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794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서버·저장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API, 상태 전이, 사진과 활동 이력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 / SQLite WAL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화면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영상, 목록, 편집, 설정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Vanilla HTML / CSS / JS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794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운영·배포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 알림, 서비스 자동 시작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SMTP / systemd / SSH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EC117-5B61-481A-9915-B8542BEF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실제 장치 Raspberry Pi 4 Model B 2GB + CSI 카메라(OV5647)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4EDEA-7F78-44C8-AA35-1062ADE4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확인 환경 Debian 13 Trixie / Python 3.13.5 / OpenCV 4.10.0</a:t>
            </a:r>
          </a:p>
        </p:txBody>
      </p:sp>
    </p:spTree>
    <p:extLst>
      <p:ext uri="{BB962C8B-B14F-4D97-AF65-F5344CB8AC3E}">
        <p14:creationId xmlns:p14="http://schemas.microsoft.com/office/powerpoint/2010/main" val="2142124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A73DD-C4C9-42AB-889C-B74CB0BC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2. 시스템 설계 및 개발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20992-1D8D-4E39-96AD-0267293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팀 역할과 협업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BC38E-BAF7-450B-BE19-B4FDD168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C6722-2DDB-4389-825A-484A403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역할은 현재 README 기준. 커밋별 기여도는 별도 확인 필요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73CAB-C724-47DD-A3F5-AD3590AF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A03D0-0809-4415-BED3-6F35C913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장진석 · 팀장 / 시스템 통합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48489-103C-4E93-B0A2-46BCEC12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2197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기획·아키텍처와 로컬 비전 구현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멀티모달 AI, FastAPI, 관리자 웹 연결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Pi 배포와 테스트·문서화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D4A28-58C4-4077-8573-3723BEDE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76425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권기원 · 개발 / 시연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A6959-97C9-4483-8191-BA583EB3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50863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구현과 발표 자료 검토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자료 교정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시연 준비와 운영 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11467-172F-4B2E-BA03-A59DB3EA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연계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C3FC9-B35D-4831-9243-A5A87DEC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구현·검사 결과를 공유하고 자료 검토와 실제 시연을 진행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발견한 오류와 미확인 항목을 다음 수정·검증에 반영</a:t>
            </a:r>
          </a:p>
        </p:txBody>
      </p:sp>
    </p:spTree>
    <p:extLst>
      <p:ext uri="{BB962C8B-B14F-4D97-AF65-F5344CB8AC3E}">
        <p14:creationId xmlns:p14="http://schemas.microsoft.com/office/powerpoint/2010/main" val="1432175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3DEBF-2BCD-4B4E-8930-680159A6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3. 프로젝트 개발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51CC7-8A35-44D8-B4D3-5504D858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개발 경과와 현재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7C035-932B-41E1-86EE-F3A9DDA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DAA45-01DE-47C3-9375-EA7ECC9B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10월 2일 현재 중간보고 준비 단계 / 중간보고 10월 13일, 최종보고 11월 3일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C373B-417E-4E84-8656-30EB20D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F3E5C-9FF9-4E6E-9087-1CC23B861572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143250"/>
                <a:gridCol w="5734050"/>
              </a:tblGrid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시점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단계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내용 또는 예정 산출물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9/18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안정성 보완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영상·사건 처리·데이터 보존 개선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9/22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설치와 기본 실기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촬영·재부팅 진단, 실물 흐름 성공 보고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9/29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노트북 시연 연결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핫스팟·SSH 웹·AI 성공 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9/30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저장소 실행 점검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272개·Node 37개 재검사 통과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10/02~10/12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중간보고 준비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보완, 실제 캡처와 리허설 예정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10/13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7주차 중간보고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결과와 남은 검증 계획 발표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437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B69AA-DA30-4ADB-8309-8C590978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3. 프로젝트 개발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C2442-BD6E-415B-AE77-274F4D41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초기 계획과 실제 구현의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7CF01-1518-4D6E-9532-0EC96255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DBAF1-7358-4C77-AACB-E27C1661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전체 진행률(%)은 팀의 작업 가중치·완료 기준 합의 후 산정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C6953-A961-49DC-A473-23F878DB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95D2D-936A-4072-BC7E-DAF09A72778A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743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4000500"/>
                <a:gridCol w="3448050"/>
              </a:tblGrid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계획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구현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이유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5 / USB 카메라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4 2GB / CSI 카메라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장비에 맞춘 배포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YOLO·CNN·로컬 LLM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 + 외부 VLM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저사양 장치·다양한 물품 대응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DB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SQLite WAL + 사진 파일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 장치 운영 단순화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응답 후 등록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우선 저장 후 비동기 추론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장애 때에도 기록 보존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React·복수 백엔드 검토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Vanilla JS + FastAPI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배포·유지보수 구조 단순화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C2D7D-26D1-43AA-8694-F94A033F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전체 진행률: 산정 기준 미확정</a:t>
            </a:r>
          </a:p>
        </p:txBody>
      </p:sp>
    </p:spTree>
    <p:extLst>
      <p:ext uri="{BB962C8B-B14F-4D97-AF65-F5344CB8AC3E}">
        <p14:creationId xmlns:p14="http://schemas.microsoft.com/office/powerpoint/2010/main" val="567276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73432-AA86-46A0-8785-BAD86DB2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3. 프로젝트 개발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69CD1-9858-4ADC-8B59-5EF19CFD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기능별 구현과 실기 확인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2276A-9ADF-49C6-A9D7-E34F4DC1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03E9B-6987-4CE5-8EB8-CB362B5A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기능별 상태는 구현·검증 근거로 표시 / 구현률(%)의 합의된 기준은 미확정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E7E56-8314-413F-936F-0D7191E3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28952-1275-43BC-B645-48748C2B77B4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133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95625"/>
                <a:gridCol w="1809750"/>
                <a:gridCol w="6067425"/>
              </a:tblGrid>
              <a:tr h="516731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상태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결과와 남은 검증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16731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카메라·실시간 화면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완료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 로그, 웹 화면·영상 성공 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등록·이동·회수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완료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실물 흐름 성공 보고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16731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AI 분석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완료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9/29 동작 성공 보고, 정량 성능 미측정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편집·기한·폐기·복원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완료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검사 통과, Pi 상세 실기 대기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16731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 알림·SMTP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완료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모의 검사 통과, 실제 메일 수신 대기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무선 시연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진행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성공, 전원 재인가 시험 대기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16731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원장·비교 실행기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 시각·정답 기록과 공통 평가 필요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776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38620-1D3A-4530-9E44-02B9ACF1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3. 프로젝트 개발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1F70E-5E45-4EDD-A943-EF0251EA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팀 수행 내용과 Git 개발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3400F-D4CC-45CE-9EA6-8C33C3B7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B7EB1-623B-4E0E-8041-DB60C1D8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커밋 반영일과 기능 개발일은 다름 / 커밋 수로 팀 기여율을 산정하지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4267F-874C-40C3-87C5-18C2199A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B13E4-548E-4C10-A182-5C502E13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장진석: 구현·통합·배포·검사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DFA44-6BD3-4F9B-8987-2AF341D0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76400"/>
            <a:ext cx="515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권기원: 검토·교정·시연 지원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99DC1-F524-4EF6-BEE8-CDFCA545A4A4}"/>
              </a:ext>
            </a:extLst>
          </p:cNvPr>
          <p:cNvGraphicFramePr/>
          <p:nvPr/>
        </p:nvGraphicFramePr>
        <p:xfrm>
          <a:off xmlns:a="http://schemas.openxmlformats.org/drawingml/2006/main" x="609600" y="237172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2095500"/>
                <a:gridCol w="7067550"/>
              </a:tblGrid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반영일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커밋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변경 내용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9/08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258efc1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프로젝트 파일 업로드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9/30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956b346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9월 30일까지의 소스·자료 일괄 반영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9/30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69eb6ff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시연 절차 반영과 임시 파일 정리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48179-EDC1-4F23-AF1C-28FB4353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GitHub Jinseok2419342 / Capstone-team-project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392D3-E82E-4424-86FB-1A9EEBC4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표의 커밋 작성자: Jinseok2419342. 역할별 산출물은 README·검사 기록과 대조.</a:t>
            </a:r>
          </a:p>
        </p:txBody>
      </p:sp>
    </p:spTree>
    <p:extLst>
      <p:ext uri="{BB962C8B-B14F-4D97-AF65-F5344CB8AC3E}">
        <p14:creationId xmlns:p14="http://schemas.microsoft.com/office/powerpoint/2010/main" val="14760510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DDC64-FEE7-4AD6-93DF-0901B5A3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B0F05-4047-41C1-B8DC-A27B749A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실행 가능한 핵심 사건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8FBD8-9C7B-4A7E-90FC-2066B556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A7878-AC8D-45EC-B662-775E72D1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자동 회수는 화면상 사라짐을 기록한 상태이며 실제 소유자 반환의 증거는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61267-2274-4EA3-AE22-76319FC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3AA38-C1F0-4860-8BC2-3E2376AF210B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81400"/>
                <a:gridCol w="4010025"/>
                <a:gridCol w="3381375"/>
              </a:tblGrid>
              <a:tr h="71818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사건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처리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71818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added · 새 물품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기록 저장 후 AI 분류 요청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확정 또는 검토 대기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moved · 같은 물품 이동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물품 대응과 위치·사진 갱신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ID 유지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71818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removed · 명확한 제거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저장된 배경과 제거 근거 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 상태와 활동 이력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verify_removed · 모호한 제거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AI로 사라짐 여부 재검증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 또는 추적·검토 유지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F7245-8DDE-43F2-A8CC-7A860C52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움직임이 끝나고 장면이 안정된 뒤 사건 후보를 처리한다.</a:t>
            </a:r>
          </a:p>
        </p:txBody>
      </p:sp>
    </p:spTree>
    <p:extLst>
      <p:ext uri="{BB962C8B-B14F-4D97-AF65-F5344CB8AC3E}">
        <p14:creationId xmlns:p14="http://schemas.microsoft.com/office/powerpoint/2010/main" val="2536711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361F2-6A40-4088-AD17-778D99B2247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105900" y="23812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39AD3-970B-48FA-93ED-079EF5BF73D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00750" y="23812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D5C8E-FAAA-4A1E-BA4D-81779BF17DF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33700" y="23812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51E85-1949-4C4A-843C-F538C5D9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23E41-023D-4E8B-87C5-E72B1C85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응답보다 관찰 저장을 먼저 수행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9691A-330F-454F-B353-BE193852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18E9E-6EFB-4020-BDC2-DBE0D7B1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F53D5-F04E-4222-B58E-3F36A430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324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 감지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CC4A3-8F9B-4E68-9AFD-95D09F4D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95475"/>
            <a:ext cx="2571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임시 기록 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F2BCA-E72F-44C6-9312-4C551CF0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95475"/>
            <a:ext cx="2619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비동기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B7CBF-0E18-4BC9-A200-2C1ACFC2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895475"/>
            <a:ext cx="19907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wrap="none" lIns="114300" tIns="142875" rIns="114300" bIns="114300" anchor="ctr">
            <a:noAutofit/>
          </a:bodyPr>
          <a:lstStyle xmlns:a="http://schemas.openxmlformats.org/drawingml/2006/main">
            <a:defPPr algn="ctr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 eaLnBrk="0" latinLnBrk="0">
              <a:def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검토·확정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16D35-51C0-4DC6-AC40-47FF808B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7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실제 코드 발췌 · app/main.py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D76C0-F828-4370-9B41-A85A26F4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38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2025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with _item_mutation_lock: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2025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    item = create_provisional_item(event)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F7EC4-3ECE-4013-9C9B-2BD1AB7A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6581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submit_classification(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    classify_existing_item, item["id"], event,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    item_tracking_signature(item)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18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3C305-4119-47A5-867D-9ED236BD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3038475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오류·불확실 응답에도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사진과 관찰 기록을 보존</a:t>
            </a:r>
          </a:p>
          <a:p xmlns:a="http://schemas.openxmlformats.org/drawingml/2006/main">
            <a:pPr eaLnBrk="0" latinLnBrk="0"/>
            <a:r>
              <a:t/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관리자 수정 뒤의 응답은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현재 검토 상태를 확인</a:t>
            </a:r>
          </a:p>
        </p:txBody>
      </p:sp>
    </p:spTree>
    <p:extLst>
      <p:ext uri="{BB962C8B-B14F-4D97-AF65-F5344CB8AC3E}">
        <p14:creationId xmlns:p14="http://schemas.microsoft.com/office/powerpoint/2010/main" val="12292733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B9EB4-00D1-4B63-82EC-889CA991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76E86-A637-42EE-822C-901BE359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 상세 화면과 처리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B457C-23A4-447D-99CE-B557FCAF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4E229-B514-4ECE-97AD-DA1BA3A0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9/18 개발 검사 화면 / 합성 물품·모의 AI 사용. 화면의 97%는 실제 모델 정확도가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D0DA9-A69C-4775-B966-C2B97AA1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485BA-07E9-476E-A471-FB85EA153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20e4196a6494d"/>
          <a:stretch xmlns:a="http://schemas.openxmlformats.org/drawingml/2006/main"/>
        </p:blipFill>
        <p:spPr>
          <a:xfrm xmlns:a="http://schemas.openxmlformats.org/drawingml/2006/main">
            <a:off x="644169" y="1628775"/>
            <a:ext cx="3731336" cy="4438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AF4C9-2028-4751-A821-3697D0C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573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등록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73391-DBC9-436C-B24F-457AB073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57375"/>
            <a:ext cx="5505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물품을 놓고 손을 뺀 뒤 임시 기록 생성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분석 후 이름·분류를 확정하거나 검토 대기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3893E-0078-4E83-9B8D-86005C80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6677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D8FBD-0291-4403-B0DB-03BCF626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이동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DD93C-B82B-4DD0-AF3E-4BC9A08F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5505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같은 물품의 위치·사진 갱신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새 기록을 만들지 않고 기존 ID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24933-347B-421C-8B32-22DBB2A4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76700"/>
            <a:ext cx="6677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8A50E-A4E2-4D19-B402-885EDB5C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3862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회수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17F18-E4B3-490A-8A51-2FC58B19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38625"/>
            <a:ext cx="5505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화면에서 사라지면 같은 기록의 상태 전환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활동 이력에 처리 결과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D8C62-52A1-4B08-9341-87083938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67375"/>
            <a:ext cx="66770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실물 흐름은 9/22 성공 보고. 동일 ID의 실제 Pi 캡처는 미확보.</a:t>
            </a:r>
          </a:p>
        </p:txBody>
      </p:sp>
    </p:spTree>
    <p:extLst>
      <p:ext uri="{BB962C8B-B14F-4D97-AF65-F5344CB8AC3E}">
        <p14:creationId xmlns:p14="http://schemas.microsoft.com/office/powerpoint/2010/main" val="14888694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50A63-3758-499E-BFE5-F71D32FD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C2D71-5E58-447B-A62C-D1B99FED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관리자 대시보드와 운영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27B97-09C8-419F-9E8C-CCF0721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DA6A-9A6D-4568-9FC6-BEEB2156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9/22 개발 검사 화면 / 물품 수·사진·영상은 합성 테스트 데이터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83AB6-66B4-42EE-990C-D30E1503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DDE20-741C-4BBD-BEC9-FA977EE17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12b63797d4df1"/>
          <a:stretch xmlns:a="http://schemas.openxmlformats.org/drawingml/2006/main"/>
        </p:blipFill>
        <p:spPr>
          <a:xfrm xmlns:a="http://schemas.openxmlformats.org/drawingml/2006/main">
            <a:off x="1013460" y="1695450"/>
            <a:ext cx="624078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7A1B2-AF32-4708-99E9-EC030F74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932BB-9E85-4B6F-86DB-0D695738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3486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실시간 카메라와 보관 현황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기한 도래·확인 필요 항목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 검색과 상세 편집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139A4-DD06-4E3C-901D-1D49B8D9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시연 초기화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9B4DE-E60D-4804-85FB-BF064DF0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3486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확인 후 모든 물품·기록 삭제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백업 없이 실행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설정과 API 키는 유지</a:t>
            </a:r>
          </a:p>
        </p:txBody>
      </p:sp>
    </p:spTree>
    <p:extLst>
      <p:ext uri="{BB962C8B-B14F-4D97-AF65-F5344CB8AC3E}">
        <p14:creationId xmlns:p14="http://schemas.microsoft.com/office/powerpoint/2010/main" val="15511492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EC1C6-ADE2-4EA1-9303-024831A9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83177-E1E4-41CF-BFF4-32FAE2F7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통합된 기능과 남은 개발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20F99-2952-4183-9CA9-034EBF8F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F90B6-656B-40FB-9DB7-8268E8C2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137FD-0E74-4DA7-A627-2049E2AE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연동 구현 완료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536BC-0433-4DC2-9861-16633D6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카메라·사건 처리·SQLite·API·웹 연결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임시 저장 후 비동기 AI 반영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기한 검사와 알림, 상태·활동 이력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3675E-FDA7-4E92-A5FF-13C452F8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28800"/>
            <a:ext cx="5114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현장 확인 대기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FED96-2821-42EC-801A-F0430EFC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43150"/>
            <a:ext cx="51149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새 네트워크의 전원 재인가와 자동 연결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개별 AI 응답 기록과 실제 SMTP 수신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여러 물품과 장시간 운영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9EA74-A8BC-4895-B8CB-2FFC16FC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정량 평가를 위해 추가할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47675-C38C-419F-A633-F554706D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종단간 사건·API 호출의 영속 측정 원장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공통 영상으로 B0/B1/B2를 비교할 스트림 실행기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정답 라벨 데이터와 반복 측정 결과</a:t>
            </a:r>
          </a:p>
        </p:txBody>
      </p:sp>
    </p:spTree>
    <p:extLst>
      <p:ext uri="{BB962C8B-B14F-4D97-AF65-F5344CB8AC3E}">
        <p14:creationId xmlns:p14="http://schemas.microsoft.com/office/powerpoint/2010/main" val="19414988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12322-1DC0-4A94-B02D-D3BD0A01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5. AI 모델 및 데이터 개발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A5993-CFEB-4A30-BA0E-2BCFD118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데이터 수집과 AI 입력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A8F7E-42E6-4F74-A1B4-7058416B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3F6A-3389-4105-80AC-1A6AC8F5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운영 사진의 전체 수량은 미집계 / 정답 라벨이 있는 평가 세트는 미확보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96B09-5CF5-44B2-A6F0-E219309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397C3-57AA-4789-A01F-F1D1DDB028B8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743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8210550"/>
              </a:tblGrid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처리와 확보 수준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 데이터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CSI 카메라의 연속 영상과 사건별 사진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전처리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움직임 종료·장면 안정화, 기하 정합과 조명 보정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장면 전후 2장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변화 방향과 주변 문맥 확인, JPEG 품질 72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 전후 2장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물품의 세부 특징 확인, JPEG 품질 88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2388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데이터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라벨·AI 응답을 연결한 평가 자료 수집 예정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64378-9926-45CC-9077-48052EBC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요청당 최대 4장. 자체 학습·데이터 증강·파인튜닝은 수행하지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5885201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8D8A0-BCFD-4058-85F2-2123B32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5. AI 모델 및 데이터 개발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79DF6-1E98-4C7A-A001-4C3514BC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적용 모델과 구조화 추론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49985-3841-45C2-82AF-9888D362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29CFE-2607-4EC0-BE3A-BB7340B3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모델별 정확도·비용 비교는 미실시 / RAG·자체 학습·파인튜닝은 미적용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3E0CD-AB49-45B7-926A-EF14C33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D9CC-671A-4A2A-9D79-D20CBCF1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276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모델·선정 이유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6FBE6-77A2-4E7F-8AA0-6642C75B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24025"/>
            <a:ext cx="8429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OpenAI 사용, Gemini 연동 경로도 구현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다양한 물품을 전후 이미지와 문맥으로 해석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08408-8B14-45B0-A494-E3B48182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CD13B-D91B-403E-860B-C947E86A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276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설정 확인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8E7ED-6A4E-4318-85A3-D2A110C7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81300"/>
            <a:ext cx="8429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9/22 설정: gpt-5.6-luna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9/29 OpenAI 동작 성공 보고, 당일 모델명은 미수집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37194-CB80-4793-8E5B-5B7B0440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BD6FF-D7B2-4F92-B42D-18457255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276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프롬프트·출력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4596F-162E-42F0-9941-F478AC19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38575"/>
            <a:ext cx="8429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전후 증거와 판단 지침, JSON schema를 함께 전달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action·물품명·분류·확신도·근거를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6E354-70A2-4A3F-87D4-79AAB884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A11B0-C9A3-42F6-A79C-F4ECDB8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276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응답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11921-C406-4D2D-A5F1-EBD916FD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95850"/>
            <a:ext cx="8429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기본 모델의 reasoning low, 출력 상한 2,048토큰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완료 상태와 내용을 검사하고 오류·불확실 기록 보존</a:t>
            </a:r>
          </a:p>
        </p:txBody>
      </p:sp>
    </p:spTree>
    <p:extLst>
      <p:ext uri="{BB962C8B-B14F-4D97-AF65-F5344CB8AC3E}">
        <p14:creationId xmlns:p14="http://schemas.microsoft.com/office/powerpoint/2010/main" val="6368708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A71C9-E297-4916-8E3B-A864B9D8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5. AI 모델 및 데이터 개발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A90D3-EC31-4B14-A193-88BE5590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현재 성능 확인 범위와 평가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54BA9-1C5D-4444-97A1-5328DC4C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ED82F-5939-4D75-94F8-94E65B91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9/29 OpenAI 동작 성공 보고 확보 / 정답·개별 응답·표본 수를 연결한 정량 결과는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18B0A-58C7-4443-98DD-3CFA4C02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CE937-729B-45CD-B0F3-BBDE5DEE87C0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2000250"/>
                <a:gridCol w="5067300"/>
              </a:tblGrid>
              <a:tr h="6302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항목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수집할 근거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302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 Precision / Recall / F1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추가·이동·제거별 TP·FP·FN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 분류 정확도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분류와 AI 응답, 표본 수 N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302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불확실 판정 비율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사건 수와 uncertain 건수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종단간 지연 p50 / p95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행동 종료와 DB 반영 시각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302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성공·실패 사례 분석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미수집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7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사건의 사진·정답·응답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FEF43-7212-4921-B5A2-C50700A8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다음 평가: 사건별 정답과 응답을 함께 저장하고 지표를 계산한다.</a:t>
            </a:r>
          </a:p>
        </p:txBody>
      </p:sp>
    </p:spTree>
    <p:extLst>
      <p:ext uri="{BB962C8B-B14F-4D97-AF65-F5344CB8AC3E}">
        <p14:creationId xmlns:p14="http://schemas.microsoft.com/office/powerpoint/2010/main" val="7700119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CAF16-2C2E-41F2-ADB3-6B208364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5. AI 모델 및 데이터 개발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3F7DB-6B91-4C5A-9C8D-5961A036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Baseline 비교와 AI 개선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33299-EDD6-49C0-A88A-2E6A651A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CC25F-D9D9-42B3-9CD2-6807C474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B6629-1A9E-4536-AD04-7CDF701D864A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10050"/>
                <a:gridCol w="3990975"/>
                <a:gridCol w="2771775"/>
              </a:tblGrid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비교군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 순수 grayscale 차분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변화 검출과 비교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실행기 미구현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 안정화 상태기계 제거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안정화 대기의 효과·지연 확인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실행기 미구현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B2 OpenCV MOG2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배경 모델 방식과 비교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실행기 미구현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Re:Found 전체 로컬 처리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제안 파이프라인 평가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구현, 실측 대기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27BF3-2889-49D2-A85A-FA122C76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A76EB-B1B4-4A2A-8355-FAEF3E1D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19700"/>
            <a:ext cx="86391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그림자·손 가림·저대비·다중 물품 사례를 확보하고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같은 데이터에서 입력 구성과 판정 기준을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4827288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D9A74-D37F-426F-823F-33645954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6. 테스트 결과 및 문제점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84632-5847-4760-BDE9-E2C4E85A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자동화 테스트와 통합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F5365-F29F-4504-A343-2DF34D4E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C6BC2-F3CF-40E3-93C2-E2737E3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합성 카메라·임시 DB·모의 AI·SMTP를 사용한 개발 검사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74F07-F3DD-4043-9ACC-169571A1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D0D32-BAC9-49F1-81B3-078E9968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B13D8-AA5C-4111-9DC0-4801E70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14600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Python 검사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F249B-C90E-40B6-A2A3-3DF9608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52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9/30 재실행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863CB-9405-4DDA-9FC4-1ECD2CB3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7162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8A664-B0D7-4A99-B6A1-D9AF7198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14600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Node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91CD8-8FA1-498D-9622-4FD56B96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52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9/30 재실행 통과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6341C-9851-4E04-8D96-C731828C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7162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0A373-8D10-4255-B467-BD52AE45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514600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Chromium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7E264-848C-4E20-ADB0-33BB4AE5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52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9/22 검사 통과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7C2A0-E421-4ABF-8415-5DA98BFB554C}"/>
              </a:ext>
            </a:extLst>
          </p:cNvPr>
          <p:cNvGraphicFramePr/>
          <p:nvPr/>
        </p:nvGraphicFramePr>
        <p:xfrm>
          <a:off xmlns:a="http://schemas.openxmlformats.org/drawingml/2006/main" x="609600" y="3638550"/>
          <a:ext xmlns:a="http://schemas.openxmlformats.org/drawingml/2006/main" cx="109728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639050"/>
              </a:tblGrid>
              <a:tr h="5667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조건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결과와 실제 결과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667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사건·관리 흐름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등록·이동·상태 변경·활동 이력 연결 검사 통과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초기화·반응형 화면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확인·취소·설정 보존·후속 등록 검사 통과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6673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9/30 격리 서버 시작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화면·정적 파일·주요 API의 HTTP 200 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3904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BEB45-AFEE-4DE7-B21F-667DFD4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6. 테스트 결과 및 문제점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0DADF-272B-4337-B8BC-3FD78F0C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실제 Pi 시연에서 확인한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E6CAA-F908-4490-B88A-766E852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1DF2C-4CC2-438D-98BE-0D488797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로그 확인과 사용자 성공 보고를 구분 / 새 네트워크의 전원 재인가 시험은 아직 미확인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3465E-32D6-43CB-A43D-73B7ECEC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5097-873D-4AD7-83D0-621A2E0FF0FA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086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86125"/>
                <a:gridCol w="2286000"/>
                <a:gridCol w="5400675"/>
              </a:tblGrid>
              <a:tr h="583746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확인일·항목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83746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9/22 설치·촬영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제공 로그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완료, OV5647 촬영·프레임 획득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3746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9/22 재부팅 진단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제공 로그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active, DB·카메라 연결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3746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9/22 등록·이동·회수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성공 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실물 흐름 정상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3746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9/29 Windows 핫스팟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제공 로그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 검색과 Pi 연결 활성화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3746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9/29 SSH 웹·OpenAI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성공 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노트북 화면 접속과 API 동작 성공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3746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확인 대상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미확인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재연결, 실제 메일·장시간 운영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7355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E4054-D510-45CD-958C-C544434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6. 테스트 결과 및 문제점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1E58D-3798-4A41-A47B-9BD7A6D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주요 문제의 원인과 해결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AB57F-D7EF-4BD0-AECB-8A808078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46F71-C7FF-4713-A972-8BA085CB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데이터 보존과 시연 연결을 우선 점검 / 해결 후 확인 범위는 해당 검사·보고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9B4EA-8AE0-4594-961C-FFC91F22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3DC7D-811A-492D-B95A-FEC1DC9BA2B4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3429000"/>
                <a:gridCol w="4362450"/>
              </a:tblGrid>
              <a:tr h="685800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원인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수정과 확인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85800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화면의 미세 흔들림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정합 영상을 미리보기에 사용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영상과 박스 좌표 투영 분리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 누락·중복 위험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저장 전 기준 장면 갱신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확인 후 갱신, 사건 ID 검사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85800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늦은 AI 응답의 충돌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추론 중 물품 기록·상태 변경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상태와 추적 revision 검사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 편집·모바일 넘침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갱신 잠금·숨김 라벨 위치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잠금 분리, 390px 검사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85800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SSH 후 웹 접속 실패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내부에서 터널 시작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800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Windows에서 실행 후 성공 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2225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E8216-DAAC-4BD5-8B21-8245AC8F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6. 테스트 결과 및 문제점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6A353-8093-4691-A0C7-BB12FB05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개발 환경에서의 정지 장면 연산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A3E19-C8EF-4EE0-909E-0E1F3B56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9AC79-74E6-4E3B-93DD-3ED75D61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PC 합성 입력의 개발 검사 / Pi 성능·AI 정확도·종단간 지연 결과가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02270-F160-47A5-A26E-C11925DE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391A9-41B8-420F-BC3C-BEACB878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6877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분석 프레임당 처리 시간 (ms)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74416B3-B1E6-4330-B09D-574E0FF38D74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663892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c26c7cab7045f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392A3-B1F4-4585-B3E1-153698B9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3743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수정 내용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6DFA5-CF9E-4445-B4D4-5035E4FD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0"/>
            <a:ext cx="37433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기준 grayscale 캐시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무변화 프레임의 조기 종료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중복 정합 제거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미리보기 해상도 축소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A3C50-B19E-47B4-8197-1C66F581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76750"/>
            <a:ext cx="37433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9/18 Windows 합성 입력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OpenCV 1 thread, 160 입력 프레임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호스트 부하·설정 변화 포함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실제 Pi 개선율은 별도 측정</a:t>
            </a:r>
          </a:p>
        </p:txBody>
      </p:sp>
    </p:spTree>
    <p:extLst>
      <p:ext uri="{BB962C8B-B14F-4D97-AF65-F5344CB8AC3E}">
        <p14:creationId xmlns:p14="http://schemas.microsoft.com/office/powerpoint/2010/main" val="18850265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C7953-3926-4D6B-A16F-68A880A2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7. 향후 개발 및 완성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7E374-6638-497E-8528-2218F660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최종보고 전 개발·검증 우선순위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A6C12-10A3-423B-8B6B-29288E15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3C948-75A9-40AA-A05C-CD889EDA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제안 계획 / 성능 목표 수치는 파일럿 결과와 운영 허용 오차를 바탕으로 확정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9922A-6A3A-4219-8733-726DB4B9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AEE7E-E437-4286-B184-0582969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우선 1 시연 안정화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19EAD-40C7-4447-ABE2-92CD6723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24025"/>
            <a:ext cx="8162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핫스팟 자동 연결과 전원 재인가 후 영상·AI 복귀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완료 근거: 같은 발표 장비의 반복 실행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58236-281F-4380-B720-F68B3047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84EAB-A620-4B15-B236-F7E0742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우선 2 운영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F6D81-4CE2-495B-9478-3914CBCA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81300"/>
            <a:ext cx="8162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다중 물품, 편집·메일, privacy 복원, 장시간 감시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완료 근거: 조건·예상·실제 결과를 연결한 점검표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F2C86-1AFD-48A2-ABC8-1EDD0189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BBB42-42B8-4B9F-9ACF-AE11CE8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우선 3 평가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50CEF-8569-4DAD-B506-568E88F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38575"/>
            <a:ext cx="8162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사건·API 시각 원장, 정답 라벨, 공통 비교 실행기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완료 근거: 원시 CSV와 동일 입력의 비교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5AF8B-80BF-417E-B26F-B4A9763E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577EA-471F-4695-AB57-18E10E4D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AI 개선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B4476-1DF9-4ACE-B50E-0AD07C29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895850"/>
            <a:ext cx="8162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약 40건 파일럿으로 오류 유형과 기록 절차 확인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입력·판정 기준을 고정한 뒤 별도 자료로 재평가</a:t>
            </a:r>
          </a:p>
        </p:txBody>
      </p:sp>
    </p:spTree>
    <p:extLst>
      <p:ext uri="{BB962C8B-B14F-4D97-AF65-F5344CB8AC3E}">
        <p14:creationId xmlns:p14="http://schemas.microsoft.com/office/powerpoint/2010/main" val="12054348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885EC-933C-4210-BAB5-12EFD9E2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7. 향후 개발 및 완성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4F96B-1B02-4894-8DFA-A4B5B4C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11월 3일 최종보고까지의 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F93C1-1CD2-4BC0-A0A6-B88DE235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B2E1C-DA67-4488-BD60-10F1F66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발표일은 수업 확정 일정 / 개발 작업과 완료 목표는 제안 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6FE73-B703-4566-A3D4-ADB10555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F4FE6-73CE-4CF4-A696-34464D304C18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105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28875"/>
                <a:gridCol w="4857750"/>
                <a:gridCol w="3686175"/>
              </a:tblGrid>
              <a:tr h="58646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계획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1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산출물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8646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10/02~10/12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캡처, 연결 리허설, 평가 설계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중간보고 자료·시연 기록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10/13 중간보고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구현·검증 범위와 남은 계획 발표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피드백과 수정 우선순위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646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10/14~10/20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원장·비교 실행기, 파일럿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 CSV·정답 라벨·오류 목록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10/21~10/26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입력 비교, 운영 안정화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평가표·실패 사례·반복 검사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646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10/27 발표 연습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시연과 결과·화면 점검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수정 목록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10/28~11/03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보완, 배포 고정, 최종보고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eaLnBrk="0" latinLnBrk="0"/>
                      <a:r>
                        <a:rPr sz="1725" b="0" lang="ko-KR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PPT·패키지·검증 기록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786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BFBFF-399E-4D57-B2D0-939F77B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7. 향후 개발 및 완성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DEF2B-D68C-48D2-B202-ABAA32C6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최종보고의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EF2F8-E7CF-41EF-8FD2-C750A2BE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09B95-9B32-45FD-9C80-EEBC9734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3987F-665F-498E-82FA-D01FE34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4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현재: 통합 프로토타입 구현과 기본 실물 흐름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7D961-6EEF-4E57-A299-AC1712FC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실행 증거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4A27F-E578-4842-A684-2AC07BAC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09875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실물 등록·이동·회수의 동일 물품 기록과 화면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5DB88-E27D-419B-96C8-6D63AB55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9B84C-E02F-47A1-BFDF-6F82AFC3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운영 안정성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FAA31-92F8-49A0-A408-70BF8DB9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실제 발표 장비의 연결·재시작·관리 기능을 반복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F2DD4-6F30-4050-8DD3-C4ED8748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B5655-FDFB-4F8F-B4FD-30A15AA7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AI 성능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84847-0919-447B-A8C9-3CD6CB5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333875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정답·원본·응답을 연결해 정확도·불확실 비율·지연 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8CEAA-70CF-499B-8476-9E98AB0E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C5742-489B-4F05-83DB-145C899C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재현 가능한 결과물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B0AFF-9A02-4BAC-A0AB-303BA6F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095875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고정된 코드·배포본과 원시 기록, 결과표를 함께 보존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0FE34-B1E9-4E6C-A371-B4F8BC47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정량 성능과 현장 운영 증거를 보완해 최종 결과를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20963756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09393-8E4E-48AD-8FF9-E6E1B3BB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보충자료 A. 핵심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54B66-FB7B-4F87-AA32-7A3B03B7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늦은 AI 응답을 적용하기 전 상태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5DB9F-0778-4825-812C-404D4218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B752B-75C6-425D-B127-D41E17FF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30785-1320-4159-9A59-5751D79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app/classification.py · process()의 실제 발췌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1FCAB-57CE-4FBF-BB66-D8C0E9B8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with self.mutation_lock: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    current = self.store.get_item(item_id)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    if not current or review_status(current) != "pending":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defRPr>
            </a:pPr>
            <a:r>
              <a:rPr sz="2100" b="0" lang="ko-KR">
                <a:solidFill>
                  <a:srgbClr val="183442"/>
                </a:solidFill>
                <a:latin typeface="Consolas"/>
                <a:ea typeface="Malgun Gothic"/>
                <a:cs typeface="Consolas"/>
              </a:rPr>
              <a:t>       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4C355-8E14-46CC-B9D4-CA8FE00C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관리자가 검토를 완료한 기록에는 뒤늦은 분류를 적용하지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71497-3116-4EB8-A479-97593E9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모호한 제거 검증은 별도로 물리 추적 signature를 검사한다.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이미 이동하거나 처리한 물품에 이전 제거 판정을 적용하지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087938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B26A4-A755-4CDF-BD3F-4468E9F8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보충자료 B. 시연 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3D3A2-8D0D-481D-9A4C-D59C4C43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현재 시연 연결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75A57-2452-42EF-B60C-ECF51920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AD013-7E3C-47E1-B6E3-FAD5AB2A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앱·카메라는 Pi에서 실행 / 시연 노트북은 핫스팟과 웹 접속을 담당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1E41E-BE62-41BC-9F17-C689462A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0F01F-2AD3-4BD7-8108-55A257AB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인터넷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8C554-0094-465C-98CF-357642C8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62125"/>
            <a:ext cx="8496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노트북을 인터넷 Wi-Fi에 연결한 뒤 모바일 핫스팟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5A64A-08CF-466A-879B-2D40C69D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EC3A-9D1F-4A06-9A8E-BD846B18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Pi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95F42-F6EA-4543-94D2-E19EC1D0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71775"/>
            <a:ext cx="8496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핫스팟을 먼저 켜고 Pi 전원 연결, 약 2~3분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35139-1893-4854-B15F-E08DC2A5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D905E-439E-46CC-BB0D-9A263CB1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웹 접속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0A91E-5C9E-45D5-9F52-48051EA3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81425"/>
            <a:ext cx="8496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Windows PowerShell에서 SSH 터널 시작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같은 노트북 브라우저에서 관리자 화면 접속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E6C5F-BB6D-483C-8D74-2BB3481C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66D69-1DE3-44C0-B43E-E104E170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종료·재실행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33D3C-DAFD-48B1-8B02-FF092441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91075"/>
            <a:ext cx="8496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작업 완료 후 Pi 정상 종료, 종료 점멸이 끝나면 전원 분리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다음 실행 때 핫스팟과 SSH 터널을 다시 시작</a:t>
            </a:r>
          </a:p>
        </p:txBody>
      </p:sp>
    </p:spTree>
    <p:extLst>
      <p:ext uri="{BB962C8B-B14F-4D97-AF65-F5344CB8AC3E}">
        <p14:creationId xmlns:p14="http://schemas.microsoft.com/office/powerpoint/2010/main" val="3257182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74B32-CA19-4856-8192-CB7BE329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보충자료 C. 평가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7C433-B8A0-4B82-BF1C-65E2025D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정량 평가의 설계와 해석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D3E48-3976-4AC7-9348-30F5E64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F88D3-AAE2-496B-B059-418E3AFD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 eaLnBrk="0" latinLnBrk="0">
              <a:lnSpc>
                <a:spcPct val="112000"/>
              </a:lnSpc>
              <a:buNone/>
              <a:def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lang="ko-KR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A2AB8-4745-43D6-80C1-98FA84BE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평가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9A98E-14FC-4F9C-B8FC-CA4A5CA9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52600"/>
            <a:ext cx="8277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안정 이미지 쌍, 연속 영상, 동일 사건의 VLM 증거를 구분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그림자·가림·저대비·다중 물품 조건을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84672-631D-4473-8860-5B4AA068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3061C-5D5D-454E-B184-8554D1E0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공통 비교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95364-F55C-4B62-832C-3D5C172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09875"/>
            <a:ext cx="8277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같은 영상·FPS·정답 라벨로 B0/B1/B2/P1 비교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개발 자료에서 기준을 정한 뒤 별도 자료로 평가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896DD-FA0F-49F7-9BF3-165C2F95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6D471-452C-41CF-B200-01CB9085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정확도와 지연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74FF6-D6CB-4A91-A7FF-5DCA8E1D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67150"/>
            <a:ext cx="8277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사건별 TP·FP·FN, 분류 정답, 불확실·실패 응답 기록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지연에는 표본 수·검출률·시각 누락률을 함께 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2B470-2303-4B95-B4D6-AC69AD22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4BBB3-903A-4396-8072-42194CDE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운영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208B5-9757-42AE-A02A-20370250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24425"/>
            <a:ext cx="8277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동일 물품 ID, 상태·사진·활동 이력을 함께 확인</a:t>
            </a:r>
          </a:p>
          <a:p xmlns:a="http://schemas.openxmlformats.org/drawingml/2006/main">
            <a:pPr eaLnBrk="0" latinLnBrk="0">
              <a:lnSpc>
                <a:spcPct val="112000"/>
              </a:lnSpc>
              <a:buNone/>
              <a:def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lang="ko-KR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실패 시 조건·실제 결과·복구 과정을 보존</a:t>
            </a:r>
          </a:p>
        </p:txBody>
      </p:sp>
    </p:spTree>
    <p:extLst>
      <p:ext uri="{BB962C8B-B14F-4D97-AF65-F5344CB8AC3E}">
        <p14:creationId xmlns:p14="http://schemas.microsoft.com/office/powerpoint/2010/main" val="2109061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2026-10-02T01:36:13.5710000Z</dcterms:created>
  <dcterms:modified xsi:type="dcterms:W3CDTF">2026-10-02T01:36:13.5710000Z</dcterms:modified>
</coreProperties>
</file>