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a1e947ad254cca" /><Relationship Type="http://schemas.openxmlformats.org/officeDocument/2006/relationships/extended-properties" Target="/docProps/app.xml" Id="Rb4d3c926497f4284" /><Relationship Type="http://schemas.openxmlformats.org/officeDocument/2006/relationships/officeDocument" Target="/ppt/presentation.xml" Id="R9d25623ee807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0e052b3eaa41b6"/>
  </p:sldMasterIdLst>
  <p:notesMasterIdLst>
    <p:notesMasterId xmlns:r="http://schemas.openxmlformats.org/officeDocument/2006/relationships" r:id="Rf123539f0ca74a31"/>
  </p:notesMasterIdLst>
  <p:sldIdLst>
    <p:sldId xmlns:r="http://schemas.openxmlformats.org/officeDocument/2006/relationships" id="256" r:id="R242347dc2da14e19"/>
    <p:sldId xmlns:r="http://schemas.openxmlformats.org/officeDocument/2006/relationships" id="257" r:id="R9dc8817cc19e4fca"/>
    <p:sldId xmlns:r="http://schemas.openxmlformats.org/officeDocument/2006/relationships" id="258" r:id="R94fadf9911214705"/>
    <p:sldId xmlns:r="http://schemas.openxmlformats.org/officeDocument/2006/relationships" id="259" r:id="R883e20fce8874434"/>
    <p:sldId xmlns:r="http://schemas.openxmlformats.org/officeDocument/2006/relationships" id="260" r:id="Rcebe70cef8214a46"/>
    <p:sldId xmlns:r="http://schemas.openxmlformats.org/officeDocument/2006/relationships" id="261" r:id="Ra8b150488cfa4b09"/>
    <p:sldId xmlns:r="http://schemas.openxmlformats.org/officeDocument/2006/relationships" id="262" r:id="R0517e979203f4854"/>
    <p:sldId xmlns:r="http://schemas.openxmlformats.org/officeDocument/2006/relationships" id="263" r:id="R17e882fba6d34426"/>
    <p:sldId xmlns:r="http://schemas.openxmlformats.org/officeDocument/2006/relationships" id="264" r:id="Re97f0fabf5dc400b"/>
    <p:sldId xmlns:r="http://schemas.openxmlformats.org/officeDocument/2006/relationships" id="265" r:id="R951f881f92f24163"/>
    <p:sldId xmlns:r="http://schemas.openxmlformats.org/officeDocument/2006/relationships" id="266" r:id="R4bdc911c22314328"/>
    <p:sldId xmlns:r="http://schemas.openxmlformats.org/officeDocument/2006/relationships" id="267" r:id="R0fe5f81f54c447e7"/>
    <p:sldId xmlns:r="http://schemas.openxmlformats.org/officeDocument/2006/relationships" id="268" r:id="Rb01dc7524cf6441d"/>
    <p:sldId xmlns:r="http://schemas.openxmlformats.org/officeDocument/2006/relationships" id="269" r:id="Re2ec1159f6564775"/>
    <p:sldId xmlns:r="http://schemas.openxmlformats.org/officeDocument/2006/relationships" id="270" r:id="Re2a49070b93a4478"/>
    <p:sldId xmlns:r="http://schemas.openxmlformats.org/officeDocument/2006/relationships" id="271" r:id="R2c2908d9bf7c42e1"/>
    <p:sldId xmlns:r="http://schemas.openxmlformats.org/officeDocument/2006/relationships" id="272" r:id="R1dafd084ecc44a9d"/>
    <p:sldId xmlns:r="http://schemas.openxmlformats.org/officeDocument/2006/relationships" id="273" r:id="Raf0d52cf9dcd43c6"/>
    <p:sldId xmlns:r="http://schemas.openxmlformats.org/officeDocument/2006/relationships" id="274" r:id="R474cb6468468423e"/>
    <p:sldId xmlns:r="http://schemas.openxmlformats.org/officeDocument/2006/relationships" id="275" r:id="Raa5c068513724709"/>
    <p:sldId xmlns:r="http://schemas.openxmlformats.org/officeDocument/2006/relationships" id="276" r:id="R191cbb40c2d54690"/>
    <p:sldId xmlns:r="http://schemas.openxmlformats.org/officeDocument/2006/relationships" id="277" r:id="Rbd51612d089d4f03"/>
    <p:sldId xmlns:r="http://schemas.openxmlformats.org/officeDocument/2006/relationships" id="278" r:id="R3fbd59500d524d92"/>
    <p:sldId xmlns:r="http://schemas.openxmlformats.org/officeDocument/2006/relationships" id="279" r:id="Rbd33a3e46fb04459"/>
    <p:sldId xmlns:r="http://schemas.openxmlformats.org/officeDocument/2006/relationships" id="280" r:id="Ra39105bca3f24a64"/>
    <p:sldId xmlns:r="http://schemas.openxmlformats.org/officeDocument/2006/relationships" id="281" r:id="R264856019d4f4148"/>
    <p:sldId xmlns:r="http://schemas.openxmlformats.org/officeDocument/2006/relationships" id="282" r:id="Rc27f4e5311ea4077"/>
    <p:sldId xmlns:r="http://schemas.openxmlformats.org/officeDocument/2006/relationships" id="283" r:id="Rc2c439f042a946f5"/>
    <p:sldId xmlns:r="http://schemas.openxmlformats.org/officeDocument/2006/relationships" id="284" r:id="Rbb1eef43d6c244c2"/>
    <p:sldId xmlns:r="http://schemas.openxmlformats.org/officeDocument/2006/relationships" id="285" r:id="R3653ba15930d44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c5a123a1a34f6b" /><Relationship Type="http://schemas.openxmlformats.org/officeDocument/2006/relationships/slideMaster" Target="/ppt/slideMasters/slideMaster1.xml" Id="Rea0e052b3eaa41b6" /><Relationship Type="http://schemas.openxmlformats.org/officeDocument/2006/relationships/notesMaster" Target="/ppt/notesMasters/notesMaster1.xml" Id="Rf123539f0ca74a31" /><Relationship Type="http://schemas.openxmlformats.org/officeDocument/2006/relationships/presProps" Target="/ppt/presProps.xml" Id="Rf0dcb8a3039c4f76" /><Relationship Type="http://schemas.openxmlformats.org/officeDocument/2006/relationships/tableStyles" Target="/ppt/tableStyles.xml" Id="R491bdc677e684a23" /><Relationship Type="http://schemas.openxmlformats.org/officeDocument/2006/relationships/slide" Target="/ppt/slides/slide1.xml" Id="R242347dc2da14e19" /><Relationship Type="http://schemas.openxmlformats.org/officeDocument/2006/relationships/slide" Target="/ppt/slides/slide2.xml" Id="R9dc8817cc19e4fca" /><Relationship Type="http://schemas.openxmlformats.org/officeDocument/2006/relationships/slide" Target="/ppt/slides/slide3.xml" Id="R94fadf9911214705" /><Relationship Type="http://schemas.openxmlformats.org/officeDocument/2006/relationships/slide" Target="/ppt/slides/slide4.xml" Id="R883e20fce8874434" /><Relationship Type="http://schemas.openxmlformats.org/officeDocument/2006/relationships/slide" Target="/ppt/slides/slide5.xml" Id="Rcebe70cef8214a46" /><Relationship Type="http://schemas.openxmlformats.org/officeDocument/2006/relationships/slide" Target="/ppt/slides/slide6.xml" Id="Ra8b150488cfa4b09" /><Relationship Type="http://schemas.openxmlformats.org/officeDocument/2006/relationships/slide" Target="/ppt/slides/slide7.xml" Id="R0517e979203f4854" /><Relationship Type="http://schemas.openxmlformats.org/officeDocument/2006/relationships/slide" Target="/ppt/slides/slide8.xml" Id="R17e882fba6d34426" /><Relationship Type="http://schemas.openxmlformats.org/officeDocument/2006/relationships/slide" Target="/ppt/slides/slide9.xml" Id="Re97f0fabf5dc400b" /><Relationship Type="http://schemas.openxmlformats.org/officeDocument/2006/relationships/slide" Target="/ppt/slides/slide10.xml" Id="R951f881f92f24163" /><Relationship Type="http://schemas.openxmlformats.org/officeDocument/2006/relationships/slide" Target="/ppt/slides/slide11.xml" Id="R4bdc911c22314328" /><Relationship Type="http://schemas.openxmlformats.org/officeDocument/2006/relationships/slide" Target="/ppt/slides/slide12.xml" Id="R0fe5f81f54c447e7" /><Relationship Type="http://schemas.openxmlformats.org/officeDocument/2006/relationships/slide" Target="/ppt/slides/slide13.xml" Id="Rb01dc7524cf6441d" /><Relationship Type="http://schemas.openxmlformats.org/officeDocument/2006/relationships/slide" Target="/ppt/slides/slide14.xml" Id="Re2ec1159f6564775" /><Relationship Type="http://schemas.openxmlformats.org/officeDocument/2006/relationships/slide" Target="/ppt/slides/slide15.xml" Id="Re2a49070b93a4478" /><Relationship Type="http://schemas.openxmlformats.org/officeDocument/2006/relationships/slide" Target="/ppt/slides/slide16.xml" Id="R2c2908d9bf7c42e1" /><Relationship Type="http://schemas.openxmlformats.org/officeDocument/2006/relationships/slide" Target="/ppt/slides/slide17.xml" Id="R1dafd084ecc44a9d" /><Relationship Type="http://schemas.openxmlformats.org/officeDocument/2006/relationships/slide" Target="/ppt/slides/slide18.xml" Id="Raf0d52cf9dcd43c6" /><Relationship Type="http://schemas.openxmlformats.org/officeDocument/2006/relationships/slide" Target="/ppt/slides/slide19.xml" Id="R474cb6468468423e" /><Relationship Type="http://schemas.openxmlformats.org/officeDocument/2006/relationships/slide" Target="/ppt/slides/slide20.xml" Id="Raa5c068513724709" /><Relationship Type="http://schemas.openxmlformats.org/officeDocument/2006/relationships/slide" Target="/ppt/slides/slide21.xml" Id="R191cbb40c2d54690" /><Relationship Type="http://schemas.openxmlformats.org/officeDocument/2006/relationships/slide" Target="/ppt/slides/slide22.xml" Id="Rbd51612d089d4f03" /><Relationship Type="http://schemas.openxmlformats.org/officeDocument/2006/relationships/slide" Target="/ppt/slides/slide23.xml" Id="R3fbd59500d524d92" /><Relationship Type="http://schemas.openxmlformats.org/officeDocument/2006/relationships/slide" Target="/ppt/slides/slide24.xml" Id="Rbd33a3e46fb04459" /><Relationship Type="http://schemas.openxmlformats.org/officeDocument/2006/relationships/slide" Target="/ppt/slides/slide25.xml" Id="Ra39105bca3f24a64" /><Relationship Type="http://schemas.openxmlformats.org/officeDocument/2006/relationships/slide" Target="/ppt/slides/slide26.xml" Id="R264856019d4f4148" /><Relationship Type="http://schemas.openxmlformats.org/officeDocument/2006/relationships/slide" Target="/ppt/slides/slide27.xml" Id="Rc27f4e5311ea4077" /><Relationship Type="http://schemas.openxmlformats.org/officeDocument/2006/relationships/slide" Target="/ppt/slides/slide28.xml" Id="Rc2c439f042a946f5" /><Relationship Type="http://schemas.openxmlformats.org/officeDocument/2006/relationships/slide" Target="/ppt/slides/slide29.xml" Id="Rbb1eef43d6c244c2" /><Relationship Type="http://schemas.openxmlformats.org/officeDocument/2006/relationships/slide" Target="/ppt/slides/slide30.xml" Id="R3653ba15930d44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c53edb76114d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8226a6f0c84aac" /><Relationship Type="http://schemas.openxmlformats.org/officeDocument/2006/relationships/notesMaster" Target="/ppt/notesMasters/notesMaster1.xml" Id="R76de5b45bb5942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93c33fb7d34738" /><Relationship Type="http://schemas.openxmlformats.org/officeDocument/2006/relationships/notesMaster" Target="/ppt/notesMasters/notesMaster1.xml" Id="R4338302f0bdc4b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65846575af4b63" /><Relationship Type="http://schemas.openxmlformats.org/officeDocument/2006/relationships/notesMaster" Target="/ppt/notesMasters/notesMaster1.xml" Id="Rcd670a236c924f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1b617ebbf849b4" /><Relationship Type="http://schemas.openxmlformats.org/officeDocument/2006/relationships/notesMaster" Target="/ppt/notesMasters/notesMaster1.xml" Id="R1ad8ecf9afdb4a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b38c79f12e4b47" /><Relationship Type="http://schemas.openxmlformats.org/officeDocument/2006/relationships/notesMaster" Target="/ppt/notesMasters/notesMaster1.xml" Id="R9e1117f2f9034a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0bbde3a024440d" /><Relationship Type="http://schemas.openxmlformats.org/officeDocument/2006/relationships/notesMaster" Target="/ppt/notesMasters/notesMaster1.xml" Id="Rc1c83386262247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5f850d627f4cc3" /><Relationship Type="http://schemas.openxmlformats.org/officeDocument/2006/relationships/notesMaster" Target="/ppt/notesMasters/notesMaster1.xml" Id="R7f2bf0ddaead48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a7164d1b2c4c8e" /><Relationship Type="http://schemas.openxmlformats.org/officeDocument/2006/relationships/notesMaster" Target="/ppt/notesMasters/notesMaster1.xml" Id="Rf951b9b7853644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542cee06c94e92" /><Relationship Type="http://schemas.openxmlformats.org/officeDocument/2006/relationships/notesMaster" Target="/ppt/notesMasters/notesMaster1.xml" Id="Rc3a6f3d99b4f4f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1fa25f2cfe4fcb" /><Relationship Type="http://schemas.openxmlformats.org/officeDocument/2006/relationships/notesMaster" Target="/ppt/notesMasters/notesMaster1.xml" Id="R68c21024f19f48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adcd7f43d744a8" /><Relationship Type="http://schemas.openxmlformats.org/officeDocument/2006/relationships/notesMaster" Target="/ppt/notesMasters/notesMaster1.xml" Id="R92e09814a2cd4e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abe83372104861" /><Relationship Type="http://schemas.openxmlformats.org/officeDocument/2006/relationships/notesMaster" Target="/ppt/notesMasters/notesMaster1.xml" Id="R3b263c9080d540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1185a34c554bd9" /><Relationship Type="http://schemas.openxmlformats.org/officeDocument/2006/relationships/notesMaster" Target="/ppt/notesMasters/notesMaster1.xml" Id="Rb32c97cd9d9746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e4d14b69b04c1f" /><Relationship Type="http://schemas.openxmlformats.org/officeDocument/2006/relationships/notesMaster" Target="/ppt/notesMasters/notesMaster1.xml" Id="Re00ba0d8b41845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90f34284f1422d" /><Relationship Type="http://schemas.openxmlformats.org/officeDocument/2006/relationships/notesMaster" Target="/ppt/notesMasters/notesMaster1.xml" Id="R1f75e518d91f49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72a094d5d24198" /><Relationship Type="http://schemas.openxmlformats.org/officeDocument/2006/relationships/notesMaster" Target="/ppt/notesMasters/notesMaster1.xml" Id="R6a4b57b4e13b4a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7f6e3dc77b4dbe" /><Relationship Type="http://schemas.openxmlformats.org/officeDocument/2006/relationships/notesMaster" Target="/ppt/notesMasters/notesMaster1.xml" Id="R11f414ac5ba042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adc5e78b2044e4" /><Relationship Type="http://schemas.openxmlformats.org/officeDocument/2006/relationships/notesMaster" Target="/ppt/notesMasters/notesMaster1.xml" Id="R972fd4ddb2e846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0dab60efa0406e" /><Relationship Type="http://schemas.openxmlformats.org/officeDocument/2006/relationships/notesMaster" Target="/ppt/notesMasters/notesMaster1.xml" Id="R911d03b086cc46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17d1e19d3f40f8" /><Relationship Type="http://schemas.openxmlformats.org/officeDocument/2006/relationships/notesMaster" Target="/ppt/notesMasters/notesMaster1.xml" Id="R256fe1d6f00b464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b69d937d71468e" /><Relationship Type="http://schemas.openxmlformats.org/officeDocument/2006/relationships/notesMaster" Target="/ppt/notesMasters/notesMaster1.xml" Id="Ra53c53ee21884f2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15cb5c131941c3" /><Relationship Type="http://schemas.openxmlformats.org/officeDocument/2006/relationships/notesMaster" Target="/ppt/notesMasters/notesMaster1.xml" Id="R1502cebed1b842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b9fb37af6c7467b" /><Relationship Type="http://schemas.openxmlformats.org/officeDocument/2006/relationships/notesMaster" Target="/ppt/notesMasters/notesMaster1.xml" Id="R9c00e427465c48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c576d5feb374342" /><Relationship Type="http://schemas.openxmlformats.org/officeDocument/2006/relationships/notesMaster" Target="/ppt/notesMasters/notesMaster1.xml" Id="R10facf8b9da240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37c12194fa9496d" /><Relationship Type="http://schemas.openxmlformats.org/officeDocument/2006/relationships/notesMaster" Target="/ppt/notesMasters/notesMaster1.xml" Id="R21bc02e458a14a5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1504411b90c4eb4" /><Relationship Type="http://schemas.openxmlformats.org/officeDocument/2006/relationships/notesMaster" Target="/ppt/notesMasters/notesMaster1.xml" Id="Rec1e890e580142d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0a9aeb9c8a64b07" /><Relationship Type="http://schemas.openxmlformats.org/officeDocument/2006/relationships/notesMaster" Target="/ppt/notesMasters/notesMaster1.xml" Id="R0bda543856df4f9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426e07c7a734523" /><Relationship Type="http://schemas.openxmlformats.org/officeDocument/2006/relationships/notesMaster" Target="/ppt/notesMasters/notesMaster1.xml" Id="R0715b977e208472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d5d363eb6074981" /><Relationship Type="http://schemas.openxmlformats.org/officeDocument/2006/relationships/notesMaster" Target="/ppt/notesMasters/notesMaster1.xml" Id="R50ed8fbb7b1a4ee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08f730e3e4348d0" /><Relationship Type="http://schemas.openxmlformats.org/officeDocument/2006/relationships/notesMaster" Target="/ppt/notesMasters/notesMaster1.xml" Id="Rce250bffee924a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README.md의 프로젝트명·소속·팀원. 발표일은 사용자가 제공한 수업 일정. 현재 근거의 기준일은 2026-09-22이며 이후 실기 결과를 미리 반영하지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첨부: 프로젝트개발중간보고 목차구성.md</a:t>
            </a:r>
          </a:p>
          <a:p xmlns:a="http://schemas.openxmlformats.org/drawingml/2006/main">
            <a:r>
              <a:t>- 사용자 제공 수업 일정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문제 정의와 적용 환경은 프로젝트의 설계 가정이다. 기관별 업무 실태 조사나 정량적인 수작업 절감 결과로 제시하지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app/main.py:534</a:t>
            </a:r>
          </a:p>
          <a:p xmlns:a="http://schemas.openxmlformats.org/drawingml/2006/main">
            <a:r>
              <a:t>- app/ai.py:80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app/main.py</a:t>
            </a:r>
          </a:p>
          <a:p xmlns:a="http://schemas.openxmlformats.org/drawingml/2006/main">
            <a:r>
              <a:t>- app/vision.py</a:t>
            </a:r>
          </a:p>
          <a:p xmlns:a="http://schemas.openxmlformats.org/drawingml/2006/main">
            <a:r>
              <a:t>- app/store.py</a:t>
            </a:r>
          </a:p>
          <a:p xmlns:a="http://schemas.openxmlformats.org/drawingml/2006/main">
            <a:r>
              <a:t>- app/ai.py</a:t>
            </a:r>
          </a:p>
          <a:p xmlns:a="http://schemas.openxmlformats.org/drawingml/2006/main">
            <a:r>
              <a:t>AI 응답은 FastAPI로 돌아와 현재 기록과 검토 상태를 확인한 뒤 반영한다. 웹의 편집 요청도 FastAPI로 들어온다. 간결성을 위해 그림은 주요 흐름만 표시했다.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output/maintenance/2026-09-22-network-plan/SESSION_STATUS.json</a:t>
            </a:r>
          </a:p>
          <a:p xmlns:a="http://schemas.openxmlformats.org/drawingml/2006/main">
            <a:r>
              <a:t>- app/camera_sources.py</a:t>
            </a:r>
          </a:p>
          <a:p xmlns:a="http://schemas.openxmlformats.org/drawingml/2006/main">
            <a:r>
              <a:t>- app/notifier.py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사용자 제공 수업 일정</a:t>
            </a:r>
          </a:p>
          <a:p xmlns:a="http://schemas.openxmlformats.org/drawingml/2006/main">
            <a:r>
              <a:t>- docs/VISION_REVIEW_2026-09-18.md</a:t>
            </a:r>
          </a:p>
          <a:p xmlns:a="http://schemas.openxmlformats.org/drawingml/2006/main">
            <a:r>
              <a:t>- docs/LIVE_FLOW_REVIEW_2026-09-18.md</a:t>
            </a:r>
          </a:p>
          <a:p xmlns:a="http://schemas.openxmlformats.org/drawingml/2006/main">
            <a:r>
              <a:t>- output/maintenance/2026-09-22-network-plan/SESSION_STATUS.json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공식 진행률의 분모·가중치·완료 기준이 제공되지 않았으므로 수치를 만들지 않았다. 작성 가이드의 가중 작업 산식으로 산정 후 입력한다. 초기 계획 대비 빠름/지연은 기존 예정 완료일이 없어 단정하지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output/maintenance/2026-09-22-quick-reset/VALIDATION.json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로컬 폴더의 .git 부재 확인</a:t>
            </a:r>
          </a:p>
          <a:p xmlns:a="http://schemas.openxmlformats.org/drawingml/2006/main">
            <a:r>
              <a:t>- output/maintenance/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app/vision.py</a:t>
            </a:r>
          </a:p>
          <a:p xmlns:a="http://schemas.openxmlformats.org/drawingml/2006/main">
            <a:r>
              <a:t>- app/main.py:534</a:t>
            </a:r>
          </a:p>
          <a:p xmlns:a="http://schemas.openxmlformats.org/drawingml/2006/main">
            <a:r>
              <a:t>- app/main.py:432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app/main.py:361</a:t>
            </a:r>
          </a:p>
          <a:p xmlns:a="http://schemas.openxmlformats.org/drawingml/2006/main">
            <a:r>
              <a:t>- app/main.py:534</a:t>
            </a:r>
          </a:p>
          <a:p xmlns:a="http://schemas.openxmlformats.org/drawingml/2006/main">
            <a:r>
              <a:t>- app/classification.py:49</a:t>
            </a:r>
          </a:p>
          <a:p xmlns:a="http://schemas.openxmlformats.org/drawingml/2006/main">
            <a:r>
              <a:t>- docs/ARCHITECTURE_REVIEW_2026-09-18.md</a:t>
            </a:r>
          </a:p>
          <a:p xmlns:a="http://schemas.openxmlformats.org/drawingml/2006/main">
            <a:r>
              <a:t>두 코드는 app/main.py handle_vision_change의 실제 문장에서 발췌했으며 중간 예외 처리·조건문은 생략했다. 아래 submit_classification 표현은 호출부만 발췌한 것으로 전체 if 문은 보충자료와 원본 코드에서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docs/guides/PI_ACCEPTANCE_CHECKLIST.md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templates/index.html</a:t>
            </a:r>
          </a:p>
          <a:p xmlns:a="http://schemas.openxmlformats.org/drawingml/2006/main">
            <a:r>
              <a:t>- static/app.js</a:t>
            </a:r>
          </a:p>
          <a:p xmlns:a="http://schemas.openxmlformats.org/drawingml/2006/main">
            <a:r>
              <a:t>- app/main.py:1287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시연 초기화는 백업 없이 삭제하며 되돌릴 수 없다. 설정의 일반 초기화는 자동 백업을 유지한다. 실제 Pi의 세부 편집·기한·폐기·복원 실기는 아직 미확인이다. 캡처 S5의 상세 작업은 확인한 내용만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docs/LIVE_FLOW_REVIEW_2026-09-18.md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experiments/pair_runner.py</a:t>
            </a:r>
          </a:p>
          <a:p xmlns:a="http://schemas.openxmlformats.org/drawingml/2006/main">
            <a:r>
              <a:t>- docs/ARCHITECTURE_REVIEW_2026-09-18.md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app/vision.py:1741</a:t>
            </a:r>
          </a:p>
          <a:p xmlns:a="http://schemas.openxmlformats.org/drawingml/2006/main">
            <a:r>
              <a:t>- app/ai.py:137</a:t>
            </a:r>
          </a:p>
          <a:p xmlns:a="http://schemas.openxmlformats.org/drawingml/2006/main">
            <a:r>
              <a:t>- app/config.py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app/ai.py:179</a:t>
            </a:r>
          </a:p>
          <a:p xmlns:a="http://schemas.openxmlformats.org/drawingml/2006/main">
            <a:r>
              <a:t>- app/ai.py:250</a:t>
            </a:r>
          </a:p>
          <a:p xmlns:a="http://schemas.openxmlformats.org/drawingml/2006/main">
            <a:r>
              <a:t>- app/config.py:104</a:t>
            </a:r>
          </a:p>
          <a:p xmlns:a="http://schemas.openxmlformats.org/drawingml/2006/main">
            <a:r>
              <a:t>- output/maintenance/2026-09-22-network-plan/SESSION_STATUS.json</a:t>
            </a:r>
          </a:p>
          <a:p xmlns:a="http://schemas.openxmlformats.org/drawingml/2006/main">
            <a:r>
              <a:t>모델명은 현지 설정 문자열이다. 모델 공급사의 성능 우위를 검증한 결과로 제시하지 않는다. auto 모드에서만 다른 공급자 대체를 시도하며 특정 공급자 고정 시 다른 공급자를 호출하지 않는다. RAG·미세조정·자체 학습 데이터셋은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docs/paper/EXPERIMENT_GUIDE.md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AGENTS.md:필수 비교군</a:t>
            </a:r>
          </a:p>
          <a:p xmlns:a="http://schemas.openxmlformats.org/drawingml/2006/main">
            <a:r>
              <a:t>- experiments/ablation.py</a:t>
            </a:r>
          </a:p>
          <a:p xmlns:a="http://schemas.openxmlformats.org/drawingml/2006/main">
            <a:r>
              <a:t>- experiments/pair_runner.py</a:t>
            </a:r>
          </a:p>
          <a:p xmlns:a="http://schemas.openxmlformats.org/drawingml/2006/main">
            <a:r>
              <a:t>- docs/paper/EXPERIMENT_GUIDE.md</a:t>
            </a:r>
          </a:p>
          <a:p xmlns:a="http://schemas.openxmlformats.org/drawingml/2006/main">
            <a:r>
              <a:t>기존 stable image pair runner는 _detect_changes 코어 평가용이다. 캡처·상태기계·callback·DB·VLM을 포함하지 않는다. 기존 plain profile은 순수 grayscale baseline이 아니므로 B0로 표시하지 않는다. 초기 baseline 성능 비교값은 아직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output/maintenance/2026-09-22-quick-reset/VALIDATION.json</a:t>
            </a:r>
          </a:p>
          <a:p xmlns:a="http://schemas.openxmlformats.org/drawingml/2006/main">
            <a:r>
              <a:t>- docs/LIVE_FLOW_REVIEW_2026-09-18.md</a:t>
            </a:r>
          </a:p>
          <a:p xmlns:a="http://schemas.openxmlformats.org/drawingml/2006/main">
            <a:r>
              <a:t>272/37/7은 9월 22일 검사 요약의 별도 도구별 개수이며 정확도나 운영 성공률이 아니다. live-stream 및 management 연동 검사는 기존 구현을 검증하며 이번 작성에서 재실행하지 않았다. 이전 264/33 및 브라우저 12+4와 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output/maintenance/2026-09-22-network-plan/SESSION_STATUS.json</a:t>
            </a:r>
          </a:p>
          <a:p xmlns:a="http://schemas.openxmlformats.org/drawingml/2006/main">
            <a:r>
              <a:t>- docs/guides/PI_ACCEPTANCE_CHECKLIST.md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docs/VISION_REVIEW_2026-09-18.md</a:t>
            </a:r>
          </a:p>
          <a:p xmlns:a="http://schemas.openxmlformats.org/drawingml/2006/main">
            <a:r>
              <a:t>- docs/ARCHITECTURE_REVIEW_2026-09-18.md</a:t>
            </a:r>
          </a:p>
          <a:p xmlns:a="http://schemas.openxmlformats.org/drawingml/2006/main">
            <a:r>
              <a:t>- docs/LIVE_FLOW_REVIEW_2026-09-18.md</a:t>
            </a:r>
          </a:p>
          <a:p xmlns:a="http://schemas.openxmlformats.org/drawingml/2006/main">
            <a:r>
              <a:t>- docs/APP_REVIEW_2026-09-18.md</a:t>
            </a:r>
          </a:p>
          <a:p xmlns:a="http://schemas.openxmlformats.org/drawingml/2006/main">
            <a:r>
              <a:t>화면 미세 흔들림의 소프트웨어 원인은 합성 장면에서 재현했다. 센서의 실제 노출·물리 흔들림까지 해결됐다고 주장하지 않는다. 늦은 added 응답은 pending 상태일 때만 반영하고, verify_removed는 물리 signature가 달라지면 반영을 취소한다.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docs/VISION_REVIEW_2026-09-18.md</a:t>
            </a:r>
          </a:p>
          <a:p xmlns:a="http://schemas.openxmlformats.org/drawingml/2006/main">
            <a:r>
              <a:t>- output/maintenance/2026-09-18-vision-review/benchmark-comparison.json</a:t>
            </a:r>
          </a:p>
          <a:p xmlns:a="http://schemas.openxmlformats.org/drawingml/2006/main">
            <a:r>
              <a:t>원천 값은 before_ms=27.756, after_ms=13.212. 이전/이후의 전체 최적화 조합을 비교한 개발 표본이며 단일 수정의 인과 효과로 해석하지 않는다. 변경 전후 처리 프레임 수 80/112, 미리보기 크기 1280×720/800×450. 호스트 스케줄링·부하·온도는 통제하지 않았으며 다른 실행의 변동 기록도 보존했다.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AGENTS.md:정량 실험 대기 작업</a:t>
            </a:r>
          </a:p>
          <a:p xmlns:a="http://schemas.openxmlformats.org/drawingml/2006/main">
            <a:r>
              <a:t>- 사용자 제공 수업 일정</a:t>
            </a:r>
          </a:p>
          <a:p xmlns:a="http://schemas.openxmlformats.org/drawingml/2006/main">
            <a:r>
              <a:t>약 40건 파일럿은 추가·이동·제거·none 각 10건의 예비 구성을 제안한 것이다. 논문 최종 표본 수나 이미 확보한 데이터 수가 아니다. 정량 목표는 파일럿 이후 현재 수준·운영 허용 오차를 근거로 확정한다.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사용자 제공 수업 일정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docs/paper/EXPERIMENT_GUIDE.md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app/classification.py:70</a:t>
            </a:r>
          </a:p>
          <a:p xmlns:a="http://schemas.openxmlformats.org/drawingml/2006/main">
            <a:r>
              <a:t>- app/main.py:432</a:t>
            </a:r>
          </a:p>
          <a:p xmlns:a="http://schemas.openxmlformats.org/drawingml/2006/main">
            <a:r>
              <a:t>- app/item_policy.py</a:t>
            </a:r>
          </a:p>
          <a:p xmlns:a="http://schemas.openxmlformats.org/drawingml/2006/main">
            <a:r>
              <a:t>app/classification.py의 current 조회와 pending 검사 4줄을 그대로 발췌했다. signature와 revision은 이름·분류·기한의 단순 편집과 물리 추적 변경을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docs/guides/PI_ACCEPTANCE_CHECKLIST.md</a:t>
            </a:r>
          </a:p>
          <a:p xmlns:a="http://schemas.openxmlformats.org/drawingml/2006/main">
            <a:r>
              <a:t>- 출력물: REFOUND_MIDTERM_FILL_GUIDE.md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기준일: 2026-09-22. 발표 예정일: 2026-10-13.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- 첨부: 프로젝트개발중간보고 목차구성.md</a:t>
            </a:r>
          </a:p>
          <a:p xmlns:a="http://schemas.openxmlformats.org/drawingml/2006/main">
            <a:r>
              <a:t>- docs/paper/EXPERIMENT_GUIDE.md</a:t>
            </a:r>
          </a:p>
          <a:p xmlns:a="http://schemas.openxmlformats.org/drawingml/2006/main">
            <a:r>
              <a:t>공식 진행률은 미확정 상태를 유지한다. 구현된 기능 수를 전체 프로젝트 진행률 100%로 바꾸지 않는다. 실제 AI·SMTP 검증이나 현장 정량 결과를 수행하지 않은 채 완료로 변경하지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3778f023c40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dd7979aabe4855" /><Relationship Type="http://schemas.openxmlformats.org/officeDocument/2006/relationships/slideLayout" Target="/ppt/slideLayouts/slideLayout1.xml" Id="R3a78a32eb53c4d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78a32eb53c4d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49cd85ee24cfa" /><Relationship Type="http://schemas.openxmlformats.org/officeDocument/2006/relationships/notesSlide" Target="/ppt/notesSlides/notesSlide1.xml" Id="R0353ac6b345b4b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1a364236d4a0b" /><Relationship Type="http://schemas.openxmlformats.org/officeDocument/2006/relationships/notesSlide" Target="/ppt/notesSlides/notesSlide2.xml" Id="Raabd74d0081749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ddf7bf01f43e4" /><Relationship Type="http://schemas.openxmlformats.org/officeDocument/2006/relationships/notesSlide" Target="/ppt/notesSlides/notesSlide3.xml" Id="Rca1cba2f37ff43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8b7ded9174eb0" /><Relationship Type="http://schemas.openxmlformats.org/officeDocument/2006/relationships/notesSlide" Target="/ppt/notesSlides/notesSlide4.xml" Id="R423e386609fd4f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9dcc20b5c4db7" /><Relationship Type="http://schemas.openxmlformats.org/officeDocument/2006/relationships/notesSlide" Target="/ppt/notesSlides/notesSlide5.xml" Id="Rbdc0a5568ef04b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7e222365d4d09" /><Relationship Type="http://schemas.openxmlformats.org/officeDocument/2006/relationships/notesSlide" Target="/ppt/notesSlides/notesSlide6.xml" Id="R37a12ad8972d4b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b29063307427e" /><Relationship Type="http://schemas.openxmlformats.org/officeDocument/2006/relationships/notesSlide" Target="/ppt/notesSlides/notesSlide7.xml" Id="R6c357944bc6542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14a9040484ae9" /><Relationship Type="http://schemas.openxmlformats.org/officeDocument/2006/relationships/notesSlide" Target="/ppt/notesSlides/notesSlide8.xml" Id="R02272f66e41845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0a14560ad4e61" /><Relationship Type="http://schemas.openxmlformats.org/officeDocument/2006/relationships/notesSlide" Target="/ppt/notesSlides/notesSlide9.xml" Id="R2951025a9f5b4d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e6831951c4502" /><Relationship Type="http://schemas.openxmlformats.org/officeDocument/2006/relationships/notesSlide" Target="/ppt/notesSlides/notesSlide10.xml" Id="Rc00ee47619374f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9e6b980e44deb" /><Relationship Type="http://schemas.openxmlformats.org/officeDocument/2006/relationships/notesSlide" Target="/ppt/notesSlides/notesSlide11.xml" Id="R6c1cacce4c264d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7d0ab4e0a471b" /><Relationship Type="http://schemas.openxmlformats.org/officeDocument/2006/relationships/notesSlide" Target="/ppt/notesSlides/notesSlide12.xml" Id="Ra70a8c30fb2e43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a1364662e4886" /><Relationship Type="http://schemas.openxmlformats.org/officeDocument/2006/relationships/notesSlide" Target="/ppt/notesSlides/notesSlide13.xml" Id="R04ebae0760f34f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7266c7e1a4a42" /><Relationship Type="http://schemas.openxmlformats.org/officeDocument/2006/relationships/notesSlide" Target="/ppt/notesSlides/notesSlide14.xml" Id="R71ef4d3d1cf04e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13a87331b4dd7" /><Relationship Type="http://schemas.openxmlformats.org/officeDocument/2006/relationships/notesSlide" Target="/ppt/notesSlides/notesSlide15.xml" Id="Ra8e683c8902e42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c6e6716314d4d" /><Relationship Type="http://schemas.openxmlformats.org/officeDocument/2006/relationships/notesSlide" Target="/ppt/notesSlides/notesSlide16.xml" Id="R6486874355f347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d2e0a783f42ab" /><Relationship Type="http://schemas.openxmlformats.org/officeDocument/2006/relationships/notesSlide" Target="/ppt/notesSlides/notesSlide17.xml" Id="Rd2e72d6136684f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63ca0c55142ac" /><Relationship Type="http://schemas.openxmlformats.org/officeDocument/2006/relationships/notesSlide" Target="/ppt/notesSlides/notesSlide18.xml" Id="Rb2a5b1600b844a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ee07b481d4378" /><Relationship Type="http://schemas.openxmlformats.org/officeDocument/2006/relationships/notesSlide" Target="/ppt/notesSlides/notesSlide19.xml" Id="Rdb60172590cb41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479411b9e49f2" /><Relationship Type="http://schemas.openxmlformats.org/officeDocument/2006/relationships/notesSlide" Target="/ppt/notesSlides/notesSlide20.xml" Id="Rff573c77061f48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25748422443ee" /><Relationship Type="http://schemas.openxmlformats.org/officeDocument/2006/relationships/notesSlide" Target="/ppt/notesSlides/notesSlide21.xml" Id="R75259ce14fe7477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3b7bf182f45f0" /><Relationship Type="http://schemas.openxmlformats.org/officeDocument/2006/relationships/notesSlide" Target="/ppt/notesSlides/notesSlide22.xml" Id="Rec31bf88834a425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24dd9349c49f1" /><Relationship Type="http://schemas.openxmlformats.org/officeDocument/2006/relationships/notesSlide" Target="/ppt/notesSlides/notesSlide23.xml" Id="R86c9bbe6d86742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38912938044f3" /><Relationship Type="http://schemas.openxmlformats.org/officeDocument/2006/relationships/chart" Target="/ppt/slides/charts/chart1.xml" Id="R2efa8404ca6a4ede" /><Relationship Type="http://schemas.openxmlformats.org/officeDocument/2006/relationships/notesSlide" Target="/ppt/notesSlides/notesSlide24.xml" Id="R190a7126c6464a2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626446e7a47f6" /><Relationship Type="http://schemas.openxmlformats.org/officeDocument/2006/relationships/notesSlide" Target="/ppt/notesSlides/notesSlide25.xml" Id="Rbdd62b1a9c8a420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d1ecf0b9a4b7c" /><Relationship Type="http://schemas.openxmlformats.org/officeDocument/2006/relationships/notesSlide" Target="/ppt/notesSlides/notesSlide26.xml" Id="Rc16da202bfaf4c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92dd4bc7f4062" /><Relationship Type="http://schemas.openxmlformats.org/officeDocument/2006/relationships/notesSlide" Target="/ppt/notesSlides/notesSlide27.xml" Id="R796c0963d0b5445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de84d50b041ef" /><Relationship Type="http://schemas.openxmlformats.org/officeDocument/2006/relationships/notesSlide" Target="/ppt/notesSlides/notesSlide28.xml" Id="R36041bfdfec6499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7857064ed46cf" /><Relationship Type="http://schemas.openxmlformats.org/officeDocument/2006/relationships/notesSlide" Target="/ppt/notesSlides/notesSlide29.xml" Id="R241a6f3b6f3647e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e897b411b4fc7" /><Relationship Type="http://schemas.openxmlformats.org/officeDocument/2006/relationships/notesSlide" Target="/ppt/notesSlides/notesSlide30.xml" Id="R0c89966c06b642a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처리 시간 (ms)</c:v>
          </c:tx>
          <c:spPr>
            <a:solidFill xmlns:a="http://schemas.openxmlformats.org/drawingml/2006/main">
              <a:srgbClr val="067C80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183442"/>
                        </a:solidFill>
                        <a:latin typeface="Malgun Gothic"/>
                        <a:ea typeface="Malgun Gothic"/>
                        <a:cs typeface="Malgun Gothic"/>
                      </a:rPr>
                      <a:t>27.76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183442"/>
                      </a:solidFill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183442"/>
                        </a:solidFill>
                        <a:latin typeface="Malgun Gothic"/>
                        <a:ea typeface="Malgun Gothic"/>
                        <a:cs typeface="Malgun Gothic"/>
                      </a:rPr>
                      <a:t>13.21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183442"/>
                      </a:solidFill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변경 전</c:v>
                </c:pt>
                <c:pt idx="1">
                  <c:v>변경 후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27.756</c:v>
                </c:pt>
                <c:pt idx="1">
                  <c:v>13.212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83442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B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B5CD4-01B0-4E66-83FD-81CA680E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87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6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Re:Found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05B78-5573-49C8-8C74-05E8973D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>
                <a:solidFill>
                  <a:srgbClr val="BDE8E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BDE8E2"/>
                </a:solidFill>
                <a:latin typeface="Malgun Gothic"/>
                <a:ea typeface="Malgun Gothic"/>
                <a:cs typeface="Malgun Gothic"/>
              </a:rPr>
              <a:t>분실물 자동 추론 및 시각화 관리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D9FC9-465F-44BC-99D4-BCF987BB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6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프로젝트 개발 중간보고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B0143-FF7A-4019-A8E3-E8404143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동양미래대학교 인공지능소프트웨어학과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상부상조(2조)  장진석 · 권기원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0DB03-B3C4-4147-BBAC-15DF5371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BDE8E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DE8E2"/>
                </a:solidFill>
                <a:latin typeface="Malgun Gothic"/>
                <a:ea typeface="Malgun Gothic"/>
                <a:cs typeface="Malgun Gothic"/>
              </a:rPr>
              <a:t>발표 2026.10.13   /   구현·검증 기준 2026.09.22</a:t>
            </a:r>
          </a:p>
        </p:txBody>
      </p:sp>
    </p:spTree>
    <p:extLst>
      <p:ext uri="{BB962C8B-B14F-4D97-AF65-F5344CB8AC3E}">
        <p14:creationId xmlns:p14="http://schemas.microsoft.com/office/powerpoint/2010/main" val="220075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403D9-3EB4-49A2-AEE5-FA505F90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중간보고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44CBD-A51F-4ECC-B543-E76E088D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발표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70213-C884-4D3E-A52F-05658E0A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0DF53-3DE9-4B34-82E0-287620A6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본문 27장 / 보충자료 3장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559BA-008E-4202-9AF8-C81D9D5D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71410-1365-4E10-87B0-502A24F4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1C6B9-2115-424A-82A9-A5871BA0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프로젝트 개요 및 개발 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B9309-8F4A-4F69-93CD-3E52C4AB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9D999-7939-4921-849F-F24A675F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시스템 설계 및 개발 구조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C2810-8DAD-4092-ABBD-347C8744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C235E-0BD9-4007-A288-DD235F0B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프로젝트 개발 진행 현황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3BB49-DE3F-449C-ACA8-92A3ED30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042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C0563-EF34-4C03-A94A-2EFEF2C5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04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핵심 기능 구현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0FA52-7100-41F2-801E-9D3976A1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52285-0D1D-477E-A235-1A1611E1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AI 모델 및 데이터 개발 현황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FD9C7-5899-443A-9928-6D64D865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2323E-CEFE-4152-90F4-EA5B1A1D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862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테스트 결과 및 문제점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789B6-2D73-4EDA-AA28-411D60D2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CD176-148B-4A1A-A1E4-AD93B4F3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292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향후 개발 및 완성 계획</a:t>
            </a:r>
          </a:p>
        </p:txBody>
      </p:sp>
    </p:spTree>
    <p:extLst>
      <p:ext uri="{BB962C8B-B14F-4D97-AF65-F5344CB8AC3E}">
        <p14:creationId xmlns:p14="http://schemas.microsoft.com/office/powerpoint/2010/main" val="997479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95889-E59D-488E-B8F6-409506A8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1. 프로젝트 개요 및 개발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7CF34-A863-4CD2-81A9-542250E7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분실물 보관대의 기록과 관리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6C8CF-A68E-4D04-88AD-78460E7E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72456-3130-4B32-A91C-28270914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32471-25DD-444E-B63F-E730818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해결할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96C6B-B055-4456-871C-F21C1192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477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물품을 발견해도 사진 등록과 분류,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기한 확인을 담당자가 이어서 처리해야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72318-C8D0-4328-9AA0-E36C0805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기록의 일관성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8E9C1-3435-4982-9A83-F5BADDF3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76625"/>
            <a:ext cx="8324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물품을 옮겼을 때 같은 기록을 유지하고,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사라졌을 때 상태와 이력을 연결해야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4D6D7-0C46-417E-8823-DF6332CB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D61D8-8444-4CBC-8821-8AE61E5B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주요 사용자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7B3AF-1E56-4D3A-BD29-8308E7D5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76725"/>
            <a:ext cx="8324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학교 행정실, 도서관, 공용공간의 분실물 관리자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E5025-7B61-4B37-96F5-51430670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C8946-0D02-4E97-BA91-D216622B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64D40-500F-4DEA-BF11-BF6A5E96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76825"/>
            <a:ext cx="8324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카메라를 고정할 수 있는 보관대와 실내 수거 공간</a:t>
            </a:r>
          </a:p>
        </p:txBody>
      </p:sp>
    </p:spTree>
    <p:extLst>
      <p:ext uri="{BB962C8B-B14F-4D97-AF65-F5344CB8AC3E}">
        <p14:creationId xmlns:p14="http://schemas.microsoft.com/office/powerpoint/2010/main" val="687238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5D4E8-655D-4C78-93DC-2D3697CD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1. 프로젝트 개요 및 개발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8F6AB-BFE7-4F97-85EB-E96B72D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로컬 사건 감지와 선택적 AI 추론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CF1EA-DB72-47DC-A6B9-2F054872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3A4A6-A33A-4492-ABE7-08C881EF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55C9E-4975-4430-8D61-EDFB6A20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Pi가 변화 시점을 찾고, 필요한 사건의 의미를 AI로 보완한다.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B9983-F4AC-4099-96EA-B25C9FF6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장면 관찰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08EBA-D804-4886-942C-1075B59D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853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고정 카메라에서 물품의 추가·이동·제거 후보를 찾는다.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A3F98-E2D4-43A1-B0AA-E6FC9F7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BF44C-A21C-48D3-A1DA-40378D9F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AI의 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517A2-4F58-4E59-9543-1B0117AC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76625"/>
            <a:ext cx="853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신규 물품의 이름·분류를 제안하고 모호한 제거를 검증한다.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79674-FF30-4846-80C6-8B54F9F1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26B75-DECD-4C15-9DBA-78822B0E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관리 업무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85DFA-3469-4A89-8A4C-45DA28C2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853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보관 기한과 알림, 회수·폐기·복원을 같은 기록에 연결한다.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3366F-2A67-49A3-92EA-C53D574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5B625-D819-472F-8F90-75B33CA7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39A0E-F44F-47F5-88BB-59235B40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95875"/>
            <a:ext cx="853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Pi 카메라 장치 + FastAPI 서버 + 관리자 웹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설치 패키지와 실행·검증 기록</a:t>
            </a:r>
          </a:p>
        </p:txBody>
      </p:sp>
    </p:spTree>
    <p:extLst>
      <p:ext uri="{BB962C8B-B14F-4D97-AF65-F5344CB8AC3E}">
        <p14:creationId xmlns:p14="http://schemas.microsoft.com/office/powerpoint/2010/main" val="15146290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C7B96-6247-40A6-9072-DF86B3FE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2. 시스템 설계 및 개발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A4996-F955-4BB2-803E-4D11EA92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전체 시스템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96DA6-E305-4D11-86DD-182D213D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429CC-39DF-416F-AEB7-50A073B5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화살표는 주요 데이터 전달 방향을 나타냄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D7DA2-0365-4628-BA96-8AAF00C5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970B7-4095-44C8-A0D6-13E2972C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0859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lIns="114300" tIns="142875" rIns="114300" bIns="1143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CSI 카메라</a:t>
            </a:r>
          </a:p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Picamera2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C0443-B077-4072-BA5D-34579E72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47875"/>
            <a:ext cx="22764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lIns="114300" tIns="142875" rIns="114300" bIns="1143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로컬 사건 감지</a:t>
            </a:r>
          </a:p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OpenCV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2FEE1-B3CE-49DB-8EA1-4A473315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590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lIns="114300" tIns="142875" rIns="114300" bIns="1143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사건 처리 · API</a:t>
            </a:r>
          </a:p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CD3B1-A736-41A9-A65C-21A0A18B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47875"/>
            <a:ext cx="23907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lIns="114300" tIns="142875" rIns="114300" bIns="1143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관리자 웹</a:t>
            </a:r>
          </a:p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HTML / CSS / JS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95575" y="26003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00675" y="26003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96300" y="260032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12CAD-0992-4905-8278-C3943BD0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2402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프레임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12A55-A2FE-48A1-B1D6-F7C72365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2402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후보·증거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856CE-326F-4B74-8415-5863475B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724025"/>
            <a:ext cx="2324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JSON / MJPEG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D9FAB-C7F3-42CB-9314-FCFBF7B1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57700"/>
            <a:ext cx="29527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lIns="114300" tIns="142875" rIns="114300" bIns="1143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SQLite WAL</a:t>
            </a:r>
          </a:p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물품·활동·알림·설정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3007A-E3F2-458A-8915-84B94C51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57700"/>
            <a:ext cx="2476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lIns="114300" tIns="142875" rIns="114300" bIns="1143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외부 VLM API</a:t>
            </a:r>
          </a:p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OpenAI / Gemini</a:t>
            </a:r>
          </a:p>
        </p:txBody>
      </p:sp>
      <p:cxnSp>
        <p:nvCxnSpPr>
          <p:cNvPr id="40" name=""/>
          <p:cNvCxnSpPr>
            <a:stCxn xmlns:a="http://schemas.openxmlformats.org/drawingml/2006/main" id="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7200900" y="3152775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8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200900" y="3152775"/>
            <a:ext cx="3143250" cy="1304925"/>
          </a:xfrm>
          <a:prstGeom xmlns:a="http://schemas.openxmlformats.org/drawingml/2006/main" prst="bentConnector4">
            <a:avLst>
              <a:gd name="adj1" fmla="val 0"/>
              <a:gd name="adj2" fmla="val 17518"/>
            </a:avLst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5DCCD-EAB6-4A88-9C1A-C1224AD0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5052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관찰 기록을 먼저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C8838-98D1-4B5D-AAA5-E4B93406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886200"/>
            <a:ext cx="2714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added / verify_removed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사건만 요청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B0A0A-2BA3-4892-909D-520925BA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45624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Pi 내부에 사진 파일 저장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systemd 자동 시작</a:t>
            </a:r>
          </a:p>
        </p:txBody>
      </p:sp>
    </p:spTree>
    <p:extLst>
      <p:ext uri="{BB962C8B-B14F-4D97-AF65-F5344CB8AC3E}">
        <p14:creationId xmlns:p14="http://schemas.microsoft.com/office/powerpoint/2010/main" val="585811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21222-55A2-4D19-A78B-44A44F66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2. 시스템 설계 및 개발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7CDB2-2AA4-4A4B-B183-D3C7CF13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모듈별 역할과 기술 스택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156FE-4BE3-4657-8272-98C49A2E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156AD-59EB-49DD-A4C3-FE68FB57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4429125"/>
                <a:gridCol w="4210050"/>
              </a:tblGrid>
              <a:tr h="579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모듈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기능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기술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카메라·비전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입력, 안정화, 변화 감지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 / OpenCV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사건·AI 처리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저장, 추론 요청, 응답 검증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/ HTTPX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서버·저장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API, 상태 전이, 사진과 활동 이력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FastAPI / SQLite WAL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화면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실시간 영상, 목록, 편집, 설정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Vanilla HTML / CSS / JS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운영·배포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만료 알림, 서비스 자동 시작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SMTP / systemd / Tailscale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D8C4B-6724-4C5A-AB40-4EFBEF7F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실제 장치   Raspberry Pi 4 Model B 2GB + CSI 카메라(OV5647)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4BFCF-96FC-4C41-B55D-F785326F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확인 환경   Debian 13 Trixie / Python 3.13.5 / OpenCV 4.10.0</a:t>
            </a:r>
          </a:p>
        </p:txBody>
      </p:sp>
    </p:spTree>
    <p:extLst>
      <p:ext uri="{BB962C8B-B14F-4D97-AF65-F5344CB8AC3E}">
        <p14:creationId xmlns:p14="http://schemas.microsoft.com/office/powerpoint/2010/main" val="79584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A255B-9988-4F03-9E16-F30DF303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2. 시스템 설계 및 개발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27B87-4A50-41E0-AAB3-70DBE3A4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팀 역할과 협업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87A42-9FAD-40AE-B738-8EFF7190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B1A7B-1595-4B39-83E7-DC9CD4B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역할은 현재 README 기준. 커밋별 기여도는 별도 확인 필요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E42C9-3874-4108-856D-874465F8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3E10F-B7BE-4D00-BFF8-BB6BD06F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장진석  ·  팀장 / 시스템 통합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07178-0EA3-4FAE-9B73-6CDA1D05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2197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기획·아키텍처와 로컬 비전 구현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멀티모달 AI, FastAPI, 관리자 웹 연결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Pi 배포와 테스트·문서화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4D020-9A2B-4D29-830C-EB7B4A48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76425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권기원  ·  개발 / 시연 지원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A60C5-6BE2-458F-A59F-E3F96F7D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90775"/>
            <a:ext cx="50863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구현과 발표 자료 검토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자료 교정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시연 준비와 운영 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DE74D-64D0-4A0D-9ECE-648C8CE4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연계 업무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B928A-D647-4A6C-AC2E-C178341E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구현·검사 결과 공유  →  자료 검토  →  실제 시연 점검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발견한 오류와 미확인 항목을 다음 수정·검증에 반영</a:t>
            </a:r>
          </a:p>
        </p:txBody>
      </p:sp>
    </p:spTree>
    <p:extLst>
      <p:ext uri="{BB962C8B-B14F-4D97-AF65-F5344CB8AC3E}">
        <p14:creationId xmlns:p14="http://schemas.microsoft.com/office/powerpoint/2010/main" val="8987873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4F246-7CF1-4A70-A74A-DA5F5055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3. 프로젝트 개발 진행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0F567-B914-45CB-92E3-03F3ECEC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현재 위치와 수업 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B4C08-7719-4F87-88C8-27239D8D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ADD2A-BF53-4E7C-9873-E72E5497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개발 기록 기준일은 9월 22일. 발표일까지의 작업은 계획으로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370E0-C7F4-48C5-A417-A6311CF5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40862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3952875"/>
                <a:gridCol w="4495800"/>
              </a:tblGrid>
              <a:tr h="583746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시점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수업·발표 일정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근거 또는 예정 작업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8374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9/08  ·  3주차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팀프로젝트 현황보고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프로젝트 소개 단계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374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9/18  ·  개발 기록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앱·비전·처리 구조 보완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복구와 데이터 보존 회귀 검사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8374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9/22  ·  5주차 / 현재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중간보고 작성 시작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SD 설치·카메라·재부팅 진단 확인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374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9/29  ·  6주차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중간보고 작성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실기 증거 확보와 자료 보완 예정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8374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10/13  ·  7주차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개발 중간보고 발표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구현·검증 결과와 남은 계획 보고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374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10/27 / 11/03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최종보고 연습 / 최종보고 발표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평가·안정화 결과 제출 예정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7761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9DFA7-479B-4EFA-BF1A-5675FC92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3. 프로젝트 개발 진행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03927-D2BF-4574-AB8B-63FBE7F5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초기 계획과 실제 구현의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4E61E-29F5-4C0B-BDF7-84E44404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978EB-55BE-43EC-B411-65C90A41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작업 범위·완료 기준 합의 후 산정 / 남은 작업: 실제 AI 정량 평가와 현장 운영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8132F-1902-4ACB-94AC-E4933D75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743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4000500"/>
                <a:gridCol w="3448050"/>
              </a:tblGrid>
              <a:tr h="6238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계획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구현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이유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5 / USB 카메라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4 2GB / CSI 카메라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 장비에 맞춘 배포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YOLO·CNN·로컬 LLM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OpenCV + 외부 VLM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장치 부담과 열린 물품 범주 고려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DB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SQLite WAL + 사진 파일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단일 장치 운영 단순화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응답 후 등록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우선 저장 후 비동기 추론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장애 때에도 기록 보존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React·복수 백엔드 검토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Vanilla JS + FastAPI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배포·유지보수 구조 단순화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A3D7C-0E6D-4252-8DE9-8961372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공식 전체 진행률  [입력] %</a:t>
            </a:r>
          </a:p>
        </p:txBody>
      </p:sp>
    </p:spTree>
    <p:extLst>
      <p:ext uri="{BB962C8B-B14F-4D97-AF65-F5344CB8AC3E}">
        <p14:creationId xmlns:p14="http://schemas.microsoft.com/office/powerpoint/2010/main" val="6544063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16189-EA93-4EB8-9C0C-36590EC8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3. 프로젝트 개발 진행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2DF38-7506-431A-A431-3DEF0795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기능별 구현과 실기 확인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5A039-4348-4CE9-A77E-21037AB2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BED52-DAC6-441B-9C43-4E6CA676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구현 여부와 현장 확인 수준을 분리함. 미확인은 실패 판정이 아님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39C6B-38A1-413D-8138-13B8DB7D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1666875"/>
                <a:gridCol w="6162675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상태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확인 범위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입력·실시간 화면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 로그 + PC 화면 성공 보고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추가·이동·제거 처리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실물 흐름 사용자 성공 보고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AI 분류·제거 검증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확인 / 개별 원격 응답 미수집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편집·기한·폐기·복원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검사 / 실제 Pi 상세 실기 대기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 알림·SMTP 메일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모의 검사 / 실제 메일 수신 대기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초기화·재시작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초기화 성공 보고 + 재부팅 진단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친구 노트북·핫스팟 시연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 중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초대 전송 / 접속·무선 부팅 대기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4994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1ED81-C69E-415F-B8E2-06991A0D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3. 프로젝트 개발 진행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E3C05-C8CA-4D76-8DB2-E0FD68CA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팀 수행 내용과 버전관리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BEA1C-15B5-4A19-BCCE-AAFCA671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3802D-6AB5-47FE-A221-2A330394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로컬 변경 백업과 검사 로그는 보존. Git 커밋 이력과는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8B81D-27BA-467F-8493-17608BE5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17AEE-E81F-4244-8AB8-95823B79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829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README의 수행 분담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4D3EB-E459-4DBA-AFD2-42326492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9339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장진석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시스템 구현·통합, 배포, 검사와 문서화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권기원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자료 검토·교정과 시연 준비 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4265E-B54B-47C5-969A-8B398374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0768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현재 작업 폴더에는 .git이 없어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커밋·작성자별 기여를 확인하지 못했다.</a:t>
            </a:r>
          </a:p>
        </p:txBody>
      </p:sp>
      <p:sp>
        <p:nvSpPr>
          <p:cNvPr id="9" name="FILL_S1">
            <a:extLst xmlns:a="http://schemas.openxmlformats.org/drawingml/2006/main">
              <a:ext uri="{FF2B5EF4-FFF2-40B4-BE49-F238E27FC236}">
                <a16:creationId xmlns:a16="http://schemas.microsoft.com/office/drawing/2014/main" id="{4B87BFB0-3FE9-4098-A7B4-1F8E40C2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62125"/>
            <a:ext cx="5448300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8"/>
          </a:solidFill>
          <a:ln xmlns:a="http://schemas.openxmlformats.org/drawingml/2006/main" w="19050">
            <a:solidFill>
              <a:srgbClr val="8BA6AB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8B32F-BAFA-4213-867E-B4027899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99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S1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77BE5-2910-4701-9723-3962B097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9913"/>
            <a:ext cx="499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저장소 개발 이력 캡처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A5C8D-231B-4611-B08D-348717CF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05325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날짜 · 작성자 · 커밋 메시지 포함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A2F7C-4513-4099-9223-64B417D1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91150"/>
            <a:ext cx="544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저장소 URL [입력]  /  주요 커밋 3~5개 [입력]</a:t>
            </a:r>
          </a:p>
        </p:txBody>
      </p:sp>
    </p:spTree>
    <p:extLst>
      <p:ext uri="{BB962C8B-B14F-4D97-AF65-F5344CB8AC3E}">
        <p14:creationId xmlns:p14="http://schemas.microsoft.com/office/powerpoint/2010/main" val="7701403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4D66E-5B1D-4946-A4F1-32DD7629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4. 핵심 기능 구현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261D8-4FD4-42C5-8A7E-8D6551BD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실행 가능한 핵심 사건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EFDE2-B913-4B11-8A28-D69114EA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5920C-848C-431A-B6A0-A273955A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자동 회수는 화면상 사라짐을 기록한 상태이며 실제 소유자 반환의 증거는 아님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642C4-E788-4D33-9973-DAE91C9C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81400"/>
                <a:gridCol w="4010025"/>
                <a:gridCol w="3381375"/>
              </a:tblGrid>
              <a:tr h="71818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사건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처리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added  ·  새 물품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기록 저장 후 AI 분류 요청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이름·분류 확정 또는 확인 필요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moved  ·  같은 물품 이동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 물품 대응과 위치·사진 갱신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ID 유지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removed  ·  명확한 제거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저장된 배경과 제거 근거 확인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 상태와 활동 이력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verify_removed  ·  모호한 제거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AI로 사라짐 여부 재검증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 또는 추적·검토 유지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8D9E5-C2F4-44F3-ADC0-54F00158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움직임이 끝나고 장면이 안정된 뒤 사건 후보를 처리한다.</a:t>
            </a:r>
          </a:p>
        </p:txBody>
      </p:sp>
    </p:spTree>
    <p:extLst>
      <p:ext uri="{BB962C8B-B14F-4D97-AF65-F5344CB8AC3E}">
        <p14:creationId xmlns:p14="http://schemas.microsoft.com/office/powerpoint/2010/main" val="12473055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80234-5AD1-4842-A261-711FA524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4. 핵심 기능 구현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4B6F2-25AE-469C-826F-6E68D1CC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AI 응답보다 관찰 저장을 먼저 수행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CDECE-710D-4F8B-A507-2E904634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A138F-A39A-40FF-AF92-16C2F933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98345-FAA0-4A2F-812F-B123AC63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2324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lIns="114300" tIns="142875" rIns="114300" bIns="1143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 감지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F160C-2180-4310-8F71-1CEA5488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95475"/>
            <a:ext cx="2571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lIns="114300" tIns="142875" rIns="114300" bIns="1143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임시 기록 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F51B0-39F3-4F36-9D5F-2675553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95475"/>
            <a:ext cx="2619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lIns="114300" tIns="142875" rIns="114300" bIns="1143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AI 비동기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4799E-0F0E-4297-9835-7E2B6914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895475"/>
            <a:ext cx="19907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5"/>
          </a:solidFill>
          <a:ln xmlns:a="http://schemas.openxmlformats.org/drawingml/2006/main" w="14288">
            <a:solidFill>
              <a:srgbClr val="067C80"/>
            </a:solidFill>
          </a:ln>
        </p:spPr>
        <p:txBody>
          <a:bodyPr xmlns:a="http://schemas.openxmlformats.org/drawingml/2006/main" lIns="114300" tIns="142875" rIns="114300" bIns="1143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검토·확정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33700" y="23812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000750" y="23812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105900" y="23812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7C80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481E0-A2B0-4C9F-8ACE-377211FF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실제 코드 발췌  ·  app/main.py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7FBD6-2F17-4E4A-A0CE-65CE315F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738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83442"/>
                </a:solidFill>
                <a:latin typeface="Consolas"/>
                <a:ea typeface="Consolas"/>
                <a:cs typeface="Consolas"/>
              </a:rPr>
              <a:t>with _item_mutation_lock: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83442"/>
                </a:solidFill>
                <a:latin typeface="Consolas"/>
                <a:ea typeface="Consolas"/>
                <a:cs typeface="Consolas"/>
              </a:rPr>
              <a:t>    item = create_provisional_item(event)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B18F1-B156-4CD0-B429-B027B75D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6581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18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83442"/>
                </a:solidFill>
                <a:latin typeface="Consolas"/>
                <a:ea typeface="Consolas"/>
                <a:cs typeface="Consolas"/>
              </a:rPr>
              <a:t>submit_classification(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18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83442"/>
                </a:solidFill>
                <a:latin typeface="Consolas"/>
                <a:ea typeface="Consolas"/>
                <a:cs typeface="Consolas"/>
              </a:rPr>
              <a:t>    classify_existing_item, item["id"], event,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18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83442"/>
                </a:solidFill>
                <a:latin typeface="Consolas"/>
                <a:ea typeface="Consolas"/>
                <a:cs typeface="Consolas"/>
              </a:rPr>
              <a:t>    item_tracking_signature(item)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18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83442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C7078-DD6A-4EAD-B416-37185C1D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24250"/>
            <a:ext cx="3038475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AI 오류·불확실 응답에도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사진과 관찰 기록을 보존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관리자 수정 뒤의 응답은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현재 검토 상태를 확인</a:t>
            </a:r>
          </a:p>
        </p:txBody>
      </p:sp>
    </p:spTree>
    <p:extLst>
      <p:ext uri="{BB962C8B-B14F-4D97-AF65-F5344CB8AC3E}">
        <p14:creationId xmlns:p14="http://schemas.microsoft.com/office/powerpoint/2010/main" val="4294090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35AE5-75E2-4E69-B2A9-3ACE975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4. 핵심 기능 구현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3D467-AC8B-4C23-848E-1907A21C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실물 등록·이동·회수 실행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368EE-2CB4-4D6B-A8A9-A01DB483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99F1B-8F2C-4610-B86E-378C138F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현재 근거: 사용자 성공 보고. 아래에는 같은 물품의 실제 Pi 화면을 삽입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11281-53D2-41F7-9488-8A9FEABB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FILL_S2">
            <a:extLst xmlns:a="http://schemas.openxmlformats.org/drawingml/2006/main">
              <a:ext uri="{FF2B5EF4-FFF2-40B4-BE49-F238E27FC236}">
                <a16:creationId xmlns:a16="http://schemas.microsoft.com/office/drawing/2014/main" id="{60221028-6BBF-4734-9422-1A3767F0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3419475" cy="24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8"/>
          </a:solidFill>
          <a:ln xmlns:a="http://schemas.openxmlformats.org/drawingml/2006/main" w="19050">
            <a:solidFill>
              <a:srgbClr val="8BA6AB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18FF6-D477-48CC-9DDD-2DD87A6C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962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S2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A5063-4BC9-4D60-B142-78D57B9D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3213"/>
            <a:ext cx="29622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물품 등록 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2AED5-2B02-4AEB-A5CC-46466D5D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2962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물품 이름 · ID · 사진</a:t>
            </a:r>
          </a:p>
        </p:txBody>
      </p:sp>
      <p:sp>
        <p:nvSpPr>
          <p:cNvPr id="10" name="FILL_S3">
            <a:extLst xmlns:a="http://schemas.openxmlformats.org/drawingml/2006/main">
              <a:ext uri="{FF2B5EF4-FFF2-40B4-BE49-F238E27FC236}">
                <a16:creationId xmlns:a16="http://schemas.microsoft.com/office/drawing/2014/main" id="{BEF7349C-4793-4A99-840A-D98BFDE5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90725"/>
            <a:ext cx="3419475" cy="24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8"/>
          </a:solidFill>
          <a:ln xmlns:a="http://schemas.openxmlformats.org/drawingml/2006/main" w="19050">
            <a:solidFill>
              <a:srgbClr val="8BA6AB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9C7F7-AA00-45BC-B33D-822DBD30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962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S3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D1F37-39FF-4C3C-B8A5-4D7165CD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43213"/>
            <a:ext cx="29622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같은 물품 이동 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8A1C2-3E05-4CF3-93D0-7FFEF14F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43325"/>
            <a:ext cx="2962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동일 ID · 바뀐 위치</a:t>
            </a:r>
          </a:p>
        </p:txBody>
      </p:sp>
      <p:sp>
        <p:nvSpPr>
          <p:cNvPr id="14" name="FILL_S4">
            <a:extLst xmlns:a="http://schemas.openxmlformats.org/drawingml/2006/main">
              <a:ext uri="{FF2B5EF4-FFF2-40B4-BE49-F238E27FC236}">
                <a16:creationId xmlns:a16="http://schemas.microsoft.com/office/drawing/2014/main" id="{E8C09E5B-6907-4FF8-97BA-27CAC31F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90725"/>
            <a:ext cx="3419475" cy="24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8"/>
          </a:solidFill>
          <a:ln xmlns:a="http://schemas.openxmlformats.org/drawingml/2006/main" w="19050">
            <a:solidFill>
              <a:srgbClr val="8BA6AB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9F0DE-178B-420B-AE10-1AEA8C5A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28850"/>
            <a:ext cx="2962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S4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0E869-AE64-4D2F-AC85-9BB1E4FB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43213"/>
            <a:ext cx="29622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물품 제거 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5FC74-14B6-4BCC-8305-61F23BD2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743325"/>
            <a:ext cx="2962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회수 상태 · 활동 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43083-5C51-4A12-8C4C-FA2AA6D2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3419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1  물품을 놓고 손을 뺀다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0E32C-7BE7-4F18-AE8D-E3C8EB66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34194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등록된 기록과 사진을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31064-5B40-4B48-B083-0532BAF6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95825"/>
            <a:ext cx="3419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2  같은 물품을 옮긴다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416FA-825B-4179-B7A8-236850C3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67325"/>
            <a:ext cx="34194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기존 ID와 물품 수를 비교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BE679-1EB4-4388-A178-8B473703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695825"/>
            <a:ext cx="3419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3  물품을 완전히 치운다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8D9E3-3749-4C47-8258-0DDC2EEB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267325"/>
            <a:ext cx="34194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같은 기록의 상태 전환 확인</a:t>
            </a:r>
          </a:p>
        </p:txBody>
      </p:sp>
    </p:spTree>
    <p:extLst>
      <p:ext uri="{BB962C8B-B14F-4D97-AF65-F5344CB8AC3E}">
        <p14:creationId xmlns:p14="http://schemas.microsoft.com/office/powerpoint/2010/main" val="3719223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62603-7D30-442A-A744-1CBB2405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4. 핵심 기능 구현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4D55D-F4DE-4234-AE90-C4145947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관리자 화면과 운영 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BF2CD-AB7A-4B4C-ADED-39A4DB71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3E257-2A2A-4462-AA72-18FD1BDD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FILL_S5">
            <a:extLst xmlns:a="http://schemas.openxmlformats.org/drawingml/2006/main">
              <a:ext uri="{FF2B5EF4-FFF2-40B4-BE49-F238E27FC236}">
                <a16:creationId xmlns:a16="http://schemas.microsoft.com/office/drawing/2014/main" id="{5CEEF2F3-327C-4CFE-9272-9974B1B4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267575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8"/>
          </a:solidFill>
          <a:ln xmlns:a="http://schemas.openxmlformats.org/drawingml/2006/main" w="19050">
            <a:solidFill>
              <a:srgbClr val="8BA6AB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6BFCF-C5A0-4974-A64B-779EF4FF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681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S5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6696D-AAD7-4DBA-9365-251545A0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2338"/>
            <a:ext cx="681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실제 Pi 관리자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C368C-F21D-4ED0-AFCE-2CC7A3A5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681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대시보드 또는 물품 상세 화면 / 주소창 제외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5F680-5D9C-41B3-B227-B9C15547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57375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물품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D00DD-66EE-42BD-A20D-77C3F294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90775"/>
            <a:ext cx="320992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검색·상세 편집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기한 연장·폐기·복원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확인 필요 항목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EC6F2-C697-457B-BE22-86212D90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14800"/>
            <a:ext cx="3209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시연 초기화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9B4C6-308B-4547-99E4-646C7C3E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667250"/>
            <a:ext cx="32099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물품을 치운 뒤 확인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모든 운영 기록·사진 삭제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설정·API 키는 보존</a:t>
            </a:r>
          </a:p>
        </p:txBody>
      </p:sp>
    </p:spTree>
    <p:extLst>
      <p:ext uri="{BB962C8B-B14F-4D97-AF65-F5344CB8AC3E}">
        <p14:creationId xmlns:p14="http://schemas.microsoft.com/office/powerpoint/2010/main" val="18984140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153B8-7421-463D-B651-C601CBD3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4. 핵심 기능 구현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75E45-017A-4E45-91A5-51FFFFC1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통합된 기능과 남은 개발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AB557-15A2-4ECD-BC3B-47DC523D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AE896-C2D8-4A14-BE8E-BA7110C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53B25-354C-4BD5-A9BB-5E3AF93F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연동 구현 완료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46FBB-C9F1-40D2-8056-047659DD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카메라·사건 처리·SQLite·API·웹 연결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임시 저장 후 비동기 AI 반영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기한 검사와 알림, 상태·활동 이력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C8888-3220-43D1-84AE-941D5772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28800"/>
            <a:ext cx="5114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현장 확인 대기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CB3DD-1DBE-4E1C-8ED2-5821AE2F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43150"/>
            <a:ext cx="51149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친구 노트북과 핫스팟 연결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실제 AI 응답·SMTP 수신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여러 물품과 장시간 운영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66080-5825-42F2-8BFB-A2E35596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정량 평가를 위해 추가할 부분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910A8-677F-4114-B26A-A23892F4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종단간 사건·API 호출의 영속 측정 원장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공통 영상으로 B0/B1/B2를 비교할 스트림 실행기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정답 라벨 데이터와 반복 측정 결과</a:t>
            </a:r>
          </a:p>
        </p:txBody>
      </p:sp>
    </p:spTree>
    <p:extLst>
      <p:ext uri="{BB962C8B-B14F-4D97-AF65-F5344CB8AC3E}">
        <p14:creationId xmlns:p14="http://schemas.microsoft.com/office/powerpoint/2010/main" val="4436657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5C8F5-2E5D-407B-9C81-E77BB796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5. AI 모델 및 데이터 개발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F04FC-D16D-48BC-B1BB-877298D0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데이터 수집과 AI 입력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6435F-FD36-4426-B562-950C2A2B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FCDC1-5D70-482E-8FF2-84A4B0D0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8258175"/>
              </a:tblGrid>
              <a:tr h="615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처리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원시 입력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CSI 카메라의 연속 프레임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전처리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움직임 종료·안정화, 기하 정합, 조명 보정, 변화 영역 산출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전후 전체 장면 2장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변화 방향과 주변 문맥 확인 / JPEG 기본 품질 72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전후 후보 crop 2장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물품의 세부 특징 확인 / JPEG 기본 품질 88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저장·평가 데이터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물품·사진·이력 저장. 정답 라벨 평가 세트는 아직 미확보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E20CE-94A8-46D4-9A86-BA7BD8DE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외부 요청당 최대 4장. 별도 모델 학습·증강·파인튜닝은 수행하지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8253153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8C53D-FB1A-4299-AEF9-870952BF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5. AI 모델 및 데이터 개발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B51C3-547C-49BF-AAF5-EA2170E1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사전학습 VLM의 구조화 추론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2EA8A-564D-42C5-809A-A23E8B3C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20295-DB48-49BF-BC9B-41B829DE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13EA8-421F-4009-9F78-52B5FD08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적용 모델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976B1-B3BE-4612-9E85-59AC608D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743075"/>
            <a:ext cx="8620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Pi 설정: OpenAI gpt-5.6-luna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Gemini 경로도 구현. 실제 원격 응답의 개별 검증은 남아 있음.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05164-9B50-45CE-A7A4-FDEBF84D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52CB1-00AE-4246-99E3-F55E22FB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선정 이유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7B966-97B1-4602-916D-028698F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00350"/>
            <a:ext cx="8620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전후 이미지와 문맥으로 다양한 물품의 이름·분류를 요청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Pi에는 로컬 영상 처리와 서비스 운영을 배치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00DCE-5FA5-4C68-924D-E9BF2E85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14DF2-A3F8-4488-A3CB-98543F7C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추론 방법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FEC5D-757B-4DA5-8FB4-A89A0683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57625"/>
            <a:ext cx="8620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전후 증거 + 분실물 판단 프롬프트 + JSON schema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OpenAI strict 형식, 완료 상태·응답 내용 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94201-FFC4-456B-BBDA-7BF13BAC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71CA2-1553-4404-9267-3E6758C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결과 활용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46270-7515-4D4B-8410-EF4AD916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14900"/>
            <a:ext cx="8620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action, 물품명, category, confidence, 근거를 해석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불확실·오류 응답은 관리자 확인 대상으로 보존</a:t>
            </a:r>
          </a:p>
        </p:txBody>
      </p:sp>
    </p:spTree>
    <p:extLst>
      <p:ext uri="{BB962C8B-B14F-4D97-AF65-F5344CB8AC3E}">
        <p14:creationId xmlns:p14="http://schemas.microsoft.com/office/powerpoint/2010/main" val="16757122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4810A-02D8-41A1-B6EA-9955CE03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5. AI 모델 및 데이터 개발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E6AAE-F063-4B62-9807-3B8F5F92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AI 성능과 사건 정확도는 측정 예정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EE2B7-0895-4996-950C-04023754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D7C91-3640-4D0E-9827-83B21372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빈칸은 미측정값. 0 또는 자동화 테스트 통과율로 채우지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37077-7E4F-4583-8BFF-F281C39D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219575"/>
                <a:gridCol w="2981325"/>
                <a:gridCol w="3771900"/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항목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값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단위·조건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사건 감지 Precision / Recall / F1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추가·이동·제거별 정답 라벨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물품 분류 정확도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 %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분류와 응답 비교 / 표본 N=[입력]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불확실 판정 비율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 %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평가 사건에서 uncertain 비율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감지 후 DB 반영 지연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p50 [입력] / p95 [입력] ms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행동 종료·기록 반영 시각을 함께 수집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성공·오류 사례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[사례 입력]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사건의 원본 사진·정답·AI 응답 보존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4178F-1E14-441D-9D84-E11899F2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현재 확보한 기본 동작 성공 보고만으로 인식 정확도를 계산할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6527598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CC83D-C251-4615-86C9-2A54A270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5. AI 모델 및 데이터 개발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9D236-A2C5-4E97-B62C-FA0CA266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Baseline 비교와 AI 개선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03A07-7102-4864-BD18-6C277188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844DE-435E-4ED7-82B7-C4291B74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210050"/>
                <a:gridCol w="3990975"/>
                <a:gridCol w="2771775"/>
              </a:tblGrid>
              <a:tr h="6381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비교군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B0  순수 grayscale 차분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변화 검출과 비교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스트림 실행기 구현 예정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  안정화 상태기계 제거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안정화 대기의 효과·지연 확인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스트림 실행기 구현 예정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B2  OpenCV MOG2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배경 모델 방식과 비교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스트림 실행기 구현 예정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 Re:Found 전체 로컬 처리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제안 파이프라인 평가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구현 / 동일 조건 실측 대기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BE982-C4F6-4B98-993C-B05F6A11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개선 방향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18B5D-C797-45CC-9572-2971CBF1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19700"/>
            <a:ext cx="86391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그림자·손 가림·저대비·다중 물품 사례를 확보하고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같은 데이터에서 입력 구성과 판정 기준을 비교한다.</a:t>
            </a:r>
          </a:p>
        </p:txBody>
      </p:sp>
    </p:spTree>
    <p:extLst>
      <p:ext uri="{BB962C8B-B14F-4D97-AF65-F5344CB8AC3E}">
        <p14:creationId xmlns:p14="http://schemas.microsoft.com/office/powerpoint/2010/main" val="20706640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35EA6-C22C-4887-83D8-F535102C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6. 테스트 결과 및 문제점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1F441-7452-4386-8A86-4AE3582C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자동화 테스트와 통합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D99BB-5E9E-497F-85CD-12BF9369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F567C-DF21-4900-ADA2-35FF2F8D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2026-09-22 개발 검사 / 합성 카메라·임시 DB·모의 AI·SMTP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E5AB-3D42-45A6-AC66-1E7DD046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60F0A-E704-418A-810D-15A0CA65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2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57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272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3AB27-B7C3-4105-A2BA-5BE54FAB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4795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Python 검사 통과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DA71A-9740-4A3E-95FF-74AEEF8F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76400"/>
            <a:ext cx="342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57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881EB-CF26-4A12-B882-706740CF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4795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Node 검사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86684-A84B-4FCC-935B-E95C9A7A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342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57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92FE5-6904-428C-A4EF-E82D990E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64795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Chromium 검사 통과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09600" y="3581400"/>
          <a:ext xmlns:a="http://schemas.openxmlformats.org/drawingml/2006/main" cx="10972800" cy="2209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763905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 대상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조건과 결과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사건·저장·API 연동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프레임 + 임시 DB + 모의 AI로 연속 흐름 확인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생명주기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편집·만료·알림·연장·폐기·복원 연결 검사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초기화 UI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1440 / 1024 / 390 / 320px에서 확인·취소·후속 등록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6753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A67C3-AA82-44D5-8BC2-5CE08434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6. 테스트 결과 및 문제점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C3903-DF4A-46A3-B845-64A37F30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실제 Pi에서 확인한 결과와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4E2EB-D549-4E07-87E7-DA61E6DC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48FC0-880C-4484-BF25-3C7EC7F3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2026-09-22 확인. 단일 상태 진단과 사용자 보고를 논문용 정량 실험과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A7506-4FF1-4114-88E2-2F33DD6A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4105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14675"/>
                <a:gridCol w="2581275"/>
                <a:gridCol w="5276850"/>
              </a:tblGrid>
              <a:tr h="58646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수준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설치·촬영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제공 로그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완료, OV5647 인식·JPEG·프레임 획득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재부팅 후 서비스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제공 로그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active, DB·카메라 연결, Local checks passed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등록·이동·회수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성공 보고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흐름 정상 / 개별 사진·ID 원본 미수집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 PC 원격 화면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성공 보고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Tailscale HTTPS 화면·영상 확인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AI·메일·장시간 운영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미확인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원본·실제 수신·지속 관찰 기록 필요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친구 노트북·핫스팟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중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초대 전송 / 수락·접속·무선 부팅 대기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4947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9CD99-D1A6-4D7A-A3CE-0E3ED13B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6. 테스트 결과 및 문제점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1D065-F111-48B5-9BB6-20CD0D43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주요 문제의 원인과 해결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AFEC7-A61C-4D29-9E83-8964332A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547F2-F2E4-43A8-90DD-F905319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4133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3467100"/>
                <a:gridCol w="3981450"/>
              </a:tblGrid>
              <a:tr h="688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문제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수정과 확인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화면이 미세하게 흔들림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분석용 정합 결과를 화면에도 사용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미리보기와 박스 투영 분리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사건 누락·중복 위험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반영 전에 기준 장면 전진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 확인 후 갱신, 사건 ID로 중복 제어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늦은 AI 응답과 편집 충돌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시작 후 현재 기록이 달라짐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상태·물리 revision 확인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 저장·모바일 넘침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배경 갱신 잠금·숨김 라벨 위치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잠금 분리, 390px 배치 수정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SD 교체·재설치 부담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 고장 뒤 환경 재구성 필요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설치기·진단·체크섬으로 복구 확인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1507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3AF28-4F52-4AB5-9151-FF56BD18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6. 테스트 결과 및 문제점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AB9FB-5DD4-4748-9A5E-E710E940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개발 환경에서의 정지 장면 연산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4A314-C65D-41D5-8D4B-39174EF4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60846-B812-44CC-9BC4-6502FDB9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PC 합성 입력의 개발 검사 / Pi 성능·AI 정확도·종단간 지연 결과가 아님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AD933-77E8-486A-BBBF-4EEF7FE4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A1916-3DD7-4636-8256-58F05DED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6877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분석 프레임당 처리 시간 (ms)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6638925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fa8404ca6a4ed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F7923-7413-44C1-AF42-7F1A6DF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24025"/>
            <a:ext cx="3743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수정 내용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E9DB3-30EB-44E4-BF91-E6FF2663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86000"/>
            <a:ext cx="37433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기준 grayscale 캐시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무변화 프레임의 조기 종료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중복 정합 제거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미리보기 해상도 축소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ADB19-FB04-4FD4-BE77-13840792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76750"/>
            <a:ext cx="37433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9/18 Windows 합성 입력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OpenCV 1 thread, 160 입력 프레임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호스트 부하·설정 변화 포함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실제 Pi 개선율은 별도 측정</a:t>
            </a:r>
          </a:p>
        </p:txBody>
      </p:sp>
    </p:spTree>
    <p:extLst>
      <p:ext uri="{BB962C8B-B14F-4D97-AF65-F5344CB8AC3E}">
        <p14:creationId xmlns:p14="http://schemas.microsoft.com/office/powerpoint/2010/main" val="19863655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C9B71-0F51-4767-B6CF-126D01E8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7. 향후 개발 및 완성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E79CE-78AF-48D0-A295-FFBD6806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중간보고 전후의 개발 우선순위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D2946-B414-4E62-84DD-0629C29A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0F239-033F-4F7C-823A-146EB7E6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아래 항목은 제안 계획. 구현 완료나 실측 결과로 표시하지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9E0C0-DB03-46A0-93C8-DDE714D1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BCAFD-C2EB-42AE-8234-25A8F4E1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우선 1  시연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2A193-3257-4387-9C81-6058E7F1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62125"/>
            <a:ext cx="8162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친구 공유 수락, 노트북 HTTPS 접속, 핫스팟 무선 부팅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완료 근거: 실제 장소와 장비의 화면·영상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FB54A-43CE-48F4-90FB-E21BD8BD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3040A-FE43-4063-AA5A-95AC58A0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우선 2  운영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79F05-FD67-4323-BB12-0DBB74D3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19400"/>
            <a:ext cx="8162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여러 물품, 세부 편집, 메일, privacy 재부팅, 장시간 감시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완료 근거: 조건·예상·실제 결과를 적은 실기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A7EBC-926C-452B-8858-9AA51866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ADA35-E338-42AA-9A2D-B3570D2D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우선 3  평가 기반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879E8-0C3B-48F8-9E3F-007563C6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76675"/>
            <a:ext cx="8162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영속 사건·호출 시각과 정답 라벨, 공통 비교 실행기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완료 근거: 검증 가능한 원시 CSV와 같은 입력의 비교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19BC5-3456-4593-8A71-F2C6B95C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BDAB2-B985-4785-A340-F347E64B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AI 개선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4B611-2FEB-4604-AE9E-FEBF126E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33950"/>
            <a:ext cx="8162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약 40건 파일럿으로 오류 유형·기록 절차 점검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개발 자료로 기준을 고정한 뒤 별도 평가 자료로 재측정</a:t>
            </a:r>
          </a:p>
        </p:txBody>
      </p:sp>
    </p:spTree>
    <p:extLst>
      <p:ext uri="{BB962C8B-B14F-4D97-AF65-F5344CB8AC3E}">
        <p14:creationId xmlns:p14="http://schemas.microsoft.com/office/powerpoint/2010/main" val="16324256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2A48D-ECFF-4059-8ED8-5C3B54D2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7. 향후 개발 및 완성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72EEF-10BF-4391-B306-4D00AD25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11월 3일 최종보고까지의 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7FD8B-3157-46A6-A483-21F95072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76292-F03A-4112-BFB8-10B9024B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수업의 발표일은 확정 일정 / 사이의 개발 작업은 제안 일정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85000-1BE3-4185-9B5A-452318D9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4162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09900"/>
                <a:gridCol w="4295775"/>
                <a:gridCol w="3667125"/>
              </a:tblGrid>
              <a:tr h="594632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계획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산출물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9/23~9/29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친구 접속·핫스팟, 기본 실기 추가 확인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접속 확인과 실제 화면 캡처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9/30~10/12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리허설, 측정 원장·파일럿 준비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중간보고 PPT와 실행 증거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10/13  ·  중간보고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구현·확인 범위와 남은 계획 발표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중간보고 피드백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10/14~10/26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데이터, 반복 비교, 오류 수정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평가표·실패 사례·안정화 기록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10/27  ·  발표 연습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시연, 결과표·화면 최종 점검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발표 수정 목록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946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10/28~11/02 → 11/03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보완·배포 고정 → 최종보고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PPT·실행 패키지·검증 기록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49493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EB4B9-0F14-4D0C-920E-5F4D7032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7. 향후 개발 및 완성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0C48E-44C3-4E3F-B80A-B513CECE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최종보고의 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0CC31-FAE1-411B-9D01-50AC8A90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D2C7F-0363-417B-AC97-3DAB398B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F67CB-2759-4C6F-8966-4D9B8B2F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4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현재: 통합 프로토타입 구현과 기본 실물 흐름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ACA41-BB9C-4DA1-8351-68A08E62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실행 증거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F4798-7C74-484F-A2FB-27DB0FA9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09875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실물 등록·이동·회수의 동일 물품 기록과 화면 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F3FB3-05D7-4CE2-BEC8-ABFBA50E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04D06-700A-406F-9B55-BCF6C61A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운영 안정성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77C62-996E-471E-8F6F-59D3414D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71875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실제 발표 장비의 연결·재시작·관리 기능을 반복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829D3-F33A-463E-A8BE-5FEA1584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6DAB9-DFFD-45ED-8FEF-61133A6C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AI 성능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A6076-E6F7-4E00-B80D-24A43E90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333875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정답·원본·응답을 연결해 정확도·불확실 비율·지연 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83F90-E5E0-429F-8060-5E1BB8B6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C0D12-31D7-4E4E-9E0E-68580DA5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재현 가능한 결과물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64FBB-60B2-4086-A5E4-3DF9224A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095875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고정된 코드·배포본과 원시 기록, 결과표를 함께 보존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F905C-C188-46DF-9294-D0F81FE5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정량 성능과 현장 운영 증거를 보완해 최종 결과를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52554936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3E368-7A19-4D8C-BC82-E5914CA2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보충자료 A. 핵심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AB85D-0B30-4BC8-A023-79445BBD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늦은 AI 응답을 적용하기 전 상태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8A4D6-EFA7-413D-B5D1-A56E8CAD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9E1FD-8050-4C4D-9C19-BA2CE60D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0A869-5F41-428F-8FCE-28A00393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app/classification.py  ·  process()의 실제 발췌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0EBC-5B33-4CB8-A304-E699DA4B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83442"/>
                </a:solidFill>
                <a:latin typeface="Consolas"/>
                <a:ea typeface="Consolas"/>
                <a:cs typeface="Consolas"/>
              </a:rPr>
              <a:t>with self.mutation_lock: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83442"/>
                </a:solidFill>
                <a:latin typeface="Consolas"/>
                <a:ea typeface="Consolas"/>
                <a:cs typeface="Consolas"/>
              </a:rPr>
              <a:t>    current = self.store.get_item(item_id)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83442"/>
                </a:solidFill>
                <a:latin typeface="Consolas"/>
                <a:ea typeface="Consolas"/>
                <a:cs typeface="Consolas"/>
              </a:rPr>
              <a:t>    if not current or review_status(current) != "pending":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18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83442"/>
                </a:solidFill>
                <a:latin typeface="Consolas"/>
                <a:ea typeface="Consolas"/>
                <a:cs typeface="Consolas"/>
              </a:rPr>
              <a:t>        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D9410-F5A9-4508-8BF8-DC3D0D67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관리자가 확인·편집을 마친 기록에는 뒤늦은 분류를 적용하지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18417-8D55-4AB6-8386-C1F26FFD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모호한 제거 검증은 별도로 물리 추적 signature를 검사한다.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이미 이동하거나 처리한 물품에 이전 제거 판정을 적용하지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45205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56F44-472B-404F-B36F-1AD78B5E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보충자료 B. 화면 채우기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70A95-35E7-4AA1-937A-E6CAC5DB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발표용 캡처 준비 목록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410BE-82C6-456E-BF4D-3680048C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6213E-1F1B-4E35-9F6C-716FD023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실제 Pi 화면 사용. 합성 테스트 화면을 쓰면 해당 사실을 표시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F0A04-B102-4A50-80B4-1BF8EE70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28850"/>
                <a:gridCol w="4305300"/>
                <a:gridCol w="44386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자리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캡처 내용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반드시 보여줄 것</a:t>
                      </a:r>
                    </a:p>
                  </a:txBody>
                  <a:tcPr marL="133350" marR="133350" marT="114300" marB="95250" anchor="ctr">
                    <a:solidFill>
                      <a:srgbClr val="102D3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  ·  11쪽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저장소의 개발 이력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날짜·작성자·기능별 주요 커밋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S2  ·  14쪽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실물 하나를 등록한 뒤 상세 확인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물품 이름, ID, 사진과 상태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S3  ·  14쪽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물품을 옮긴 뒤 동일 기록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ID, 바뀐 위치·사진, 중복 없음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S4  ·  14쪽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물품을 제거한 뒤 같은 기록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 상태와 해당 활동 이력</a:t>
                      </a:r>
                    </a:p>
                  </a:txBody>
                  <a:tcPr marL="133350" marR="133350" marT="114300" marB="95250" anchor="ctr">
                    <a:solidFill>
                      <a:srgbClr val="F4F8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S5  ·  15쪽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Pi 관리자 화면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4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화면 구성 또는 핵심 관리 작업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493E9-B682-45DC-9D60-DB724FA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PNG 권장. 주소창·계정·키·개인 식별 정보는 제외한다.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자세한 촬영 순서와 PPT 교체 방법은 함께 제공한 작성 가이드에 있다.</a:t>
            </a:r>
          </a:p>
        </p:txBody>
      </p:sp>
    </p:spTree>
    <p:extLst>
      <p:ext uri="{BB962C8B-B14F-4D97-AF65-F5344CB8AC3E}">
        <p14:creationId xmlns:p14="http://schemas.microsoft.com/office/powerpoint/2010/main" val="1716998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6F435-2E30-4F12-A42C-45802D96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보충자료 C. 미확정 항목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42434-2216-47E1-8432-7542A6F4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진행률과 결과표를 채우는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1E510-12AA-4FAF-9CB3-25086E3D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411BB-3ECC-47E4-A00B-F40B756B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6B77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ACECE-4282-407B-9E1B-764EC40D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9쪽  공식 진행률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C7849-0DA7-4378-9655-3D395309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24025"/>
            <a:ext cx="8115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합의한 작업 항목의 가중치 합을 100으로 설정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진행률 = 완료로 인정한 작업의 가중치 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CD8B2-7555-470B-A327-B14CBEF2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06EC4-5252-4F4B-864B-72860FF5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19쪽  성능값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6B1F0-6C50-44A9-B74C-884AEC05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90825"/>
            <a:ext cx="8115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정답 라벨과 원시 응답을 모은 뒤 계산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표본 수·실패·불확실 응답을 분모에서 임의로 제외하지 않음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D8CE2-9EE2-4749-B870-B0157472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41D0E-212C-4E83-B820-118A6B40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11쪽  수행·커밋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4CEC3-96CB-4F8F-A1BA-7B9C720C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57625"/>
            <a:ext cx="8115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팀원별 실제 산출물과 커밋 작성자를 대조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담당 역할과 확인 가능한 코드 기여를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E1882-58AE-4B71-A908-9C53A6AF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B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EE11F-2BF7-4790-92A3-EF793BBC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67C80"/>
                </a:solidFill>
                <a:latin typeface="Malgun Gothic"/>
                <a:ea typeface="Malgun Gothic"/>
                <a:cs typeface="Malgun Gothic"/>
              </a:rPr>
              <a:t>발표 전 갱신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4CF39-5263-4301-A6E6-84131245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24425"/>
            <a:ext cx="8115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10/13까지의 새 실기 결과와 캡처 반영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442"/>
                </a:solidFill>
                <a:latin typeface="Malgun Gothic"/>
                <a:ea typeface="Malgun Gothic"/>
                <a:cs typeface="Malgun Gothic"/>
              </a:rPr>
              <a:t>확인일과 근거 수준을 함께 갱신</a:t>
            </a:r>
          </a:p>
        </p:txBody>
      </p:sp>
    </p:spTree>
    <p:extLst>
      <p:ext uri="{BB962C8B-B14F-4D97-AF65-F5344CB8AC3E}">
        <p14:creationId xmlns:p14="http://schemas.microsoft.com/office/powerpoint/2010/main" val="1506144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2026-09-22T10:45:08.4530000Z</dcterms:created>
  <dcterms:modified xsi:type="dcterms:W3CDTF">2026-09-22T10:45:08.4530000Z</dcterms:modified>
</coreProperties>
</file>