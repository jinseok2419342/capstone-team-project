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011e84e76d45c6" /><Relationship Type="http://schemas.openxmlformats.org/officeDocument/2006/relationships/extended-properties" Target="/docProps/app.xml" Id="Re3df63023f294a95" /><Relationship Type="http://schemas.openxmlformats.org/officeDocument/2006/relationships/officeDocument" Target="/ppt/presentation.xml" Id="Rc331d39a23a04972" /></Relationships>
</file>

<file path=ppt/presentation.xml><?xml version="1.0" encoding="utf-8"?>
<p:presentation xmlns:p="http://schemas.openxmlformats.org/presentationml/2006/main">
  <p:sldMasterIdLst>
    <p:sldMasterId xmlns:r="http://schemas.openxmlformats.org/officeDocument/2006/relationships" id="2147483648" r:id="R600b1503d2a943b5"/>
  </p:sldMasterIdLst>
  <p:notesMasterIdLst>
    <p:notesMasterId xmlns:r="http://schemas.openxmlformats.org/officeDocument/2006/relationships" r:id="R1cfbddc7a8384d59"/>
  </p:notesMasterIdLst>
  <p:sldIdLst>
    <p:sldId xmlns:r="http://schemas.openxmlformats.org/officeDocument/2006/relationships" id="256" r:id="Rb327cdbddfa8484f"/>
    <p:sldId xmlns:r="http://schemas.openxmlformats.org/officeDocument/2006/relationships" id="257" r:id="R28595dfc8a0c4b8f"/>
    <p:sldId xmlns:r="http://schemas.openxmlformats.org/officeDocument/2006/relationships" id="258" r:id="R1a16eb12a2a34c9f"/>
    <p:sldId xmlns:r="http://schemas.openxmlformats.org/officeDocument/2006/relationships" id="259" r:id="R20b47d5f11c545a8"/>
    <p:sldId xmlns:r="http://schemas.openxmlformats.org/officeDocument/2006/relationships" id="260" r:id="R743d77ccb4044f57"/>
    <p:sldId xmlns:r="http://schemas.openxmlformats.org/officeDocument/2006/relationships" id="261" r:id="R385377aab3da4a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fe3e923338485d" /><Relationship Type="http://schemas.openxmlformats.org/officeDocument/2006/relationships/slideMaster" Target="/ppt/slideMasters/slideMaster1.xml" Id="R600b1503d2a943b5" /><Relationship Type="http://schemas.openxmlformats.org/officeDocument/2006/relationships/notesMaster" Target="/ppt/notesMasters/notesMaster1.xml" Id="R1cfbddc7a8384d59" /><Relationship Type="http://schemas.openxmlformats.org/officeDocument/2006/relationships/presProps" Target="/ppt/presProps.xml" Id="R171d0c9ed1fc47f3" /><Relationship Type="http://schemas.openxmlformats.org/officeDocument/2006/relationships/tableStyles" Target="/ppt/tableStyles.xml" Id="R302fe0c5ed404318" /><Relationship Type="http://schemas.openxmlformats.org/officeDocument/2006/relationships/slide" Target="/ppt/slides/slide1.xml" Id="Rb327cdbddfa8484f" /><Relationship Type="http://schemas.openxmlformats.org/officeDocument/2006/relationships/slide" Target="/ppt/slides/slide2.xml" Id="R28595dfc8a0c4b8f" /><Relationship Type="http://schemas.openxmlformats.org/officeDocument/2006/relationships/slide" Target="/ppt/slides/slide3.xml" Id="R1a16eb12a2a34c9f" /><Relationship Type="http://schemas.openxmlformats.org/officeDocument/2006/relationships/slide" Target="/ppt/slides/slide4.xml" Id="R20b47d5f11c545a8" /><Relationship Type="http://schemas.openxmlformats.org/officeDocument/2006/relationships/slide" Target="/ppt/slides/slide5.xml" Id="R743d77ccb4044f57" /><Relationship Type="http://schemas.openxmlformats.org/officeDocument/2006/relationships/slide" Target="/ppt/slides/slide6.xml" Id="R385377aab3da4a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e73faad8f944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4ca3b1769e4fd7" /><Relationship Type="http://schemas.openxmlformats.org/officeDocument/2006/relationships/notesMaster" Target="/ppt/notesMasters/notesMaster1.xml" Id="R913bfffa4b1f4e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1cff51d2f24ef0" /><Relationship Type="http://schemas.openxmlformats.org/officeDocument/2006/relationships/notesMaster" Target="/ppt/notesMasters/notesMaster1.xml" Id="Rd4e0dc9bc1e444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2b6554dfa347d8" /><Relationship Type="http://schemas.openxmlformats.org/officeDocument/2006/relationships/notesMaster" Target="/ppt/notesMasters/notesMaster1.xml" Id="R0f8487c536634c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e5471eac4d41db" /><Relationship Type="http://schemas.openxmlformats.org/officeDocument/2006/relationships/notesMaster" Target="/ppt/notesMasters/notesMaster1.xml" Id="R907f175679b94c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94c84ec363492a" /><Relationship Type="http://schemas.openxmlformats.org/officeDocument/2006/relationships/notesMaster" Target="/ppt/notesMasters/notesMaster1.xml" Id="Rd19e4a05ea7149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bdfef9e9fd4685" /><Relationship Type="http://schemas.openxmlformats.org/officeDocument/2006/relationships/notesMaster" Target="/ppt/notesMasters/notesMaster1.xml" Id="R05b3b736f98a4d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대본 없음. 왼쪽은 RESEARCH_FRONT_MATTER.md의 원문이며 오른쪽만 이해를 돕는 설명입니다.</a:t>
            </a:r>
          </a:p>
          <a:p xmlns:a="http://schemas.openxmlformats.org/drawingml/2006/main">
            <a:r>
              <a:t>원고 1쪽.</a:t>
            </a:r>
          </a:p>
          <a:p xmlns:a="http://schemas.openxmlformats.org/drawingml/2006/main">
            <a:r>
              <a:t/>
            </a:r>
          </a:p>
          <a:p xmlns:a="http://schemas.openxmlformats.org/drawingml/2006/main">
            <a:r>
              <a:t>참고문헌</a:t>
            </a:r>
          </a:p>
          <a:p xmlns:a="http://schemas.openxmlformats.org/drawingml/2006/main">
            <a:r>
              <a:t>[1] H. Jeong, H. Yoo, T. You, Y. Kim, and Y. H. Ahn, “Lost and Found Registration and Inquiry Management System for User-dependent Interface using Automatic Image Classification and Ranking System based on Deep Learning,” Journal of Convergence Security, Vol. 18, No. 4, pp. 19-25, 2018. https://www.kci.go.kr/kciportal/ci/sereArticleSearch/ciSereArtiView.kci?sereArticleSearchBean.artiId=ART002401814</a:t>
            </a:r>
          </a:p>
          <a:p xmlns:a="http://schemas.openxmlformats.org/drawingml/2006/main">
            <a:r>
              <a:t/>
            </a:r>
          </a:p>
          <a:p xmlns:a="http://schemas.openxmlformats.org/drawingml/2006/main">
            <a:r>
              <a:t>[2] H. S. Jang et al., “Implementation of a Deep OC-SORT based Multi-Object Tracking and Matching Algorithm for Managing Lost Items and Owners in Trains,” Journal of Korean Institute of Information Technology, Vol. 23, No. 2, pp. 165-176, 2025. https://doi.org/10.14801/jkiit.2025.23.2.165</a:t>
            </a:r>
          </a:p>
          <a:p xmlns:a="http://schemas.openxmlformats.org/drawingml/2006/main">
            <a:r>
              <a:t/>
            </a:r>
          </a:p>
          <a:p xmlns:a="http://schemas.openxmlformats.org/drawingml/2006/main">
            <a:r>
              <a:t>[3] 양형준, 최규상, “히스토그램 평활화 및 윤곽선 필터링을 활용한 차량 내 분실물 감지 시스템,” 한국정보기술학회 하계종합학술대회 논문집, pp. 1221-1224, 2025. https://www.dbpia.co.kr/journal/articleDetail?nodeId=NODE12288829</a:t>
            </a:r>
          </a:p>
          <a:p xmlns:a="http://schemas.openxmlformats.org/drawingml/2006/main">
            <a:r>
              <a:t/>
            </a:r>
          </a:p>
          <a:p xmlns:a="http://schemas.openxmlformats.org/drawingml/2006/main">
            <a:r>
              <a:t>[4] K. Toyama, J. Krumm, B. Brumitt, and B. Meyers, “Wallflower: Principles and Practice of Background Maintenance,” Proceedings of ICCV, Vol. 1, pp. 255-261, 1999. https://doi.org/10.1109/ICCV.1999.791228</a:t>
            </a:r>
          </a:p>
          <a:p xmlns:a="http://schemas.openxmlformats.org/drawingml/2006/main">
            <a:r>
              <a:t/>
            </a:r>
          </a:p>
          <a:p xmlns:a="http://schemas.openxmlformats.org/drawingml/2006/main">
            <a:r>
              <a:t>[5] M. Satyanarayanan, “The Emergence of Edge Computing,” Computer, Vol. 50, No. 1, pp. 30-39, 2017. https://doi.org/10.1109/MC.2017.9</a:t>
            </a:r>
          </a:p>
          <a:p xmlns:a="http://schemas.openxmlformats.org/drawingml/2006/main">
            <a:r>
              <a:t/>
            </a:r>
          </a:p>
          <a:p xmlns:a="http://schemas.openxmlformats.org/drawingml/2006/main">
            <a:r>
              <a:t>[6] D. Kang, J. Emmons, F. Abuzaid, P. Bailis, and M. Zaharia, “NoScope: Optimizing Neural Network Queries over Video at Scale,” Proceedings of the VLDB Endowment, Vol. 10, No. 11, pp. 1586-1597, 2017. https://doi.org/10.14778/3137628.3137664</a:t>
            </a:r>
          </a:p>
          <a:p xmlns:a="http://schemas.openxmlformats.org/drawingml/2006/main">
            <a:r>
              <a:t/>
            </a:r>
          </a:p>
          <a:p xmlns:a="http://schemas.openxmlformats.org/drawingml/2006/main">
            <a:r>
              <a:t>[7] Y. Li, A. Padmanabhan, P. Zhao, Y. Wang, G. H. Xu, and R. Netravali, “Reducto: On-Camera Filtering for Resource-Efficient Real-Time Video Analytics,” Proceedings of ACM SIGCOMM, pp. 359-376, 2020. https://doi.org/10.1145/3387514.3405874</a:t>
            </a:r>
          </a:p>
          <a:p xmlns:a="http://schemas.openxmlformats.org/drawingml/2006/main">
            <a:r>
              <a:t/>
            </a:r>
          </a:p>
          <a:p xmlns:a="http://schemas.openxmlformats.org/drawingml/2006/main">
            <a:r>
              <a:t>[8] J. Li, D. Li, S. Savarese, and S. Hoi, “BLIP-2: Bootstrapping Language-Image Pre-training with Frozen Image Encoders and Large Language Models,” Proceedings of ICML, PMLR, Vol. 202, pp. 19730-19742, 2023. https://proceedings.mlr.press/v202/li23q.html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대본 없음. 왼쪽은 RESEARCH_FRONT_MATTER.md의 원문이며 오른쪽만 이해를 돕는 설명입니다.</a:t>
            </a:r>
          </a:p>
          <a:p xmlns:a="http://schemas.openxmlformats.org/drawingml/2006/main">
            <a:r>
              <a:t>원고 2쪽.</a:t>
            </a:r>
          </a:p>
          <a:p xmlns:a="http://schemas.openxmlformats.org/drawingml/2006/main">
            <a:r>
              <a:t/>
            </a:r>
          </a:p>
          <a:p xmlns:a="http://schemas.openxmlformats.org/drawingml/2006/main">
            <a:r>
              <a:t>참고문헌</a:t>
            </a:r>
          </a:p>
          <a:p xmlns:a="http://schemas.openxmlformats.org/drawingml/2006/main">
            <a:r>
              <a:t>[1] H. Jeong, H. Yoo, T. You, Y. Kim, and Y. H. Ahn, “Lost and Found Registration and Inquiry Management System for User-dependent Interface using Automatic Image Classification and Ranking System based on Deep Learning,” Journal of Convergence Security, Vol. 18, No. 4, pp. 19-25, 2018. https://www.kci.go.kr/kciportal/ci/sereArticleSearch/ciSereArtiView.kci?sereArticleSearchBean.artiId=ART002401814</a:t>
            </a:r>
          </a:p>
          <a:p xmlns:a="http://schemas.openxmlformats.org/drawingml/2006/main">
            <a:r>
              <a:t/>
            </a:r>
          </a:p>
          <a:p xmlns:a="http://schemas.openxmlformats.org/drawingml/2006/main">
            <a:r>
              <a:t>[2] H. S. Jang et al., “Implementation of a Deep OC-SORT based Multi-Object Tracking and Matching Algorithm for Managing Lost Items and Owners in Trains,” Journal of Korean Institute of Information Technology, Vol. 23, No. 2, pp. 165-176, 2025. https://doi.org/10.14801/jkiit.2025.23.2.165</a:t>
            </a:r>
          </a:p>
          <a:p xmlns:a="http://schemas.openxmlformats.org/drawingml/2006/main">
            <a:r>
              <a:t/>
            </a:r>
          </a:p>
          <a:p xmlns:a="http://schemas.openxmlformats.org/drawingml/2006/main">
            <a:r>
              <a:t>[3] 양형준, 최규상, “히스토그램 평활화 및 윤곽선 필터링을 활용한 차량 내 분실물 감지 시스템,” 한국정보기술학회 하계종합학술대회 논문집, pp. 1221-1224, 2025. https://www.dbpia.co.kr/journal/articleDetail?nodeId=NODE12288829</a:t>
            </a:r>
          </a:p>
          <a:p xmlns:a="http://schemas.openxmlformats.org/drawingml/2006/main">
            <a:r>
              <a:t/>
            </a:r>
          </a:p>
          <a:p xmlns:a="http://schemas.openxmlformats.org/drawingml/2006/main">
            <a:r>
              <a:t>[4] K. Toyama, J. Krumm, B. Brumitt, and B. Meyers, “Wallflower: Principles and Practice of Background Maintenance,” Proceedings of ICCV, Vol. 1, pp. 255-261, 1999. https://doi.org/10.1109/ICCV.1999.791228</a:t>
            </a:r>
          </a:p>
          <a:p xmlns:a="http://schemas.openxmlformats.org/drawingml/2006/main">
            <a:r>
              <a:t/>
            </a:r>
          </a:p>
          <a:p xmlns:a="http://schemas.openxmlformats.org/drawingml/2006/main">
            <a:r>
              <a:t>[5] M. Satyanarayanan, “The Emergence of Edge Computing,” Computer, Vol. 50, No. 1, pp. 30-39, 2017. https://doi.org/10.1109/MC.2017.9</a:t>
            </a:r>
          </a:p>
          <a:p xmlns:a="http://schemas.openxmlformats.org/drawingml/2006/main">
            <a:r>
              <a:t/>
            </a:r>
          </a:p>
          <a:p xmlns:a="http://schemas.openxmlformats.org/drawingml/2006/main">
            <a:r>
              <a:t>[6] D. Kang, J. Emmons, F. Abuzaid, P. Bailis, and M. Zaharia, “NoScope: Optimizing Neural Network Queries over Video at Scale,” Proceedings of the VLDB Endowment, Vol. 10, No. 11, pp. 1586-1597, 2017. https://doi.org/10.14778/3137628.3137664</a:t>
            </a:r>
          </a:p>
          <a:p xmlns:a="http://schemas.openxmlformats.org/drawingml/2006/main">
            <a:r>
              <a:t/>
            </a:r>
          </a:p>
          <a:p xmlns:a="http://schemas.openxmlformats.org/drawingml/2006/main">
            <a:r>
              <a:t>[7] Y. Li, A. Padmanabhan, P. Zhao, Y. Wang, G. H. Xu, and R. Netravali, “Reducto: On-Camera Filtering for Resource-Efficient Real-Time Video Analytics,” Proceedings of ACM SIGCOMM, pp. 359-376, 2020. https://doi.org/10.1145/3387514.3405874</a:t>
            </a:r>
          </a:p>
          <a:p xmlns:a="http://schemas.openxmlformats.org/drawingml/2006/main">
            <a:r>
              <a:t/>
            </a:r>
          </a:p>
          <a:p xmlns:a="http://schemas.openxmlformats.org/drawingml/2006/main">
            <a:r>
              <a:t>[8] J. Li, D. Li, S. Savarese, and S. Hoi, “BLIP-2: Bootstrapping Language-Image Pre-training with Frozen Image Encoders and Large Language Models,” Proceedings of ICML, PMLR, Vol. 202, pp. 19730-19742, 2023. https://proceedings.mlr.press/v202/li23q.html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대본 없음. 왼쪽은 RESEARCH_FRONT_MATTER.md의 원문이며 오른쪽만 이해를 돕는 설명입니다.</a:t>
            </a:r>
          </a:p>
          <a:p xmlns:a="http://schemas.openxmlformats.org/drawingml/2006/main">
            <a:r>
              <a:t>원고 2쪽.</a:t>
            </a:r>
          </a:p>
          <a:p xmlns:a="http://schemas.openxmlformats.org/drawingml/2006/main">
            <a:r>
              <a:t/>
            </a:r>
          </a:p>
          <a:p xmlns:a="http://schemas.openxmlformats.org/drawingml/2006/main">
            <a:r>
              <a:t>참고문헌</a:t>
            </a:r>
          </a:p>
          <a:p xmlns:a="http://schemas.openxmlformats.org/drawingml/2006/main">
            <a:r>
              <a:t>[1] H. Jeong, H. Yoo, T. You, Y. Kim, and Y. H. Ahn, “Lost and Found Registration and Inquiry Management System for User-dependent Interface using Automatic Image Classification and Ranking System based on Deep Learning,” Journal of Convergence Security, Vol. 18, No. 4, pp. 19-25, 2018. https://www.kci.go.kr/kciportal/ci/sereArticleSearch/ciSereArtiView.kci?sereArticleSearchBean.artiId=ART002401814</a:t>
            </a:r>
          </a:p>
          <a:p xmlns:a="http://schemas.openxmlformats.org/drawingml/2006/main">
            <a:r>
              <a:t/>
            </a:r>
          </a:p>
          <a:p xmlns:a="http://schemas.openxmlformats.org/drawingml/2006/main">
            <a:r>
              <a:t>[2] H. S. Jang et al., “Implementation of a Deep OC-SORT based Multi-Object Tracking and Matching Algorithm for Managing Lost Items and Owners in Trains,” Journal of Korean Institute of Information Technology, Vol. 23, No. 2, pp. 165-176, 2025. https://doi.org/10.14801/jkiit.2025.23.2.165</a:t>
            </a:r>
          </a:p>
          <a:p xmlns:a="http://schemas.openxmlformats.org/drawingml/2006/main">
            <a:r>
              <a:t/>
            </a:r>
          </a:p>
          <a:p xmlns:a="http://schemas.openxmlformats.org/drawingml/2006/main">
            <a:r>
              <a:t>[3] 양형준, 최규상, “히스토그램 평활화 및 윤곽선 필터링을 활용한 차량 내 분실물 감지 시스템,” 한국정보기술학회 하계종합학술대회 논문집, pp. 1221-1224, 2025. https://www.dbpia.co.kr/journal/articleDetail?nodeId=NODE12288829</a:t>
            </a:r>
          </a:p>
          <a:p xmlns:a="http://schemas.openxmlformats.org/drawingml/2006/main">
            <a:r>
              <a:t/>
            </a:r>
          </a:p>
          <a:p xmlns:a="http://schemas.openxmlformats.org/drawingml/2006/main">
            <a:r>
              <a:t>[4] K. Toyama, J. Krumm, B. Brumitt, and B. Meyers, “Wallflower: Principles and Practice of Background Maintenance,” Proceedings of ICCV, Vol. 1, pp. 255-261, 1999. https://doi.org/10.1109/ICCV.1999.791228</a:t>
            </a:r>
          </a:p>
          <a:p xmlns:a="http://schemas.openxmlformats.org/drawingml/2006/main">
            <a:r>
              <a:t/>
            </a:r>
          </a:p>
          <a:p xmlns:a="http://schemas.openxmlformats.org/drawingml/2006/main">
            <a:r>
              <a:t>[5] M. Satyanarayanan, “The Emergence of Edge Computing,” Computer, Vol. 50, No. 1, pp. 30-39, 2017. https://doi.org/10.1109/MC.2017.9</a:t>
            </a:r>
          </a:p>
          <a:p xmlns:a="http://schemas.openxmlformats.org/drawingml/2006/main">
            <a:r>
              <a:t/>
            </a:r>
          </a:p>
          <a:p xmlns:a="http://schemas.openxmlformats.org/drawingml/2006/main">
            <a:r>
              <a:t>[6] D. Kang, J. Emmons, F. Abuzaid, P. Bailis, and M. Zaharia, “NoScope: Optimizing Neural Network Queries over Video at Scale,” Proceedings of the VLDB Endowment, Vol. 10, No. 11, pp. 1586-1597, 2017. https://doi.org/10.14778/3137628.3137664</a:t>
            </a:r>
          </a:p>
          <a:p xmlns:a="http://schemas.openxmlformats.org/drawingml/2006/main">
            <a:r>
              <a:t/>
            </a:r>
          </a:p>
          <a:p xmlns:a="http://schemas.openxmlformats.org/drawingml/2006/main">
            <a:r>
              <a:t>[7] Y. Li, A. Padmanabhan, P. Zhao, Y. Wang, G. H. Xu, and R. Netravali, “Reducto: On-Camera Filtering for Resource-Efficient Real-Time Video Analytics,” Proceedings of ACM SIGCOMM, pp. 359-376, 2020. https://doi.org/10.1145/3387514.3405874</a:t>
            </a:r>
          </a:p>
          <a:p xmlns:a="http://schemas.openxmlformats.org/drawingml/2006/main">
            <a:r>
              <a:t/>
            </a:r>
          </a:p>
          <a:p xmlns:a="http://schemas.openxmlformats.org/drawingml/2006/main">
            <a:r>
              <a:t>[8] J. Li, D. Li, S. Savarese, and S. Hoi, “BLIP-2: Bootstrapping Language-Image Pre-training with Frozen Image Encoders and Large Language Models,” Proceedings of ICML, PMLR, Vol. 202, pp. 19730-19742, 2023. https://proceedings.mlr.press/v202/li23q.html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대본 없음. 왼쪽은 RESEARCH_FRONT_MATTER.md의 원문이며 오른쪽만 이해를 돕는 설명입니다.</a:t>
            </a:r>
          </a:p>
          <a:p xmlns:a="http://schemas.openxmlformats.org/drawingml/2006/main">
            <a:r>
              <a:t>원고 3쪽.</a:t>
            </a:r>
          </a:p>
          <a:p xmlns:a="http://schemas.openxmlformats.org/drawingml/2006/main">
            <a:r>
              <a:t/>
            </a:r>
          </a:p>
          <a:p xmlns:a="http://schemas.openxmlformats.org/drawingml/2006/main">
            <a:r>
              <a:t>참고문헌</a:t>
            </a:r>
          </a:p>
          <a:p xmlns:a="http://schemas.openxmlformats.org/drawingml/2006/main">
            <a:r>
              <a:t>[1] H. Jeong, H. Yoo, T. You, Y. Kim, and Y. H. Ahn, “Lost and Found Registration and Inquiry Management System for User-dependent Interface using Automatic Image Classification and Ranking System based on Deep Learning,” Journal of Convergence Security, Vol. 18, No. 4, pp. 19-25, 2018. https://www.kci.go.kr/kciportal/ci/sereArticleSearch/ciSereArtiView.kci?sereArticleSearchBean.artiId=ART002401814</a:t>
            </a:r>
          </a:p>
          <a:p xmlns:a="http://schemas.openxmlformats.org/drawingml/2006/main">
            <a:r>
              <a:t/>
            </a:r>
          </a:p>
          <a:p xmlns:a="http://schemas.openxmlformats.org/drawingml/2006/main">
            <a:r>
              <a:t>[2] H. S. Jang et al., “Implementation of a Deep OC-SORT based Multi-Object Tracking and Matching Algorithm for Managing Lost Items and Owners in Trains,” Journal of Korean Institute of Information Technology, Vol. 23, No. 2, pp. 165-176, 2025. https://doi.org/10.14801/jkiit.2025.23.2.165</a:t>
            </a:r>
          </a:p>
          <a:p xmlns:a="http://schemas.openxmlformats.org/drawingml/2006/main">
            <a:r>
              <a:t/>
            </a:r>
          </a:p>
          <a:p xmlns:a="http://schemas.openxmlformats.org/drawingml/2006/main">
            <a:r>
              <a:t>[3] 양형준, 최규상, “히스토그램 평활화 및 윤곽선 필터링을 활용한 차량 내 분실물 감지 시스템,” 한국정보기술학회 하계종합학술대회 논문집, pp. 1221-1224, 2025. https://www.dbpia.co.kr/journal/articleDetail?nodeId=NODE12288829</a:t>
            </a:r>
          </a:p>
          <a:p xmlns:a="http://schemas.openxmlformats.org/drawingml/2006/main">
            <a:r>
              <a:t/>
            </a:r>
          </a:p>
          <a:p xmlns:a="http://schemas.openxmlformats.org/drawingml/2006/main">
            <a:r>
              <a:t>[4] K. Toyama, J. Krumm, B. Brumitt, and B. Meyers, “Wallflower: Principles and Practice of Background Maintenance,” Proceedings of ICCV, Vol. 1, pp. 255-261, 1999. https://doi.org/10.1109/ICCV.1999.791228</a:t>
            </a:r>
          </a:p>
          <a:p xmlns:a="http://schemas.openxmlformats.org/drawingml/2006/main">
            <a:r>
              <a:t/>
            </a:r>
          </a:p>
          <a:p xmlns:a="http://schemas.openxmlformats.org/drawingml/2006/main">
            <a:r>
              <a:t>[5] M. Satyanarayanan, “The Emergence of Edge Computing,” Computer, Vol. 50, No. 1, pp. 30-39, 2017. https://doi.org/10.1109/MC.2017.9</a:t>
            </a:r>
          </a:p>
          <a:p xmlns:a="http://schemas.openxmlformats.org/drawingml/2006/main">
            <a:r>
              <a:t/>
            </a:r>
          </a:p>
          <a:p xmlns:a="http://schemas.openxmlformats.org/drawingml/2006/main">
            <a:r>
              <a:t>[6] D. Kang, J. Emmons, F. Abuzaid, P. Bailis, and M. Zaharia, “NoScope: Optimizing Neural Network Queries over Video at Scale,” Proceedings of the VLDB Endowment, Vol. 10, No. 11, pp. 1586-1597, 2017. https://doi.org/10.14778/3137628.3137664</a:t>
            </a:r>
          </a:p>
          <a:p xmlns:a="http://schemas.openxmlformats.org/drawingml/2006/main">
            <a:r>
              <a:t/>
            </a:r>
          </a:p>
          <a:p xmlns:a="http://schemas.openxmlformats.org/drawingml/2006/main">
            <a:r>
              <a:t>[7] Y. Li, A. Padmanabhan, P. Zhao, Y. Wang, G. H. Xu, and R. Netravali, “Reducto: On-Camera Filtering for Resource-Efficient Real-Time Video Analytics,” Proceedings of ACM SIGCOMM, pp. 359-376, 2020. https://doi.org/10.1145/3387514.3405874</a:t>
            </a:r>
          </a:p>
          <a:p xmlns:a="http://schemas.openxmlformats.org/drawingml/2006/main">
            <a:r>
              <a:t/>
            </a:r>
          </a:p>
          <a:p xmlns:a="http://schemas.openxmlformats.org/drawingml/2006/main">
            <a:r>
              <a:t>[8] J. Li, D. Li, S. Savarese, and S. Hoi, “BLIP-2: Bootstrapping Language-Image Pre-training with Frozen Image Encoders and Large Language Models,” Proceedings of ICML, PMLR, Vol. 202, pp. 19730-19742, 2023. https://proceedings.mlr.press/v202/li23q.html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대본 없음. 왼쪽은 RESEARCH_FRONT_MATTER.md의 원문이며 오른쪽만 이해를 돕는 설명입니다.</a:t>
            </a:r>
          </a:p>
          <a:p xmlns:a="http://schemas.openxmlformats.org/drawingml/2006/main">
            <a:r>
              <a:t>원고 3쪽.</a:t>
            </a:r>
          </a:p>
          <a:p xmlns:a="http://schemas.openxmlformats.org/drawingml/2006/main">
            <a:r>
              <a:t/>
            </a:r>
          </a:p>
          <a:p xmlns:a="http://schemas.openxmlformats.org/drawingml/2006/main">
            <a:r>
              <a:t>참고문헌</a:t>
            </a:r>
          </a:p>
          <a:p xmlns:a="http://schemas.openxmlformats.org/drawingml/2006/main">
            <a:r>
              <a:t>[1] H. Jeong, H. Yoo, T. You, Y. Kim, and Y. H. Ahn, “Lost and Found Registration and Inquiry Management System for User-dependent Interface using Automatic Image Classification and Ranking System based on Deep Learning,” Journal of Convergence Security, Vol. 18, No. 4, pp. 19-25, 2018. https://www.kci.go.kr/kciportal/ci/sereArticleSearch/ciSereArtiView.kci?sereArticleSearchBean.artiId=ART002401814</a:t>
            </a:r>
          </a:p>
          <a:p xmlns:a="http://schemas.openxmlformats.org/drawingml/2006/main">
            <a:r>
              <a:t/>
            </a:r>
          </a:p>
          <a:p xmlns:a="http://schemas.openxmlformats.org/drawingml/2006/main">
            <a:r>
              <a:t>[2] H. S. Jang et al., “Implementation of a Deep OC-SORT based Multi-Object Tracking and Matching Algorithm for Managing Lost Items and Owners in Trains,” Journal of Korean Institute of Information Technology, Vol. 23, No. 2, pp. 165-176, 2025. https://doi.org/10.14801/jkiit.2025.23.2.165</a:t>
            </a:r>
          </a:p>
          <a:p xmlns:a="http://schemas.openxmlformats.org/drawingml/2006/main">
            <a:r>
              <a:t/>
            </a:r>
          </a:p>
          <a:p xmlns:a="http://schemas.openxmlformats.org/drawingml/2006/main">
            <a:r>
              <a:t>[3] 양형준, 최규상, “히스토그램 평활화 및 윤곽선 필터링을 활용한 차량 내 분실물 감지 시스템,” 한국정보기술학회 하계종합학술대회 논문집, pp. 1221-1224, 2025. https://www.dbpia.co.kr/journal/articleDetail?nodeId=NODE12288829</a:t>
            </a:r>
          </a:p>
          <a:p xmlns:a="http://schemas.openxmlformats.org/drawingml/2006/main">
            <a:r>
              <a:t/>
            </a:r>
          </a:p>
          <a:p xmlns:a="http://schemas.openxmlformats.org/drawingml/2006/main">
            <a:r>
              <a:t>[4] K. Toyama, J. Krumm, B. Brumitt, and B. Meyers, “Wallflower: Principles and Practice of Background Maintenance,” Proceedings of ICCV, Vol. 1, pp. 255-261, 1999. https://doi.org/10.1109/ICCV.1999.791228</a:t>
            </a:r>
          </a:p>
          <a:p xmlns:a="http://schemas.openxmlformats.org/drawingml/2006/main">
            <a:r>
              <a:t/>
            </a:r>
          </a:p>
          <a:p xmlns:a="http://schemas.openxmlformats.org/drawingml/2006/main">
            <a:r>
              <a:t>[5] M. Satyanarayanan, “The Emergence of Edge Computing,” Computer, Vol. 50, No. 1, pp. 30-39, 2017. https://doi.org/10.1109/MC.2017.9</a:t>
            </a:r>
          </a:p>
          <a:p xmlns:a="http://schemas.openxmlformats.org/drawingml/2006/main">
            <a:r>
              <a:t/>
            </a:r>
          </a:p>
          <a:p xmlns:a="http://schemas.openxmlformats.org/drawingml/2006/main">
            <a:r>
              <a:t>[6] D. Kang, J. Emmons, F. Abuzaid, P. Bailis, and M. Zaharia, “NoScope: Optimizing Neural Network Queries over Video at Scale,” Proceedings of the VLDB Endowment, Vol. 10, No. 11, pp. 1586-1597, 2017. https://doi.org/10.14778/3137628.3137664</a:t>
            </a:r>
          </a:p>
          <a:p xmlns:a="http://schemas.openxmlformats.org/drawingml/2006/main">
            <a:r>
              <a:t/>
            </a:r>
          </a:p>
          <a:p xmlns:a="http://schemas.openxmlformats.org/drawingml/2006/main">
            <a:r>
              <a:t>[7] Y. Li, A. Padmanabhan, P. Zhao, Y. Wang, G. H. Xu, and R. Netravali, “Reducto: On-Camera Filtering for Resource-Efficient Real-Time Video Analytics,” Proceedings of ACM SIGCOMM, pp. 359-376, 2020. https://doi.org/10.1145/3387514.3405874</a:t>
            </a:r>
          </a:p>
          <a:p xmlns:a="http://schemas.openxmlformats.org/drawingml/2006/main">
            <a:r>
              <a:t/>
            </a:r>
          </a:p>
          <a:p xmlns:a="http://schemas.openxmlformats.org/drawingml/2006/main">
            <a:r>
              <a:t>[8] J. Li, D. Li, S. Savarese, and S. Hoi, “BLIP-2: Bootstrapping Language-Image Pre-training with Frozen Image Encoders and Large Language Models,” Proceedings of ICML, PMLR, Vol. 202, pp. 19730-19742, 2023. https://proceedings.mlr.press/v202/li23q.html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대본 없음. 왼쪽은 RESEARCH_FRONT_MATTER.md의 원문이며 오른쪽만 이해를 돕는 설명입니다.</a:t>
            </a:r>
          </a:p>
          <a:p xmlns:a="http://schemas.openxmlformats.org/drawingml/2006/main">
            <a:r>
              <a:t>원고 4쪽.</a:t>
            </a:r>
          </a:p>
          <a:p xmlns:a="http://schemas.openxmlformats.org/drawingml/2006/main">
            <a:r>
              <a:t/>
            </a:r>
          </a:p>
          <a:p xmlns:a="http://schemas.openxmlformats.org/drawingml/2006/main">
            <a:r>
              <a:t>참고문헌</a:t>
            </a:r>
          </a:p>
          <a:p xmlns:a="http://schemas.openxmlformats.org/drawingml/2006/main">
            <a:r>
              <a:t>[1] H. Jeong, H. Yoo, T. You, Y. Kim, and Y. H. Ahn, “Lost and Found Registration and Inquiry Management System for User-dependent Interface using Automatic Image Classification and Ranking System based on Deep Learning,” Journal of Convergence Security, Vol. 18, No. 4, pp. 19-25, 2018. https://www.kci.go.kr/kciportal/ci/sereArticleSearch/ciSereArtiView.kci?sereArticleSearchBean.artiId=ART002401814</a:t>
            </a:r>
          </a:p>
          <a:p xmlns:a="http://schemas.openxmlformats.org/drawingml/2006/main">
            <a:r>
              <a:t/>
            </a:r>
          </a:p>
          <a:p xmlns:a="http://schemas.openxmlformats.org/drawingml/2006/main">
            <a:r>
              <a:t>[2] H. S. Jang et al., “Implementation of a Deep OC-SORT based Multi-Object Tracking and Matching Algorithm for Managing Lost Items and Owners in Trains,” Journal of Korean Institute of Information Technology, Vol. 23, No. 2, pp. 165-176, 2025. https://doi.org/10.14801/jkiit.2025.23.2.165</a:t>
            </a:r>
          </a:p>
          <a:p xmlns:a="http://schemas.openxmlformats.org/drawingml/2006/main">
            <a:r>
              <a:t/>
            </a:r>
          </a:p>
          <a:p xmlns:a="http://schemas.openxmlformats.org/drawingml/2006/main">
            <a:r>
              <a:t>[3] 양형준, 최규상, “히스토그램 평활화 및 윤곽선 필터링을 활용한 차량 내 분실물 감지 시스템,” 한국정보기술학회 하계종합학술대회 논문집, pp. 1221-1224, 2025. https://www.dbpia.co.kr/journal/articleDetail?nodeId=NODE12288829</a:t>
            </a:r>
          </a:p>
          <a:p xmlns:a="http://schemas.openxmlformats.org/drawingml/2006/main">
            <a:r>
              <a:t/>
            </a:r>
          </a:p>
          <a:p xmlns:a="http://schemas.openxmlformats.org/drawingml/2006/main">
            <a:r>
              <a:t>[4] K. Toyama, J. Krumm, B. Brumitt, and B. Meyers, “Wallflower: Principles and Practice of Background Maintenance,” Proceedings of ICCV, Vol. 1, pp. 255-261, 1999. https://doi.org/10.1109/ICCV.1999.791228</a:t>
            </a:r>
          </a:p>
          <a:p xmlns:a="http://schemas.openxmlformats.org/drawingml/2006/main">
            <a:r>
              <a:t/>
            </a:r>
          </a:p>
          <a:p xmlns:a="http://schemas.openxmlformats.org/drawingml/2006/main">
            <a:r>
              <a:t>[5] M. Satyanarayanan, “The Emergence of Edge Computing,” Computer, Vol. 50, No. 1, pp. 30-39, 2017. https://doi.org/10.1109/MC.2017.9</a:t>
            </a:r>
          </a:p>
          <a:p xmlns:a="http://schemas.openxmlformats.org/drawingml/2006/main">
            <a:r>
              <a:t/>
            </a:r>
          </a:p>
          <a:p xmlns:a="http://schemas.openxmlformats.org/drawingml/2006/main">
            <a:r>
              <a:t>[6] D. Kang, J. Emmons, F. Abuzaid, P. Bailis, and M. Zaharia, “NoScope: Optimizing Neural Network Queries over Video at Scale,” Proceedings of the VLDB Endowment, Vol. 10, No. 11, pp. 1586-1597, 2017. https://doi.org/10.14778/3137628.3137664</a:t>
            </a:r>
          </a:p>
          <a:p xmlns:a="http://schemas.openxmlformats.org/drawingml/2006/main">
            <a:r>
              <a:t/>
            </a:r>
          </a:p>
          <a:p xmlns:a="http://schemas.openxmlformats.org/drawingml/2006/main">
            <a:r>
              <a:t>[7] Y. Li, A. Padmanabhan, P. Zhao, Y. Wang, G. H. Xu, and R. Netravali, “Reducto: On-Camera Filtering for Resource-Efficient Real-Time Video Analytics,” Proceedings of ACM SIGCOMM, pp. 359-376, 2020. https://doi.org/10.1145/3387514.3405874</a:t>
            </a:r>
          </a:p>
          <a:p xmlns:a="http://schemas.openxmlformats.org/drawingml/2006/main">
            <a:r>
              <a:t/>
            </a:r>
          </a:p>
          <a:p xmlns:a="http://schemas.openxmlformats.org/drawingml/2006/main">
            <a:r>
              <a:t>[8] J. Li, D. Li, S. Savarese, and S. Hoi, “BLIP-2: Bootstrapping Language-Image Pre-training with Frozen Image Encoders and Large Language Models,” Proceedings of ICML, PMLR, Vol. 202, pp. 19730-19742, 2023. https://proceedings.mlr.press/v202/li23q.html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26c708000949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c04c7cbac7419a" /><Relationship Type="http://schemas.openxmlformats.org/officeDocument/2006/relationships/slideLayout" Target="/ppt/slideLayouts/slideLayout1.xml" Id="R2643542587f54b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43542587f54b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a4aab6e21a4a8d" /><Relationship Type="http://schemas.openxmlformats.org/officeDocument/2006/relationships/notesSlide" Target="/ppt/notesSlides/notesSlide1.xml" Id="R7193f13709114a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677bb82be7470f" /><Relationship Type="http://schemas.openxmlformats.org/officeDocument/2006/relationships/notesSlide" Target="/ppt/notesSlides/notesSlide2.xml" Id="R51e5db06b01641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7644f24f34400d" /><Relationship Type="http://schemas.openxmlformats.org/officeDocument/2006/relationships/notesSlide" Target="/ppt/notesSlides/notesSlide3.xml" Id="R52453b697e2f4c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f3a229258e4ac1" /><Relationship Type="http://schemas.openxmlformats.org/officeDocument/2006/relationships/notesSlide" Target="/ppt/notesSlides/notesSlide4.xml" Id="R3ca19dfde5294c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7d7f6258604063" /><Relationship Type="http://schemas.openxmlformats.org/officeDocument/2006/relationships/notesSlide" Target="/ppt/notesSlides/notesSlide5.xml" Id="Rd97929eb7dbe4e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2d592f9f5d45bc" /><Relationship Type="http://schemas.openxmlformats.org/officeDocument/2006/relationships/notesSlide" Target="/ppt/notesSlides/notesSlide6.xml" Id="R67f119d3b3d94a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31C56B-32E5-4BCE-AD1F-ADC6B5968F34}"/>
              </a:ext>
            </a:extLst>
          </p:cNvPr>
          <p:cNvSpPr>
            <a:spLocks xmlns:a="http://schemas.openxmlformats.org/drawingml/2006/main" noGrp="1"/>
          </p:cNvSpPr>
          <p:nvPr/>
        </p:nvSpPr>
        <p:spPr>
          <a:xfrm xmlns:a="http://schemas.openxmlformats.org/drawingml/2006/main">
            <a:off x="533400" y="323850"/>
            <a:ext cx="285750" cy="38100"/>
          </a:xfrm>
          <a:prstGeom xmlns:a="http://schemas.openxmlformats.org/drawingml/2006/main" prst="rect">
            <a:avLst/>
          </a:prstGeom>
          <a:solidFill xmlns:a="http://schemas.openxmlformats.org/drawingml/2006/main">
            <a:srgbClr val="186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1DBFC8-9E3B-48FF-860C-FBDA43BE6D76}"/>
              </a:ext>
            </a:extLst>
          </p:cNvPr>
          <p:cNvSpPr>
            <a:spLocks xmlns:a="http://schemas.openxmlformats.org/drawingml/2006/main" noGrp="1"/>
          </p:cNvSpPr>
          <p:nvPr/>
        </p:nvSpPr>
        <p:spPr>
          <a:xfrm xmlns:a="http://schemas.openxmlformats.org/drawingml/2006/main">
            <a:off x="942975" y="21907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Re:Found  /  연구방법 이전 원고</a:t>
            </a:r>
          </a:p>
        </p:txBody>
      </p:sp>
      <p:sp>
        <p:nvSpPr>
          <p:cNvPr id="3" name="">
            <a:extLst xmlns:a="http://schemas.openxmlformats.org/drawingml/2006/main">
              <a:ext uri="{FF2B5EF4-FFF2-40B4-BE49-F238E27FC236}">
                <a16:creationId xmlns:a16="http://schemas.microsoft.com/office/drawing/2014/main" id="{C3FB6BE2-C41B-4C99-A316-FDE8ED9191E9}"/>
              </a:ext>
            </a:extLst>
          </p:cNvPr>
          <p:cNvSpPr>
            <a:spLocks xmlns:a="http://schemas.openxmlformats.org/drawingml/2006/main" noGrp="1"/>
          </p:cNvSpPr>
          <p:nvPr/>
        </p:nvSpPr>
        <p:spPr>
          <a:xfrm xmlns:a="http://schemas.openxmlformats.org/drawingml/2006/main">
            <a:off x="533400" y="647700"/>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250" b="1">
                <a:solidFill>
                  <a:srgbClr val="223848"/>
                </a:solidFill>
                <a:latin typeface="Malgun Gothic"/>
                <a:ea typeface="Malgun Gothic"/>
                <a:cs typeface="Malgun Gothic"/>
              </a:defRPr>
            </a:pPr>
            <a:r>
              <a:rPr sz="2250" b="1">
                <a:solidFill>
                  <a:srgbClr val="223848"/>
                </a:solidFill>
                <a:latin typeface="Malgun Gothic"/>
                <a:ea typeface="Malgun Gothic"/>
                <a:cs typeface="Malgun Gothic"/>
              </a:rPr>
              <a:t>저사양 엣지 장치에서의 사건 기반 장면 변화 감지와</a:t>
            </a:r>
          </a:p>
          <a:p xmlns:a="http://schemas.openxmlformats.org/drawingml/2006/main">
            <a:pPr>
              <a:lnSpc>
                <a:spcPct val="120000"/>
              </a:lnSpc>
              <a:buNone/>
              <a:defRPr sz="2250" b="1">
                <a:solidFill>
                  <a:srgbClr val="223848"/>
                </a:solidFill>
                <a:latin typeface="Malgun Gothic"/>
                <a:ea typeface="Malgun Gothic"/>
                <a:cs typeface="Malgun Gothic"/>
              </a:defRPr>
            </a:pPr>
            <a:r>
              <a:rPr sz="2250" b="1">
                <a:solidFill>
                  <a:srgbClr val="223848"/>
                </a:solidFill>
                <a:latin typeface="Malgun Gothic"/>
                <a:ea typeface="Malgun Gothic"/>
                <a:cs typeface="Malgun Gothic"/>
              </a:rPr>
              <a:t>선택적 멀티모달 추론을 이용한 분실물 관리 시스템</a:t>
            </a:r>
          </a:p>
        </p:txBody>
      </p:sp>
      <p:sp>
        <p:nvSpPr>
          <p:cNvPr id="4" name="">
            <a:extLst xmlns:a="http://schemas.openxmlformats.org/drawingml/2006/main">
              <a:ext uri="{FF2B5EF4-FFF2-40B4-BE49-F238E27FC236}">
                <a16:creationId xmlns:a16="http://schemas.microsoft.com/office/drawing/2014/main" id="{1624EB2A-609D-4485-ACBD-9CCCBC414E2E}"/>
              </a:ext>
            </a:extLst>
          </p:cNvPr>
          <p:cNvSpPr>
            <a:spLocks xmlns:a="http://schemas.openxmlformats.org/drawingml/2006/main" noGrp="1"/>
          </p:cNvSpPr>
          <p:nvPr/>
        </p:nvSpPr>
        <p:spPr>
          <a:xfrm xmlns:a="http://schemas.openxmlformats.org/drawingml/2006/main">
            <a:off x="533400" y="16573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요약 · 원문</a:t>
            </a:r>
          </a:p>
        </p:txBody>
      </p:sp>
      <p:sp>
        <p:nvSpPr>
          <p:cNvPr id="5" name="">
            <a:extLst xmlns:a="http://schemas.openxmlformats.org/drawingml/2006/main">
              <a:ext uri="{FF2B5EF4-FFF2-40B4-BE49-F238E27FC236}">
                <a16:creationId xmlns:a16="http://schemas.microsoft.com/office/drawing/2014/main" id="{05023B84-4036-4B7B-A7FA-2454035112F4}"/>
              </a:ext>
            </a:extLst>
          </p:cNvPr>
          <p:cNvSpPr>
            <a:spLocks xmlns:a="http://schemas.openxmlformats.org/drawingml/2006/main" noGrp="1"/>
          </p:cNvSpPr>
          <p:nvPr/>
        </p:nvSpPr>
        <p:spPr>
          <a:xfrm xmlns:a="http://schemas.openxmlformats.org/drawingml/2006/main">
            <a:off x="8791575" y="1676400"/>
            <a:ext cx="9525" cy="4514850"/>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AF2A737-1E3E-4DA5-86F5-693F943A79DA}"/>
              </a:ext>
            </a:extLst>
          </p:cNvPr>
          <p:cNvSpPr>
            <a:spLocks xmlns:a="http://schemas.openxmlformats.org/drawingml/2006/main" noGrp="1"/>
          </p:cNvSpPr>
          <p:nvPr/>
        </p:nvSpPr>
        <p:spPr>
          <a:xfrm xmlns:a="http://schemas.openxmlformats.org/drawingml/2006/main">
            <a:off x="9105900" y="1657350"/>
            <a:ext cx="255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75" b="1">
                <a:solidFill>
                  <a:srgbClr val="186D78"/>
                </a:solidFill>
                <a:latin typeface="Malgun Gothic"/>
                <a:ea typeface="Malgun Gothic"/>
                <a:cs typeface="Malgun Gothic"/>
              </a:defRPr>
            </a:pPr>
            <a:r>
              <a:rPr sz="1275" b="1">
                <a:solidFill>
                  <a:srgbClr val="186D78"/>
                </a:solidFill>
                <a:latin typeface="Malgun Gothic"/>
                <a:ea typeface="Malgun Gothic"/>
                <a:cs typeface="Malgun Gothic"/>
              </a:rPr>
              <a:t>이해를 돕는 설명</a:t>
            </a:r>
          </a:p>
        </p:txBody>
      </p:sp>
      <p:sp>
        <p:nvSpPr>
          <p:cNvPr id="7" name="">
            <a:extLst xmlns:a="http://schemas.openxmlformats.org/drawingml/2006/main">
              <a:ext uri="{FF2B5EF4-FFF2-40B4-BE49-F238E27FC236}">
                <a16:creationId xmlns:a16="http://schemas.microsoft.com/office/drawing/2014/main" id="{033B510D-4A16-4F7A-9D31-AAA65B9DCD87}"/>
              </a:ext>
            </a:extLst>
          </p:cNvPr>
          <p:cNvSpPr>
            <a:spLocks xmlns:a="http://schemas.openxmlformats.org/drawingml/2006/main" noGrp="1"/>
          </p:cNvSpPr>
          <p:nvPr/>
        </p:nvSpPr>
        <p:spPr>
          <a:xfrm xmlns:a="http://schemas.openxmlformats.org/drawingml/2006/main">
            <a:off x="9105900" y="21812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어떤 시스템인가</a:t>
            </a:r>
          </a:p>
        </p:txBody>
      </p:sp>
      <p:sp>
        <p:nvSpPr>
          <p:cNvPr id="8" name="">
            <a:extLst xmlns:a="http://schemas.openxmlformats.org/drawingml/2006/main">
              <a:ext uri="{FF2B5EF4-FFF2-40B4-BE49-F238E27FC236}">
                <a16:creationId xmlns:a16="http://schemas.microsoft.com/office/drawing/2014/main" id="{5EDC511D-60BF-465E-B5CE-7909923A9470}"/>
              </a:ext>
            </a:extLst>
          </p:cNvPr>
          <p:cNvSpPr>
            <a:spLocks xmlns:a="http://schemas.openxmlformats.org/drawingml/2006/main" noGrp="1"/>
          </p:cNvSpPr>
          <p:nvPr/>
        </p:nvSpPr>
        <p:spPr>
          <a:xfrm xmlns:a="http://schemas.openxmlformats.org/drawingml/2006/main">
            <a:off x="9105900" y="254317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물품의 상태 변화는 Pi에서 찾고, 필요한 의미만 외부 AI에 묻습니다.</a:t>
            </a:r>
          </a:p>
        </p:txBody>
      </p:sp>
      <p:sp>
        <p:nvSpPr>
          <p:cNvPr id="9" name="">
            <a:extLst xmlns:a="http://schemas.openxmlformats.org/drawingml/2006/main">
              <a:ext uri="{FF2B5EF4-FFF2-40B4-BE49-F238E27FC236}">
                <a16:creationId xmlns:a16="http://schemas.microsoft.com/office/drawing/2014/main" id="{01F1AB07-1BEC-4919-BF71-A8474E12D4B6}"/>
              </a:ext>
            </a:extLst>
          </p:cNvPr>
          <p:cNvSpPr>
            <a:spLocks xmlns:a="http://schemas.openxmlformats.org/drawingml/2006/main" noGrp="1"/>
          </p:cNvSpPr>
          <p:nvPr/>
        </p:nvSpPr>
        <p:spPr>
          <a:xfrm xmlns:a="http://schemas.openxmlformats.org/drawingml/2006/main">
            <a:off x="9105900" y="348615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무엇을 연구하나</a:t>
            </a:r>
          </a:p>
        </p:txBody>
      </p:sp>
      <p:sp>
        <p:nvSpPr>
          <p:cNvPr id="10" name="">
            <a:extLst xmlns:a="http://schemas.openxmlformats.org/drawingml/2006/main">
              <a:ext uri="{FF2B5EF4-FFF2-40B4-BE49-F238E27FC236}">
                <a16:creationId xmlns:a16="http://schemas.microsoft.com/office/drawing/2014/main" id="{3187835E-84B8-46A6-8EE6-D5EF59378202}"/>
              </a:ext>
            </a:extLst>
          </p:cNvPr>
          <p:cNvSpPr>
            <a:spLocks xmlns:a="http://schemas.openxmlformats.org/drawingml/2006/main" noGrp="1"/>
          </p:cNvSpPr>
          <p:nvPr/>
        </p:nvSpPr>
        <p:spPr>
          <a:xfrm xmlns:a="http://schemas.openxmlformats.org/drawingml/2006/main">
            <a:off x="9105900" y="384810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오탐·처리 지연·외부 호출·관리 기록의 연결을 평가합니다.</a:t>
            </a:r>
          </a:p>
        </p:txBody>
      </p:sp>
      <p:sp>
        <p:nvSpPr>
          <p:cNvPr id="11" name="">
            <a:extLst xmlns:a="http://schemas.openxmlformats.org/drawingml/2006/main">
              <a:ext uri="{FF2B5EF4-FFF2-40B4-BE49-F238E27FC236}">
                <a16:creationId xmlns:a16="http://schemas.microsoft.com/office/drawing/2014/main" id="{A5FF73C0-03F0-45DE-82CD-FB1950C84E1E}"/>
              </a:ext>
            </a:extLst>
          </p:cNvPr>
          <p:cNvSpPr>
            <a:spLocks xmlns:a="http://schemas.openxmlformats.org/drawingml/2006/main" noGrp="1"/>
          </p:cNvSpPr>
          <p:nvPr/>
        </p:nvSpPr>
        <p:spPr>
          <a:xfrm xmlns:a="http://schemas.openxmlformats.org/drawingml/2006/main">
            <a:off x="9105900" y="479107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현재 단계</a:t>
            </a:r>
          </a:p>
        </p:txBody>
      </p:sp>
      <p:sp>
        <p:nvSpPr>
          <p:cNvPr id="12" name="">
            <a:extLst xmlns:a="http://schemas.openxmlformats.org/drawingml/2006/main">
              <a:ext uri="{FF2B5EF4-FFF2-40B4-BE49-F238E27FC236}">
                <a16:creationId xmlns:a16="http://schemas.microsoft.com/office/drawing/2014/main" id="{491D2116-E08D-400A-803F-233B2B33AE0D}"/>
              </a:ext>
            </a:extLst>
          </p:cNvPr>
          <p:cNvSpPr>
            <a:spLocks xmlns:a="http://schemas.openxmlformats.org/drawingml/2006/main" noGrp="1"/>
          </p:cNvSpPr>
          <p:nvPr/>
        </p:nvSpPr>
        <p:spPr>
          <a:xfrm xmlns:a="http://schemas.openxmlformats.org/drawingml/2006/main">
            <a:off x="9105900" y="515302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시스템 구현과 실험 설계. 정량 성능은 아직 측정 전입니다.</a:t>
            </a:r>
          </a:p>
        </p:txBody>
      </p:sp>
      <p:sp>
        <p:nvSpPr>
          <p:cNvPr id="13" name="">
            <a:extLst xmlns:a="http://schemas.openxmlformats.org/drawingml/2006/main">
              <a:ext uri="{FF2B5EF4-FFF2-40B4-BE49-F238E27FC236}">
                <a16:creationId xmlns:a16="http://schemas.microsoft.com/office/drawing/2014/main" id="{19F90A48-6831-4ED7-B1EB-81944C643F9A}"/>
              </a:ext>
            </a:extLst>
          </p:cNvPr>
          <p:cNvSpPr>
            <a:spLocks xmlns:a="http://schemas.openxmlformats.org/drawingml/2006/main" noGrp="1"/>
          </p:cNvSpPr>
          <p:nvPr/>
        </p:nvSpPr>
        <p:spPr>
          <a:xfrm xmlns:a="http://schemas.openxmlformats.org/drawingml/2006/main">
            <a:off x="533400" y="2066925"/>
            <a:ext cx="78867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1725" b="0">
                <a:solidFill>
                  <a:srgbClr val="202B34"/>
                </a:solidFill>
                <a:latin typeface="Malgun Gothic"/>
                <a:ea typeface="Malgun Gothic"/>
                <a:cs typeface="Malgun Gothic"/>
              </a:defRPr>
            </a:pPr>
            <a:r>
              <a:rPr sz="1725" b="0">
                <a:solidFill>
                  <a:srgbClr val="202B34"/>
                </a:solidFill>
                <a:latin typeface="Malgun Gothic"/>
                <a:ea typeface="Malgun Gothic"/>
                <a:cs typeface="Malgun Gothic"/>
              </a:rPr>
              <a:t>분실물 보관대의 자동 관리는 물품의 종류를 인식하는 것과 함께 물품이 새로 놓이거나 이동하고 사라지는 상태 변화를 기록해야 한다. 그러나 고정 카메라에서도 조명 변화, 그림자, 초점 변화와 미세진동이 물품 변화와 유사한 영상 차이를 만들며, 제한된 연산 자원에서 지속적인 영상 분석과 관리 서비스를 함께 수행해야 하는 문제가 있다. 본 연구는 Raspberry Pi 4 2GB에서 사건 기반 장면 변화 감지와 선택적 멀티모달 추론을 결합한 분실물 관리 시스템 Re:Found를 설계하고 구현하였다. 로컬에서는 움직임 종료와 장면 안정화를 확인한 뒤 영상 정합, 조명 보정 및 기존 물품과의 대응을 통해 추가·이동·제거 후보를 판단한다. 신규 물품과 제거 여부가 모호한 경우에는 전체 장면과 변화 영역의 전후 이미지를 외부 시각언어모델에 전달한다. 정상 접수된 신규 사건은 원격 추론 전에 임시 저장하고, 인식 결과를 보관 기한과 상태 변경 이력에 연결한다. 본 연구는 저사양 장치의 사건 선별과 외부 의미 추론을 분담하는 시스템 구성에 초점을 두며, 향후 사건 검출 성능, 처리 지연, 자원 사용량과 외부 호출량을 평가할 계획이다.</a:t>
            </a:r>
          </a:p>
        </p:txBody>
      </p:sp>
      <p:sp>
        <p:nvSpPr>
          <p:cNvPr id="14" name="">
            <a:extLst xmlns:a="http://schemas.openxmlformats.org/drawingml/2006/main">
              <a:ext uri="{FF2B5EF4-FFF2-40B4-BE49-F238E27FC236}">
                <a16:creationId xmlns:a16="http://schemas.microsoft.com/office/drawing/2014/main" id="{F9C9C5E3-BE08-4E0F-AD78-2E3E4CFFA19B}"/>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E8834A-0B0A-4DB6-A9BE-E745442F9592}"/>
              </a:ext>
            </a:extLst>
          </p:cNvPr>
          <p:cNvSpPr>
            <a:spLocks xmlns:a="http://schemas.openxmlformats.org/drawingml/2006/main" noGrp="1"/>
          </p:cNvSpPr>
          <p:nvPr/>
        </p:nvSpPr>
        <p:spPr>
          <a:xfrm xmlns:a="http://schemas.openxmlformats.org/drawingml/2006/main">
            <a:off x="533400" y="6496050"/>
            <a:ext cx="947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050" b="0">
                <a:solidFill>
                  <a:srgbClr val="657581"/>
                </a:solidFill>
                <a:latin typeface="Malgun Gothic"/>
                <a:ea typeface="Malgun Gothic"/>
                <a:cs typeface="Malgun Gothic"/>
              </a:defRPr>
            </a:pPr>
            <a:r>
              <a:rPr sz="1050" b="0">
                <a:solidFill>
                  <a:srgbClr val="657581"/>
                </a:solidFill>
                <a:latin typeface="Malgun Gothic"/>
                <a:ea typeface="Malgun Gothic"/>
                <a:cs typeface="Malgun Gothic"/>
              </a:rPr>
              <a:t>전반부 원고 1쪽 · 본문은 원문 그대로</a:t>
            </a:r>
          </a:p>
        </p:txBody>
      </p:sp>
      <p:sp>
        <p:nvSpPr>
          <p:cNvPr id="16" name="">
            <a:extLst xmlns:a="http://schemas.openxmlformats.org/drawingml/2006/main">
              <a:ext uri="{FF2B5EF4-FFF2-40B4-BE49-F238E27FC236}">
                <a16:creationId xmlns:a16="http://schemas.microsoft.com/office/drawing/2014/main" id="{4F2CDCCC-BE68-4C38-9D8B-94B8FCECA573}"/>
              </a:ext>
            </a:extLst>
          </p:cNvPr>
          <p:cNvSpPr>
            <a:spLocks xmlns:a="http://schemas.openxmlformats.org/drawingml/2006/main" noGrp="1"/>
          </p:cNvSpPr>
          <p:nvPr/>
        </p:nvSpPr>
        <p:spPr>
          <a:xfrm xmlns:a="http://schemas.openxmlformats.org/drawingml/2006/main">
            <a:off x="11049000" y="647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125" b="0">
                <a:solidFill>
                  <a:srgbClr val="657581"/>
                </a:solidFill>
                <a:latin typeface="Malgun Gothic"/>
                <a:ea typeface="Malgun Gothic"/>
                <a:cs typeface="Malgun Gothic"/>
              </a:defRPr>
            </a:pPr>
            <a:r>
              <a:rPr sz="1125" b="0">
                <a:solidFill>
                  <a:srgbClr val="657581"/>
                </a:solidFill>
                <a:latin typeface="Malgun Gothic"/>
                <a:ea typeface="Malgun Gothic"/>
                <a:cs typeface="Malgun Gothic"/>
              </a:rPr>
              <a:t>1 / 6</a:t>
            </a:r>
          </a:p>
        </p:txBody>
      </p:sp>
    </p:spTree>
    <p:extLst>
      <p:ext uri="{BB962C8B-B14F-4D97-AF65-F5344CB8AC3E}">
        <p14:creationId xmlns:p14="http://schemas.microsoft.com/office/powerpoint/2010/main" val="20952447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822668-FD76-43B4-ABBF-AF3FC8059089}"/>
              </a:ext>
            </a:extLst>
          </p:cNvPr>
          <p:cNvSpPr>
            <a:spLocks xmlns:a="http://schemas.openxmlformats.org/drawingml/2006/main" noGrp="1"/>
          </p:cNvSpPr>
          <p:nvPr/>
        </p:nvSpPr>
        <p:spPr>
          <a:xfrm xmlns:a="http://schemas.openxmlformats.org/drawingml/2006/main">
            <a:off x="533400" y="323850"/>
            <a:ext cx="285750" cy="38100"/>
          </a:xfrm>
          <a:prstGeom xmlns:a="http://schemas.openxmlformats.org/drawingml/2006/main" prst="rect">
            <a:avLst/>
          </a:prstGeom>
          <a:solidFill xmlns:a="http://schemas.openxmlformats.org/drawingml/2006/main">
            <a:srgbClr val="186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25D25C-7E1E-40F9-A34F-3D267F9D78C7}"/>
              </a:ext>
            </a:extLst>
          </p:cNvPr>
          <p:cNvSpPr>
            <a:spLocks xmlns:a="http://schemas.openxmlformats.org/drawingml/2006/main" noGrp="1"/>
          </p:cNvSpPr>
          <p:nvPr/>
        </p:nvSpPr>
        <p:spPr>
          <a:xfrm xmlns:a="http://schemas.openxmlformats.org/drawingml/2006/main">
            <a:off x="942975" y="21907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Re:Found  /  연구방법 이전 원고</a:t>
            </a:r>
          </a:p>
        </p:txBody>
      </p:sp>
      <p:sp>
        <p:nvSpPr>
          <p:cNvPr id="3" name="">
            <a:extLst xmlns:a="http://schemas.openxmlformats.org/drawingml/2006/main">
              <a:ext uri="{FF2B5EF4-FFF2-40B4-BE49-F238E27FC236}">
                <a16:creationId xmlns:a16="http://schemas.microsoft.com/office/drawing/2014/main" id="{665052CB-8B46-4693-8712-C0C9FE21C535}"/>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550" b="1">
                <a:solidFill>
                  <a:srgbClr val="223848"/>
                </a:solidFill>
                <a:latin typeface="Malgun Gothic"/>
                <a:ea typeface="Malgun Gothic"/>
                <a:cs typeface="Malgun Gothic"/>
              </a:defRPr>
            </a:pPr>
            <a:r>
              <a:rPr sz="2550" b="1">
                <a:solidFill>
                  <a:srgbClr val="223848"/>
                </a:solidFill>
                <a:latin typeface="Malgun Gothic"/>
                <a:ea typeface="Malgun Gothic"/>
                <a:cs typeface="Malgun Gothic"/>
              </a:rPr>
              <a:t>1-1  연구 배경과 필요성</a:t>
            </a:r>
          </a:p>
        </p:txBody>
      </p:sp>
      <p:sp>
        <p:nvSpPr>
          <p:cNvPr id="4" name="">
            <a:extLst xmlns:a="http://schemas.openxmlformats.org/drawingml/2006/main">
              <a:ext uri="{FF2B5EF4-FFF2-40B4-BE49-F238E27FC236}">
                <a16:creationId xmlns:a16="http://schemas.microsoft.com/office/drawing/2014/main" id="{06EAD7CC-1A18-4BA0-8959-4C0E3F14E79A}"/>
              </a:ext>
            </a:extLst>
          </p:cNvPr>
          <p:cNvSpPr>
            <a:spLocks xmlns:a="http://schemas.openxmlformats.org/drawingml/2006/main" noGrp="1"/>
          </p:cNvSpPr>
          <p:nvPr/>
        </p:nvSpPr>
        <p:spPr>
          <a:xfrm xmlns:a="http://schemas.openxmlformats.org/drawingml/2006/main">
            <a:off x="533400" y="138112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서론 · 원문 발췌</a:t>
            </a:r>
          </a:p>
        </p:txBody>
      </p:sp>
      <p:sp>
        <p:nvSpPr>
          <p:cNvPr id="5" name="">
            <a:extLst xmlns:a="http://schemas.openxmlformats.org/drawingml/2006/main">
              <a:ext uri="{FF2B5EF4-FFF2-40B4-BE49-F238E27FC236}">
                <a16:creationId xmlns:a16="http://schemas.microsoft.com/office/drawing/2014/main" id="{B00A0141-908A-4923-BA72-F258B752FA92}"/>
              </a:ext>
            </a:extLst>
          </p:cNvPr>
          <p:cNvSpPr>
            <a:spLocks xmlns:a="http://schemas.openxmlformats.org/drawingml/2006/main" noGrp="1"/>
          </p:cNvSpPr>
          <p:nvPr/>
        </p:nvSpPr>
        <p:spPr>
          <a:xfrm xmlns:a="http://schemas.openxmlformats.org/drawingml/2006/main">
            <a:off x="8791575" y="1400175"/>
            <a:ext cx="9525" cy="4514850"/>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18882F-4382-4B46-867D-CABA7590A51A}"/>
              </a:ext>
            </a:extLst>
          </p:cNvPr>
          <p:cNvSpPr>
            <a:spLocks xmlns:a="http://schemas.openxmlformats.org/drawingml/2006/main" noGrp="1"/>
          </p:cNvSpPr>
          <p:nvPr/>
        </p:nvSpPr>
        <p:spPr>
          <a:xfrm xmlns:a="http://schemas.openxmlformats.org/drawingml/2006/main">
            <a:off x="9105900" y="1381125"/>
            <a:ext cx="255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75" b="1">
                <a:solidFill>
                  <a:srgbClr val="186D78"/>
                </a:solidFill>
                <a:latin typeface="Malgun Gothic"/>
                <a:ea typeface="Malgun Gothic"/>
                <a:cs typeface="Malgun Gothic"/>
              </a:defRPr>
            </a:pPr>
            <a:r>
              <a:rPr sz="1275" b="1">
                <a:solidFill>
                  <a:srgbClr val="186D78"/>
                </a:solidFill>
                <a:latin typeface="Malgun Gothic"/>
                <a:ea typeface="Malgun Gothic"/>
                <a:cs typeface="Malgun Gothic"/>
              </a:rPr>
              <a:t>이해를 돕는 설명</a:t>
            </a:r>
          </a:p>
        </p:txBody>
      </p:sp>
      <p:sp>
        <p:nvSpPr>
          <p:cNvPr id="7" name="">
            <a:extLst xmlns:a="http://schemas.openxmlformats.org/drawingml/2006/main">
              <a:ext uri="{FF2B5EF4-FFF2-40B4-BE49-F238E27FC236}">
                <a16:creationId xmlns:a16="http://schemas.microsoft.com/office/drawing/2014/main" id="{D930FE5A-604C-4E31-AF64-A7DB2951014E}"/>
              </a:ext>
            </a:extLst>
          </p:cNvPr>
          <p:cNvSpPr>
            <a:spLocks xmlns:a="http://schemas.openxmlformats.org/drawingml/2006/main" noGrp="1"/>
          </p:cNvSpPr>
          <p:nvPr/>
        </p:nvSpPr>
        <p:spPr>
          <a:xfrm xmlns:a="http://schemas.openxmlformats.org/drawingml/2006/main">
            <a:off x="9105900" y="190500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보관대에서 필요한 일</a:t>
            </a:r>
          </a:p>
        </p:txBody>
      </p:sp>
      <p:sp>
        <p:nvSpPr>
          <p:cNvPr id="8" name="">
            <a:extLst xmlns:a="http://schemas.openxmlformats.org/drawingml/2006/main">
              <a:ext uri="{FF2B5EF4-FFF2-40B4-BE49-F238E27FC236}">
                <a16:creationId xmlns:a16="http://schemas.microsoft.com/office/drawing/2014/main" id="{CBDFA1BE-0638-4308-B8E9-89666BE8824B}"/>
              </a:ext>
            </a:extLst>
          </p:cNvPr>
          <p:cNvSpPr>
            <a:spLocks xmlns:a="http://schemas.openxmlformats.org/drawingml/2006/main" noGrp="1"/>
          </p:cNvSpPr>
          <p:nvPr/>
        </p:nvSpPr>
        <p:spPr>
          <a:xfrm xmlns:a="http://schemas.openxmlformats.org/drawingml/2006/main">
            <a:off x="9105900" y="226695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물품명뿐 아니라 들어옴·이동·사라짐을 기록해야 합니다.</a:t>
            </a:r>
          </a:p>
        </p:txBody>
      </p:sp>
      <p:sp>
        <p:nvSpPr>
          <p:cNvPr id="9" name="">
            <a:extLst xmlns:a="http://schemas.openxmlformats.org/drawingml/2006/main">
              <a:ext uri="{FF2B5EF4-FFF2-40B4-BE49-F238E27FC236}">
                <a16:creationId xmlns:a16="http://schemas.microsoft.com/office/drawing/2014/main" id="{FD91D73C-ADF3-45F2-B1AB-AF49D637F60F}"/>
              </a:ext>
            </a:extLst>
          </p:cNvPr>
          <p:cNvSpPr>
            <a:spLocks xmlns:a="http://schemas.openxmlformats.org/drawingml/2006/main" noGrp="1"/>
          </p:cNvSpPr>
          <p:nvPr/>
        </p:nvSpPr>
        <p:spPr>
          <a:xfrm xmlns:a="http://schemas.openxmlformats.org/drawingml/2006/main">
            <a:off x="9105900" y="32099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예를 들면</a:t>
            </a:r>
          </a:p>
        </p:txBody>
      </p:sp>
      <p:sp>
        <p:nvSpPr>
          <p:cNvPr id="10" name="">
            <a:extLst xmlns:a="http://schemas.openxmlformats.org/drawingml/2006/main">
              <a:ext uri="{FF2B5EF4-FFF2-40B4-BE49-F238E27FC236}">
                <a16:creationId xmlns:a16="http://schemas.microsoft.com/office/drawing/2014/main" id="{DB43BE4D-982D-488A-9B13-AED80B3D0A2E}"/>
              </a:ext>
            </a:extLst>
          </p:cNvPr>
          <p:cNvSpPr>
            <a:spLocks xmlns:a="http://schemas.openxmlformats.org/drawingml/2006/main" noGrp="1"/>
          </p:cNvSpPr>
          <p:nvPr/>
        </p:nvSpPr>
        <p:spPr>
          <a:xfrm xmlns:a="http://schemas.openxmlformats.org/drawingml/2006/main">
            <a:off x="9105900" y="357187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같은 물건을 옆으로 옮겼다면 새로 등록하기보다 기존 위치를 바꿔야 합니다.</a:t>
            </a:r>
          </a:p>
        </p:txBody>
      </p:sp>
      <p:sp>
        <p:nvSpPr>
          <p:cNvPr id="11" name="">
            <a:extLst xmlns:a="http://schemas.openxmlformats.org/drawingml/2006/main">
              <a:ext uri="{FF2B5EF4-FFF2-40B4-BE49-F238E27FC236}">
                <a16:creationId xmlns:a16="http://schemas.microsoft.com/office/drawing/2014/main" id="{16D7F43B-B005-49AA-A188-1C187192870E}"/>
              </a:ext>
            </a:extLst>
          </p:cNvPr>
          <p:cNvSpPr>
            <a:spLocks xmlns:a="http://schemas.openxmlformats.org/drawingml/2006/main" noGrp="1"/>
          </p:cNvSpPr>
          <p:nvPr/>
        </p:nvSpPr>
        <p:spPr>
          <a:xfrm xmlns:a="http://schemas.openxmlformats.org/drawingml/2006/main">
            <a:off x="9105900" y="451485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인용의 역할</a:t>
            </a:r>
          </a:p>
        </p:txBody>
      </p:sp>
      <p:sp>
        <p:nvSpPr>
          <p:cNvPr id="12" name="">
            <a:extLst xmlns:a="http://schemas.openxmlformats.org/drawingml/2006/main">
              <a:ext uri="{FF2B5EF4-FFF2-40B4-BE49-F238E27FC236}">
                <a16:creationId xmlns:a16="http://schemas.microsoft.com/office/drawing/2014/main" id="{DF57556E-6BBC-4D30-94D9-10FD0B4180F0}"/>
              </a:ext>
            </a:extLst>
          </p:cNvPr>
          <p:cNvSpPr>
            <a:spLocks xmlns:a="http://schemas.openxmlformats.org/drawingml/2006/main" noGrp="1"/>
          </p:cNvSpPr>
          <p:nvPr/>
        </p:nvSpPr>
        <p:spPr>
          <a:xfrm xmlns:a="http://schemas.openxmlformats.org/drawingml/2006/main">
            <a:off x="9105900" y="487680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[1]은 기존 연구의 근거입니다. 우리가 그 연구를 수행했다는 뜻이 아닙니다.</a:t>
            </a:r>
          </a:p>
        </p:txBody>
      </p:sp>
      <p:sp>
        <p:nvSpPr>
          <p:cNvPr id="13" name="">
            <a:extLst xmlns:a="http://schemas.openxmlformats.org/drawingml/2006/main">
              <a:ext uri="{FF2B5EF4-FFF2-40B4-BE49-F238E27FC236}">
                <a16:creationId xmlns:a16="http://schemas.microsoft.com/office/drawing/2014/main" id="{3279F32E-6079-4148-A244-71B74769295B}"/>
              </a:ext>
            </a:extLst>
          </p:cNvPr>
          <p:cNvSpPr>
            <a:spLocks xmlns:a="http://schemas.openxmlformats.org/drawingml/2006/main" noGrp="1"/>
          </p:cNvSpPr>
          <p:nvPr/>
        </p:nvSpPr>
        <p:spPr>
          <a:xfrm xmlns:a="http://schemas.openxmlformats.org/drawingml/2006/main">
            <a:off x="533400" y="1790700"/>
            <a:ext cx="7886700" cy="443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1800" b="0">
                <a:solidFill>
                  <a:srgbClr val="202B34"/>
                </a:solidFill>
                <a:latin typeface="Malgun Gothic"/>
                <a:ea typeface="Malgun Gothic"/>
                <a:cs typeface="Malgun Gothic"/>
              </a:defRPr>
            </a:pPr>
            <a:r>
              <a:rPr sz="1800" b="0">
                <a:solidFill>
                  <a:srgbClr val="202B34"/>
                </a:solidFill>
                <a:latin typeface="Malgun Gothic"/>
                <a:ea typeface="Malgun Gothic"/>
                <a:cs typeface="Malgun Gothic"/>
              </a:rPr>
              <a:t>학교와 공공시설의 분실물 보관 업무에는 물품의 접수, 특징 기록, 보관 상태 확인과 처리 이력 관리가 함께 요구된다. 사진을 활용한 자동 분류는 등록 정보의 입력을 도울 수 있다. 정하민 등[1]은 단일 사진에서 물품의 분류와 태그를 추출하고 검색 순위를 제공하는 유실물 관리 시스템을 제안하였다. 이 접근은 등록·조회 과정에 초점을 두며, 보관대에서 물품의 상태가 바뀌는 시점을 영상으로 파악하는 문제는 별도로 다룰 필요가 있다.</a:t>
            </a:r>
          </a:p>
          <a:p xmlns:a="http://schemas.openxmlformats.org/drawingml/2006/main">
            <a:r>
              <a:t/>
            </a:r>
          </a:p>
          <a:p xmlns:a="http://schemas.openxmlformats.org/drawingml/2006/main">
            <a:pPr>
              <a:lnSpc>
                <a:spcPct val="106000"/>
              </a:lnSpc>
              <a:buNone/>
              <a:defRPr sz="1800" b="0">
                <a:solidFill>
                  <a:srgbClr val="202B34"/>
                </a:solidFill>
                <a:latin typeface="Malgun Gothic"/>
                <a:ea typeface="Malgun Gothic"/>
                <a:cs typeface="Malgun Gothic"/>
              </a:defRPr>
            </a:pPr>
            <a:r>
              <a:rPr sz="1800" b="0">
                <a:solidFill>
                  <a:srgbClr val="202B34"/>
                </a:solidFill>
                <a:latin typeface="Malgun Gothic"/>
                <a:ea typeface="Malgun Gothic"/>
                <a:cs typeface="Malgun Gothic"/>
              </a:rPr>
              <a:t>본 연구의 대상은 담당자가 분실물을 놓아두는 고정된 보관대이다. 이 환경에서는 물품이 놓인 뒤 같은 자리에 유지되는 동안에도 영상이 계속 입력된다. 따라서 분석의 핵심 단위를 개별 프레임에서 물품의 상태가 바뀌는 사건으로 옮기는 구성을 검토할 수 있다. 예를 들어 물품을 옆으로 옮긴 경우에는 신규 물품을 추가하는 대신 기존 기록의 위치를 갱신해야 하며, 조명만 변한 경우에는 물품 사건을 만들지 않아야 한다.</a:t>
            </a:r>
          </a:p>
        </p:txBody>
      </p:sp>
      <p:sp>
        <p:nvSpPr>
          <p:cNvPr id="14" name="">
            <a:extLst xmlns:a="http://schemas.openxmlformats.org/drawingml/2006/main">
              <a:ext uri="{FF2B5EF4-FFF2-40B4-BE49-F238E27FC236}">
                <a16:creationId xmlns:a16="http://schemas.microsoft.com/office/drawing/2014/main" id="{B345F574-443D-49C0-AFDE-4907E4AED40C}"/>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3176C3-C420-4F89-8B4D-A496FC1A1180}"/>
              </a:ext>
            </a:extLst>
          </p:cNvPr>
          <p:cNvSpPr>
            <a:spLocks xmlns:a="http://schemas.openxmlformats.org/drawingml/2006/main" noGrp="1"/>
          </p:cNvSpPr>
          <p:nvPr/>
        </p:nvSpPr>
        <p:spPr>
          <a:xfrm xmlns:a="http://schemas.openxmlformats.org/drawingml/2006/main">
            <a:off x="533400" y="6496050"/>
            <a:ext cx="947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050" b="0">
                <a:solidFill>
                  <a:srgbClr val="657581"/>
                </a:solidFill>
                <a:latin typeface="Malgun Gothic"/>
                <a:ea typeface="Malgun Gothic"/>
                <a:cs typeface="Malgun Gothic"/>
              </a:defRPr>
            </a:pPr>
            <a:r>
              <a:rPr sz="1050" b="0">
                <a:solidFill>
                  <a:srgbClr val="657581"/>
                </a:solidFill>
                <a:latin typeface="Malgun Gothic"/>
                <a:ea typeface="Malgun Gothic"/>
                <a:cs typeface="Malgun Gothic"/>
              </a:rPr>
              <a:t>전반부 원고 2쪽 · 본문은 원문 그대로 발췌</a:t>
            </a:r>
          </a:p>
        </p:txBody>
      </p:sp>
      <p:sp>
        <p:nvSpPr>
          <p:cNvPr id="16" name="">
            <a:extLst xmlns:a="http://schemas.openxmlformats.org/drawingml/2006/main">
              <a:ext uri="{FF2B5EF4-FFF2-40B4-BE49-F238E27FC236}">
                <a16:creationId xmlns:a16="http://schemas.microsoft.com/office/drawing/2014/main" id="{16688BDD-2D5E-439E-A788-2C2CD6866FE4}"/>
              </a:ext>
            </a:extLst>
          </p:cNvPr>
          <p:cNvSpPr>
            <a:spLocks xmlns:a="http://schemas.openxmlformats.org/drawingml/2006/main" noGrp="1"/>
          </p:cNvSpPr>
          <p:nvPr/>
        </p:nvSpPr>
        <p:spPr>
          <a:xfrm xmlns:a="http://schemas.openxmlformats.org/drawingml/2006/main">
            <a:off x="11049000" y="647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125" b="0">
                <a:solidFill>
                  <a:srgbClr val="657581"/>
                </a:solidFill>
                <a:latin typeface="Malgun Gothic"/>
                <a:ea typeface="Malgun Gothic"/>
                <a:cs typeface="Malgun Gothic"/>
              </a:defRPr>
            </a:pPr>
            <a:r>
              <a:rPr sz="1125" b="0">
                <a:solidFill>
                  <a:srgbClr val="657581"/>
                </a:solidFill>
                <a:latin typeface="Malgun Gothic"/>
                <a:ea typeface="Malgun Gothic"/>
                <a:cs typeface="Malgun Gothic"/>
              </a:rPr>
              <a:t>2 / 6</a:t>
            </a:r>
          </a:p>
        </p:txBody>
      </p:sp>
    </p:spTree>
    <p:extLst>
      <p:ext uri="{BB962C8B-B14F-4D97-AF65-F5344CB8AC3E}">
        <p14:creationId xmlns:p14="http://schemas.microsoft.com/office/powerpoint/2010/main" val="8507890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C7758DC-E6B5-41F7-98D6-D13A667F9F28}"/>
              </a:ext>
            </a:extLst>
          </p:cNvPr>
          <p:cNvSpPr>
            <a:spLocks xmlns:a="http://schemas.openxmlformats.org/drawingml/2006/main" noGrp="1"/>
          </p:cNvSpPr>
          <p:nvPr/>
        </p:nvSpPr>
        <p:spPr>
          <a:xfrm xmlns:a="http://schemas.openxmlformats.org/drawingml/2006/main">
            <a:off x="533400" y="323850"/>
            <a:ext cx="285750" cy="38100"/>
          </a:xfrm>
          <a:prstGeom xmlns:a="http://schemas.openxmlformats.org/drawingml/2006/main" prst="rect">
            <a:avLst/>
          </a:prstGeom>
          <a:solidFill xmlns:a="http://schemas.openxmlformats.org/drawingml/2006/main">
            <a:srgbClr val="186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8ED41B-C6E4-4C4E-BE2C-84D5619ECB9A}"/>
              </a:ext>
            </a:extLst>
          </p:cNvPr>
          <p:cNvSpPr>
            <a:spLocks xmlns:a="http://schemas.openxmlformats.org/drawingml/2006/main" noGrp="1"/>
          </p:cNvSpPr>
          <p:nvPr/>
        </p:nvSpPr>
        <p:spPr>
          <a:xfrm xmlns:a="http://schemas.openxmlformats.org/drawingml/2006/main">
            <a:off x="942975" y="21907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Re:Found  /  연구방법 이전 원고</a:t>
            </a:r>
          </a:p>
        </p:txBody>
      </p:sp>
      <p:sp>
        <p:nvSpPr>
          <p:cNvPr id="3" name="">
            <a:extLst xmlns:a="http://schemas.openxmlformats.org/drawingml/2006/main">
              <a:ext uri="{FF2B5EF4-FFF2-40B4-BE49-F238E27FC236}">
                <a16:creationId xmlns:a16="http://schemas.microsoft.com/office/drawing/2014/main" id="{4C7EF1C6-AEF6-41C7-8AFC-D283BB99D126}"/>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550" b="1">
                <a:solidFill>
                  <a:srgbClr val="223848"/>
                </a:solidFill>
                <a:latin typeface="Malgun Gothic"/>
                <a:ea typeface="Malgun Gothic"/>
                <a:cs typeface="Malgun Gothic"/>
              </a:defRPr>
            </a:pPr>
            <a:r>
              <a:rPr sz="2550" b="1">
                <a:solidFill>
                  <a:srgbClr val="223848"/>
                </a:solidFill>
                <a:latin typeface="Malgun Gothic"/>
                <a:ea typeface="Malgun Gothic"/>
                <a:cs typeface="Malgun Gothic"/>
              </a:rPr>
              <a:t>1-2 · 1-3  문제 정의와 연구 질문</a:t>
            </a:r>
          </a:p>
        </p:txBody>
      </p:sp>
      <p:sp>
        <p:nvSpPr>
          <p:cNvPr id="4" name="">
            <a:extLst xmlns:a="http://schemas.openxmlformats.org/drawingml/2006/main">
              <a:ext uri="{FF2B5EF4-FFF2-40B4-BE49-F238E27FC236}">
                <a16:creationId xmlns:a16="http://schemas.microsoft.com/office/drawing/2014/main" id="{9DD92EBC-45DC-4727-8E0E-19CCD5877E51}"/>
              </a:ext>
            </a:extLst>
          </p:cNvPr>
          <p:cNvSpPr>
            <a:spLocks xmlns:a="http://schemas.openxmlformats.org/drawingml/2006/main" noGrp="1"/>
          </p:cNvSpPr>
          <p:nvPr/>
        </p:nvSpPr>
        <p:spPr>
          <a:xfrm xmlns:a="http://schemas.openxmlformats.org/drawingml/2006/main">
            <a:off x="533400" y="138112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서론 · 원문 발췌</a:t>
            </a:r>
          </a:p>
        </p:txBody>
      </p:sp>
      <p:sp>
        <p:nvSpPr>
          <p:cNvPr id="5" name="">
            <a:extLst xmlns:a="http://schemas.openxmlformats.org/drawingml/2006/main">
              <a:ext uri="{FF2B5EF4-FFF2-40B4-BE49-F238E27FC236}">
                <a16:creationId xmlns:a16="http://schemas.microsoft.com/office/drawing/2014/main" id="{0C527955-BA5E-482E-BD70-171E68B0FB77}"/>
              </a:ext>
            </a:extLst>
          </p:cNvPr>
          <p:cNvSpPr>
            <a:spLocks xmlns:a="http://schemas.openxmlformats.org/drawingml/2006/main" noGrp="1"/>
          </p:cNvSpPr>
          <p:nvPr/>
        </p:nvSpPr>
        <p:spPr>
          <a:xfrm xmlns:a="http://schemas.openxmlformats.org/drawingml/2006/main">
            <a:off x="8791575" y="1400175"/>
            <a:ext cx="9525" cy="4514850"/>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8DD835-35DE-4F66-A74E-78E8D93D1845}"/>
              </a:ext>
            </a:extLst>
          </p:cNvPr>
          <p:cNvSpPr>
            <a:spLocks xmlns:a="http://schemas.openxmlformats.org/drawingml/2006/main" noGrp="1"/>
          </p:cNvSpPr>
          <p:nvPr/>
        </p:nvSpPr>
        <p:spPr>
          <a:xfrm xmlns:a="http://schemas.openxmlformats.org/drawingml/2006/main">
            <a:off x="9105900" y="1381125"/>
            <a:ext cx="255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75" b="1">
                <a:solidFill>
                  <a:srgbClr val="186D78"/>
                </a:solidFill>
                <a:latin typeface="Malgun Gothic"/>
                <a:ea typeface="Malgun Gothic"/>
                <a:cs typeface="Malgun Gothic"/>
              </a:defRPr>
            </a:pPr>
            <a:r>
              <a:rPr sz="1275" b="1">
                <a:solidFill>
                  <a:srgbClr val="186D78"/>
                </a:solidFill>
                <a:latin typeface="Malgun Gothic"/>
                <a:ea typeface="Malgun Gothic"/>
                <a:cs typeface="Malgun Gothic"/>
              </a:rPr>
              <a:t>이해를 돕는 설명</a:t>
            </a:r>
          </a:p>
        </p:txBody>
      </p:sp>
      <p:sp>
        <p:nvSpPr>
          <p:cNvPr id="7" name="">
            <a:extLst xmlns:a="http://schemas.openxmlformats.org/drawingml/2006/main">
              <a:ext uri="{FF2B5EF4-FFF2-40B4-BE49-F238E27FC236}">
                <a16:creationId xmlns:a16="http://schemas.microsoft.com/office/drawing/2014/main" id="{4F9CFFB0-EB49-4C53-B3D8-449FDCA942C6}"/>
              </a:ext>
            </a:extLst>
          </p:cNvPr>
          <p:cNvSpPr>
            <a:spLocks xmlns:a="http://schemas.openxmlformats.org/drawingml/2006/main" noGrp="1"/>
          </p:cNvSpPr>
          <p:nvPr/>
        </p:nvSpPr>
        <p:spPr>
          <a:xfrm xmlns:a="http://schemas.openxmlformats.org/drawingml/2006/main">
            <a:off x="9105900" y="190500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영상 차이 ≠ 물품 변화</a:t>
            </a:r>
          </a:p>
        </p:txBody>
      </p:sp>
      <p:sp>
        <p:nvSpPr>
          <p:cNvPr id="8" name="">
            <a:extLst xmlns:a="http://schemas.openxmlformats.org/drawingml/2006/main">
              <a:ext uri="{FF2B5EF4-FFF2-40B4-BE49-F238E27FC236}">
                <a16:creationId xmlns:a16="http://schemas.microsoft.com/office/drawing/2014/main" id="{EB4AF125-F1E8-498B-A5FA-A568E82E3807}"/>
              </a:ext>
            </a:extLst>
          </p:cNvPr>
          <p:cNvSpPr>
            <a:spLocks xmlns:a="http://schemas.openxmlformats.org/drawingml/2006/main" noGrp="1"/>
          </p:cNvSpPr>
          <p:nvPr/>
        </p:nvSpPr>
        <p:spPr>
          <a:xfrm xmlns:a="http://schemas.openxmlformats.org/drawingml/2006/main">
            <a:off x="9105900" y="226695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조명·그림자·흔들림도 차이를 만듭니다.</a:t>
            </a:r>
          </a:p>
        </p:txBody>
      </p:sp>
      <p:sp>
        <p:nvSpPr>
          <p:cNvPr id="9" name="">
            <a:extLst xmlns:a="http://schemas.openxmlformats.org/drawingml/2006/main">
              <a:ext uri="{FF2B5EF4-FFF2-40B4-BE49-F238E27FC236}">
                <a16:creationId xmlns:a16="http://schemas.microsoft.com/office/drawing/2014/main" id="{3771D729-00B6-4FDB-B660-DB1817D66BFD}"/>
              </a:ext>
            </a:extLst>
          </p:cNvPr>
          <p:cNvSpPr>
            <a:spLocks xmlns:a="http://schemas.openxmlformats.org/drawingml/2006/main" noGrp="1"/>
          </p:cNvSpPr>
          <p:nvPr/>
        </p:nvSpPr>
        <p:spPr>
          <a:xfrm xmlns:a="http://schemas.openxmlformats.org/drawingml/2006/main">
            <a:off x="9105900" y="32099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함께 확인할 관계</a:t>
            </a:r>
          </a:p>
        </p:txBody>
      </p:sp>
      <p:sp>
        <p:nvSpPr>
          <p:cNvPr id="10" name="">
            <a:extLst xmlns:a="http://schemas.openxmlformats.org/drawingml/2006/main">
              <a:ext uri="{FF2B5EF4-FFF2-40B4-BE49-F238E27FC236}">
                <a16:creationId xmlns:a16="http://schemas.microsoft.com/office/drawing/2014/main" id="{BD050A0F-97A4-42EE-A099-0EE9C0E83A80}"/>
              </a:ext>
            </a:extLst>
          </p:cNvPr>
          <p:cNvSpPr>
            <a:spLocks xmlns:a="http://schemas.openxmlformats.org/drawingml/2006/main" noGrp="1"/>
          </p:cNvSpPr>
          <p:nvPr/>
        </p:nvSpPr>
        <p:spPr>
          <a:xfrm xmlns:a="http://schemas.openxmlformats.org/drawingml/2006/main">
            <a:off x="9105900" y="357187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오탐 억제와 대기시간, 호출 감소와 사건 누락을 같이 봅니다.</a:t>
            </a:r>
          </a:p>
        </p:txBody>
      </p:sp>
      <p:sp>
        <p:nvSpPr>
          <p:cNvPr id="11" name="">
            <a:extLst xmlns:a="http://schemas.openxmlformats.org/drawingml/2006/main">
              <a:ext uri="{FF2B5EF4-FFF2-40B4-BE49-F238E27FC236}">
                <a16:creationId xmlns:a16="http://schemas.microsoft.com/office/drawing/2014/main" id="{D6789EA0-39DC-48D8-9339-C67EF6DB9D7A}"/>
              </a:ext>
            </a:extLst>
          </p:cNvPr>
          <p:cNvSpPr>
            <a:spLocks xmlns:a="http://schemas.openxmlformats.org/drawingml/2006/main" noGrp="1"/>
          </p:cNvSpPr>
          <p:nvPr/>
        </p:nvSpPr>
        <p:spPr>
          <a:xfrm xmlns:a="http://schemas.openxmlformats.org/drawingml/2006/main">
            <a:off x="9105900" y="451485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논문의 중심</a:t>
            </a:r>
          </a:p>
        </p:txBody>
      </p:sp>
      <p:sp>
        <p:nvSpPr>
          <p:cNvPr id="12" name="">
            <a:extLst xmlns:a="http://schemas.openxmlformats.org/drawingml/2006/main">
              <a:ext uri="{FF2B5EF4-FFF2-40B4-BE49-F238E27FC236}">
                <a16:creationId xmlns:a16="http://schemas.microsoft.com/office/drawing/2014/main" id="{9BDE4852-03AE-40E9-97AA-11640D02156F}"/>
              </a:ext>
            </a:extLst>
          </p:cNvPr>
          <p:cNvSpPr>
            <a:spLocks xmlns:a="http://schemas.openxmlformats.org/drawingml/2006/main" noGrp="1"/>
          </p:cNvSpPr>
          <p:nvPr/>
        </p:nvSpPr>
        <p:spPr>
          <a:xfrm xmlns:a="http://schemas.openxmlformats.org/drawingml/2006/main">
            <a:off x="9105900" y="487680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왜 이렇게 설계했는지 설명하고, 비교 실험으로 효과와 부담을 확인합니다.</a:t>
            </a:r>
          </a:p>
        </p:txBody>
      </p:sp>
      <p:sp>
        <p:nvSpPr>
          <p:cNvPr id="13" name="">
            <a:extLst xmlns:a="http://schemas.openxmlformats.org/drawingml/2006/main">
              <a:ext uri="{FF2B5EF4-FFF2-40B4-BE49-F238E27FC236}">
                <a16:creationId xmlns:a16="http://schemas.microsoft.com/office/drawing/2014/main" id="{3EF161EC-7A0E-4C77-82ED-A2F12373F53C}"/>
              </a:ext>
            </a:extLst>
          </p:cNvPr>
          <p:cNvSpPr>
            <a:spLocks xmlns:a="http://schemas.openxmlformats.org/drawingml/2006/main" noGrp="1"/>
          </p:cNvSpPr>
          <p:nvPr/>
        </p:nvSpPr>
        <p:spPr>
          <a:xfrm xmlns:a="http://schemas.openxmlformats.org/drawingml/2006/main">
            <a:off x="533400" y="1790700"/>
            <a:ext cx="7886700" cy="443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1725" b="0">
                <a:solidFill>
                  <a:srgbClr val="202B34"/>
                </a:solidFill>
                <a:latin typeface="Malgun Gothic"/>
                <a:ea typeface="Malgun Gothic"/>
                <a:cs typeface="Malgun Gothic"/>
              </a:defRPr>
            </a:pPr>
            <a:r>
              <a:rPr sz="1725" b="0">
                <a:solidFill>
                  <a:srgbClr val="202B34"/>
                </a:solidFill>
                <a:latin typeface="Malgun Gothic"/>
                <a:ea typeface="Malgun Gothic"/>
                <a:cs typeface="Malgun Gothic"/>
              </a:rPr>
              <a:t>보관대의 상태 변화를 자동으로 기록하려면 영상의 차이와 실제 물품의 변화를 구분해야 한다. 조명이나 그림자는 물품이 그대로 있어도 차이를 만들 수 있으며, 카메라의 작은 흔들림은 기존 물품의 경계를 이동시킨다. Wallflower 연구[4]가 다룬 배경 유지 문제처럼, 영상의 변화량만으로 사건을 판단하기 어려운 조건이 존재한다. 물품을 놓는 손의 움직임과 손이 빠진 뒤 남은 물품의 변화도 구별해야 한다.</a:t>
            </a:r>
          </a:p>
          <a:p xmlns:a="http://schemas.openxmlformats.org/drawingml/2006/main">
            <a:r>
              <a:t/>
            </a:r>
          </a:p>
          <a:p xmlns:a="http://schemas.openxmlformats.org/drawingml/2006/main">
            <a:pPr>
              <a:lnSpc>
                <a:spcPct val="106000"/>
              </a:lnSpc>
              <a:buNone/>
              <a:defRPr sz="1725" b="0">
                <a:solidFill>
                  <a:srgbClr val="202B34"/>
                </a:solidFill>
                <a:latin typeface="Malgun Gothic"/>
                <a:ea typeface="Malgun Gothic"/>
                <a:cs typeface="Malgun Gothic"/>
              </a:defRPr>
            </a:pPr>
            <a:r>
              <a:rPr sz="1725" b="0">
                <a:solidFill>
                  <a:srgbClr val="202B34"/>
                </a:solidFill>
                <a:latin typeface="Malgun Gothic"/>
                <a:ea typeface="Malgun Gothic"/>
                <a:cs typeface="Malgun Gothic"/>
              </a:rPr>
              <a:t>본 연구의 목적은 로컬 장면 변화 감지, 선택적 외부 멀티모달 추론 및 물품 관리 이력을 하나의 시스템으로 연결하는 것이다. 연구 질문은 다음과 같다. 첫째, 안정 장면 분석과 영상 보정은 추가·이동·제거의 검출 성능 및 오탐에 어떤 영향을 주는가. 둘째, 이 과정의 대기시간과 연산 부담은 Raspberry Pi의 처리 지연과 자원 사용량에 어떻게 나타나는가. 셋째, 필요한 사건만 외부 모델에 전달할 때 호출량, 누락과 최종 업무 성공률 사이에 어떤 관계가 있는가.</a:t>
            </a:r>
          </a:p>
        </p:txBody>
      </p:sp>
      <p:sp>
        <p:nvSpPr>
          <p:cNvPr id="14" name="">
            <a:extLst xmlns:a="http://schemas.openxmlformats.org/drawingml/2006/main">
              <a:ext uri="{FF2B5EF4-FFF2-40B4-BE49-F238E27FC236}">
                <a16:creationId xmlns:a16="http://schemas.microsoft.com/office/drawing/2014/main" id="{1E646872-AB8A-4F1B-8585-B847A1ADD069}"/>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7F09CF-6379-4C34-9915-60C0B10C7868}"/>
              </a:ext>
            </a:extLst>
          </p:cNvPr>
          <p:cNvSpPr>
            <a:spLocks xmlns:a="http://schemas.openxmlformats.org/drawingml/2006/main" noGrp="1"/>
          </p:cNvSpPr>
          <p:nvPr/>
        </p:nvSpPr>
        <p:spPr>
          <a:xfrm xmlns:a="http://schemas.openxmlformats.org/drawingml/2006/main">
            <a:off x="533400" y="6496050"/>
            <a:ext cx="947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050" b="0">
                <a:solidFill>
                  <a:srgbClr val="657581"/>
                </a:solidFill>
                <a:latin typeface="Malgun Gothic"/>
                <a:ea typeface="Malgun Gothic"/>
                <a:cs typeface="Malgun Gothic"/>
              </a:defRPr>
            </a:pPr>
            <a:r>
              <a:rPr sz="1050" b="0">
                <a:solidFill>
                  <a:srgbClr val="657581"/>
                </a:solidFill>
                <a:latin typeface="Malgun Gothic"/>
                <a:ea typeface="Malgun Gothic"/>
                <a:cs typeface="Malgun Gothic"/>
              </a:rPr>
              <a:t>전반부 원고 2쪽 · 본문은 원문 그대로 발췌</a:t>
            </a:r>
          </a:p>
        </p:txBody>
      </p:sp>
      <p:sp>
        <p:nvSpPr>
          <p:cNvPr id="16" name="">
            <a:extLst xmlns:a="http://schemas.openxmlformats.org/drawingml/2006/main">
              <a:ext uri="{FF2B5EF4-FFF2-40B4-BE49-F238E27FC236}">
                <a16:creationId xmlns:a16="http://schemas.microsoft.com/office/drawing/2014/main" id="{B877E84F-1CC3-417D-97B8-2A576767D7CE}"/>
              </a:ext>
            </a:extLst>
          </p:cNvPr>
          <p:cNvSpPr>
            <a:spLocks xmlns:a="http://schemas.openxmlformats.org/drawingml/2006/main" noGrp="1"/>
          </p:cNvSpPr>
          <p:nvPr/>
        </p:nvSpPr>
        <p:spPr>
          <a:xfrm xmlns:a="http://schemas.openxmlformats.org/drawingml/2006/main">
            <a:off x="11049000" y="647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125" b="0">
                <a:solidFill>
                  <a:srgbClr val="657581"/>
                </a:solidFill>
                <a:latin typeface="Malgun Gothic"/>
                <a:ea typeface="Malgun Gothic"/>
                <a:cs typeface="Malgun Gothic"/>
              </a:defRPr>
            </a:pPr>
            <a:r>
              <a:rPr sz="1125" b="0">
                <a:solidFill>
                  <a:srgbClr val="657581"/>
                </a:solidFill>
                <a:latin typeface="Malgun Gothic"/>
                <a:ea typeface="Malgun Gothic"/>
                <a:cs typeface="Malgun Gothic"/>
              </a:rPr>
              <a:t>3 / 6</a:t>
            </a:r>
          </a:p>
        </p:txBody>
      </p:sp>
    </p:spTree>
    <p:extLst>
      <p:ext uri="{BB962C8B-B14F-4D97-AF65-F5344CB8AC3E}">
        <p14:creationId xmlns:p14="http://schemas.microsoft.com/office/powerpoint/2010/main" val="6901173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116037-95C2-46D5-BFDD-0ECBDAB55AA5}"/>
              </a:ext>
            </a:extLst>
          </p:cNvPr>
          <p:cNvSpPr>
            <a:spLocks xmlns:a="http://schemas.openxmlformats.org/drawingml/2006/main" noGrp="1"/>
          </p:cNvSpPr>
          <p:nvPr/>
        </p:nvSpPr>
        <p:spPr>
          <a:xfrm xmlns:a="http://schemas.openxmlformats.org/drawingml/2006/main">
            <a:off x="533400" y="323850"/>
            <a:ext cx="285750" cy="38100"/>
          </a:xfrm>
          <a:prstGeom xmlns:a="http://schemas.openxmlformats.org/drawingml/2006/main" prst="rect">
            <a:avLst/>
          </a:prstGeom>
          <a:solidFill xmlns:a="http://schemas.openxmlformats.org/drawingml/2006/main">
            <a:srgbClr val="186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7DED05-5D06-4472-874F-7D95276AB110}"/>
              </a:ext>
            </a:extLst>
          </p:cNvPr>
          <p:cNvSpPr>
            <a:spLocks xmlns:a="http://schemas.openxmlformats.org/drawingml/2006/main" noGrp="1"/>
          </p:cNvSpPr>
          <p:nvPr/>
        </p:nvSpPr>
        <p:spPr>
          <a:xfrm xmlns:a="http://schemas.openxmlformats.org/drawingml/2006/main">
            <a:off x="942975" y="21907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Re:Found  /  연구방법 이전 원고</a:t>
            </a:r>
          </a:p>
        </p:txBody>
      </p:sp>
      <p:sp>
        <p:nvSpPr>
          <p:cNvPr id="3" name="">
            <a:extLst xmlns:a="http://schemas.openxmlformats.org/drawingml/2006/main">
              <a:ext uri="{FF2B5EF4-FFF2-40B4-BE49-F238E27FC236}">
                <a16:creationId xmlns:a16="http://schemas.microsoft.com/office/drawing/2014/main" id="{60F7A2D8-CCB9-41C6-99BD-A7CC877A99D7}"/>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550" b="1">
                <a:solidFill>
                  <a:srgbClr val="223848"/>
                </a:solidFill>
                <a:latin typeface="Malgun Gothic"/>
                <a:ea typeface="Malgun Gothic"/>
                <a:cs typeface="Malgun Gothic"/>
              </a:defRPr>
            </a:pPr>
            <a:r>
              <a:rPr sz="2550" b="1">
                <a:solidFill>
                  <a:srgbClr val="223848"/>
                </a:solidFill>
                <a:latin typeface="Malgun Gothic"/>
                <a:ea typeface="Malgun Gothic"/>
                <a:cs typeface="Malgun Gothic"/>
              </a:rPr>
              <a:t>2-1 · 2-2  안정 장면과 엣지의 역할</a:t>
            </a:r>
          </a:p>
        </p:txBody>
      </p:sp>
      <p:sp>
        <p:nvSpPr>
          <p:cNvPr id="4" name="">
            <a:extLst xmlns:a="http://schemas.openxmlformats.org/drawingml/2006/main">
              <a:ext uri="{FF2B5EF4-FFF2-40B4-BE49-F238E27FC236}">
                <a16:creationId xmlns:a16="http://schemas.microsoft.com/office/drawing/2014/main" id="{2DC8BA4A-50E0-4F65-AC38-41A0E0578EF0}"/>
              </a:ext>
            </a:extLst>
          </p:cNvPr>
          <p:cNvSpPr>
            <a:spLocks xmlns:a="http://schemas.openxmlformats.org/drawingml/2006/main" noGrp="1"/>
          </p:cNvSpPr>
          <p:nvPr/>
        </p:nvSpPr>
        <p:spPr>
          <a:xfrm xmlns:a="http://schemas.openxmlformats.org/drawingml/2006/main">
            <a:off x="533400" y="138112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이론적 배경 · 원문 발췌</a:t>
            </a:r>
          </a:p>
        </p:txBody>
      </p:sp>
      <p:sp>
        <p:nvSpPr>
          <p:cNvPr id="5" name="">
            <a:extLst xmlns:a="http://schemas.openxmlformats.org/drawingml/2006/main">
              <a:ext uri="{FF2B5EF4-FFF2-40B4-BE49-F238E27FC236}">
                <a16:creationId xmlns:a16="http://schemas.microsoft.com/office/drawing/2014/main" id="{8E63AAB2-CF78-4294-9747-A7611ECD0C39}"/>
              </a:ext>
            </a:extLst>
          </p:cNvPr>
          <p:cNvSpPr>
            <a:spLocks xmlns:a="http://schemas.openxmlformats.org/drawingml/2006/main" noGrp="1"/>
          </p:cNvSpPr>
          <p:nvPr/>
        </p:nvSpPr>
        <p:spPr>
          <a:xfrm xmlns:a="http://schemas.openxmlformats.org/drawingml/2006/main">
            <a:off x="8791575" y="1400175"/>
            <a:ext cx="9525" cy="4514850"/>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34F4F4E-5632-4E5B-99DF-E223A5F84834}"/>
              </a:ext>
            </a:extLst>
          </p:cNvPr>
          <p:cNvSpPr>
            <a:spLocks xmlns:a="http://schemas.openxmlformats.org/drawingml/2006/main" noGrp="1"/>
          </p:cNvSpPr>
          <p:nvPr/>
        </p:nvSpPr>
        <p:spPr>
          <a:xfrm xmlns:a="http://schemas.openxmlformats.org/drawingml/2006/main">
            <a:off x="9105900" y="1381125"/>
            <a:ext cx="255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75" b="1">
                <a:solidFill>
                  <a:srgbClr val="186D78"/>
                </a:solidFill>
                <a:latin typeface="Malgun Gothic"/>
                <a:ea typeface="Malgun Gothic"/>
                <a:cs typeface="Malgun Gothic"/>
              </a:defRPr>
            </a:pPr>
            <a:r>
              <a:rPr sz="1275" b="1">
                <a:solidFill>
                  <a:srgbClr val="186D78"/>
                </a:solidFill>
                <a:latin typeface="Malgun Gothic"/>
                <a:ea typeface="Malgun Gothic"/>
                <a:cs typeface="Malgun Gothic"/>
              </a:rPr>
              <a:t>이해를 돕는 설명</a:t>
            </a:r>
          </a:p>
        </p:txBody>
      </p:sp>
      <p:sp>
        <p:nvSpPr>
          <p:cNvPr id="7" name="">
            <a:extLst xmlns:a="http://schemas.openxmlformats.org/drawingml/2006/main">
              <a:ext uri="{FF2B5EF4-FFF2-40B4-BE49-F238E27FC236}">
                <a16:creationId xmlns:a16="http://schemas.microsoft.com/office/drawing/2014/main" id="{D1B3368D-566D-4A5C-B842-7D1ED84D0922}"/>
              </a:ext>
            </a:extLst>
          </p:cNvPr>
          <p:cNvSpPr>
            <a:spLocks xmlns:a="http://schemas.openxmlformats.org/drawingml/2006/main" noGrp="1"/>
          </p:cNvSpPr>
          <p:nvPr/>
        </p:nvSpPr>
        <p:spPr>
          <a:xfrm xmlns:a="http://schemas.openxmlformats.org/drawingml/2006/main">
            <a:off x="9105900" y="190500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안정 장면</a:t>
            </a:r>
          </a:p>
        </p:txBody>
      </p:sp>
      <p:sp>
        <p:nvSpPr>
          <p:cNvPr id="8" name="">
            <a:extLst xmlns:a="http://schemas.openxmlformats.org/drawingml/2006/main">
              <a:ext uri="{FF2B5EF4-FFF2-40B4-BE49-F238E27FC236}">
                <a16:creationId xmlns:a16="http://schemas.microsoft.com/office/drawing/2014/main" id="{807BDC86-D695-4FE0-ADA7-1FBA1B2A759F}"/>
              </a:ext>
            </a:extLst>
          </p:cNvPr>
          <p:cNvSpPr>
            <a:spLocks xmlns:a="http://schemas.openxmlformats.org/drawingml/2006/main" noGrp="1"/>
          </p:cNvSpPr>
          <p:nvPr/>
        </p:nvSpPr>
        <p:spPr>
          <a:xfrm xmlns:a="http://schemas.openxmlformats.org/drawingml/2006/main">
            <a:off x="9105900" y="226695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손이 빠지고 물품이 제자리에 머문 전후 모습을 비교합니다.</a:t>
            </a:r>
          </a:p>
        </p:txBody>
      </p:sp>
      <p:sp>
        <p:nvSpPr>
          <p:cNvPr id="9" name="">
            <a:extLst xmlns:a="http://schemas.openxmlformats.org/drawingml/2006/main">
              <a:ext uri="{FF2B5EF4-FFF2-40B4-BE49-F238E27FC236}">
                <a16:creationId xmlns:a16="http://schemas.microsoft.com/office/drawing/2014/main" id="{39413913-8051-4845-86C2-8423AB1C1BBE}"/>
              </a:ext>
            </a:extLst>
          </p:cNvPr>
          <p:cNvSpPr>
            <a:spLocks xmlns:a="http://schemas.openxmlformats.org/drawingml/2006/main" noGrp="1"/>
          </p:cNvSpPr>
          <p:nvPr/>
        </p:nvSpPr>
        <p:spPr>
          <a:xfrm xmlns:a="http://schemas.openxmlformats.org/drawingml/2006/main">
            <a:off x="9105900" y="32099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엣지 장치</a:t>
            </a:r>
          </a:p>
        </p:txBody>
      </p:sp>
      <p:sp>
        <p:nvSpPr>
          <p:cNvPr id="10" name="">
            <a:extLst xmlns:a="http://schemas.openxmlformats.org/drawingml/2006/main">
              <a:ext uri="{FF2B5EF4-FFF2-40B4-BE49-F238E27FC236}">
                <a16:creationId xmlns:a16="http://schemas.microsoft.com/office/drawing/2014/main" id="{E08EB1FF-7719-4E5B-99AC-1E07DF2C61FD}"/>
              </a:ext>
            </a:extLst>
          </p:cNvPr>
          <p:cNvSpPr>
            <a:spLocks xmlns:a="http://schemas.openxmlformats.org/drawingml/2006/main" noGrp="1"/>
          </p:cNvSpPr>
          <p:nvPr/>
        </p:nvSpPr>
        <p:spPr>
          <a:xfrm xmlns:a="http://schemas.openxmlformats.org/drawingml/2006/main">
            <a:off x="9105900" y="357187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카메라 가까이 있는 Raspberry Pi가 기초 분석을 맡습니다.</a:t>
            </a:r>
          </a:p>
        </p:txBody>
      </p:sp>
      <p:sp>
        <p:nvSpPr>
          <p:cNvPr id="11" name="">
            <a:extLst xmlns:a="http://schemas.openxmlformats.org/drawingml/2006/main">
              <a:ext uri="{FF2B5EF4-FFF2-40B4-BE49-F238E27FC236}">
                <a16:creationId xmlns:a16="http://schemas.microsoft.com/office/drawing/2014/main" id="{E669D2A5-49BC-4444-95C7-2645DA9E56A7}"/>
              </a:ext>
            </a:extLst>
          </p:cNvPr>
          <p:cNvSpPr>
            <a:spLocks xmlns:a="http://schemas.openxmlformats.org/drawingml/2006/main" noGrp="1"/>
          </p:cNvSpPr>
          <p:nvPr/>
        </p:nvSpPr>
        <p:spPr>
          <a:xfrm xmlns:a="http://schemas.openxmlformats.org/drawingml/2006/main">
            <a:off x="9105900" y="451485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설계의 부담</a:t>
            </a:r>
          </a:p>
        </p:txBody>
      </p:sp>
      <p:sp>
        <p:nvSpPr>
          <p:cNvPr id="12" name="">
            <a:extLst xmlns:a="http://schemas.openxmlformats.org/drawingml/2006/main">
              <a:ext uri="{FF2B5EF4-FFF2-40B4-BE49-F238E27FC236}">
                <a16:creationId xmlns:a16="http://schemas.microsoft.com/office/drawing/2014/main" id="{8E5282C8-1719-44D2-84A6-941A28D34376}"/>
              </a:ext>
            </a:extLst>
          </p:cNvPr>
          <p:cNvSpPr>
            <a:spLocks xmlns:a="http://schemas.openxmlformats.org/drawingml/2006/main" noGrp="1"/>
          </p:cNvSpPr>
          <p:nvPr/>
        </p:nvSpPr>
        <p:spPr>
          <a:xfrm xmlns:a="http://schemas.openxmlformats.org/drawingml/2006/main">
            <a:off x="9105900" y="487680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기다리는 시간이 생기고, 영상 보정에도 연산이 필요합니다.</a:t>
            </a:r>
          </a:p>
        </p:txBody>
      </p:sp>
      <p:sp>
        <p:nvSpPr>
          <p:cNvPr id="13" name="">
            <a:extLst xmlns:a="http://schemas.openxmlformats.org/drawingml/2006/main">
              <a:ext uri="{FF2B5EF4-FFF2-40B4-BE49-F238E27FC236}">
                <a16:creationId xmlns:a16="http://schemas.microsoft.com/office/drawing/2014/main" id="{74684226-6436-4292-9E06-328721089BC8}"/>
              </a:ext>
            </a:extLst>
          </p:cNvPr>
          <p:cNvSpPr>
            <a:spLocks xmlns:a="http://schemas.openxmlformats.org/drawingml/2006/main" noGrp="1"/>
          </p:cNvSpPr>
          <p:nvPr/>
        </p:nvSpPr>
        <p:spPr>
          <a:xfrm xmlns:a="http://schemas.openxmlformats.org/drawingml/2006/main">
            <a:off x="533400" y="1790700"/>
            <a:ext cx="7886700" cy="443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1800" b="0">
                <a:solidFill>
                  <a:srgbClr val="202B34"/>
                </a:solidFill>
                <a:latin typeface="Malgun Gothic"/>
                <a:ea typeface="Malgun Gothic"/>
                <a:cs typeface="Malgun Gothic"/>
              </a:defRPr>
            </a:pPr>
            <a:r>
              <a:rPr sz="1800" b="0">
                <a:solidFill>
                  <a:srgbClr val="202B34"/>
                </a:solidFill>
                <a:latin typeface="Malgun Gothic"/>
                <a:ea typeface="Malgun Gothic"/>
                <a:cs typeface="Malgun Gothic"/>
              </a:rPr>
              <a:t>본 연구에서 안정 장면은 움직임이 멈춘 뒤 일정 구간 동안 변화가 작게 유지되는 장면을 뜻한다. 움직임이 있는 동안에는 손이나 물품의 중간 위치가 관찰되지만, 안정된 전후 장면에서는 최종 배치의 차이를 비교할 수 있다. 영상 정합은 카메라 움직임 등으로 어긋난 영상의 좌표를 맞추는 처리이고, 조명 보정은 밝기 차이가 물품 변화 판단에 미치는 영향을 줄이기 위한 처리이다. 이러한 단계의 실제 효과는 보정 요소를 달리하는 비교 실험으로 확인해야 한다.</a:t>
            </a:r>
          </a:p>
          <a:p xmlns:a="http://schemas.openxmlformats.org/drawingml/2006/main">
            <a:r>
              <a:t/>
            </a:r>
          </a:p>
          <a:p xmlns:a="http://schemas.openxmlformats.org/drawingml/2006/main">
            <a:pPr>
              <a:lnSpc>
                <a:spcPct val="106000"/>
              </a:lnSpc>
              <a:buNone/>
              <a:defRPr sz="1800" b="0">
                <a:solidFill>
                  <a:srgbClr val="202B34"/>
                </a:solidFill>
                <a:latin typeface="Malgun Gothic"/>
                <a:ea typeface="Malgun Gothic"/>
                <a:cs typeface="Malgun Gothic"/>
              </a:defRPr>
            </a:pPr>
            <a:r>
              <a:rPr sz="1800" b="0">
                <a:solidFill>
                  <a:srgbClr val="202B34"/>
                </a:solidFill>
                <a:latin typeface="Malgun Gothic"/>
                <a:ea typeface="Malgun Gothic"/>
                <a:cs typeface="Malgun Gothic"/>
              </a:rPr>
              <a:t>Re:Found는 이러한 선별 관점을 물품의 상태 변화 사건에 적용한다. 로컬 장치는 추가·이동·제거 후보를 판단하고, 외부 모델은 선택된 사건의 의미를 보완한다. 여기서 사건 기반이라는 말은 일반 카메라 영상의 처리 단위를 뜻하며, 별도의 이벤트 카메라 센서를 사용한다는 의미는 아니다. 외부 호출 감소와 정확도 사이의 관계는 제안 시스템에서도 별도로 검증할 대상이다.</a:t>
            </a:r>
          </a:p>
        </p:txBody>
      </p:sp>
      <p:sp>
        <p:nvSpPr>
          <p:cNvPr id="14" name="">
            <a:extLst xmlns:a="http://schemas.openxmlformats.org/drawingml/2006/main">
              <a:ext uri="{FF2B5EF4-FFF2-40B4-BE49-F238E27FC236}">
                <a16:creationId xmlns:a16="http://schemas.microsoft.com/office/drawing/2014/main" id="{D53BEE31-7129-4614-8660-155115CAC63A}"/>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951AB8-DE92-41B4-A567-401821C83C24}"/>
              </a:ext>
            </a:extLst>
          </p:cNvPr>
          <p:cNvSpPr>
            <a:spLocks xmlns:a="http://schemas.openxmlformats.org/drawingml/2006/main" noGrp="1"/>
          </p:cNvSpPr>
          <p:nvPr/>
        </p:nvSpPr>
        <p:spPr>
          <a:xfrm xmlns:a="http://schemas.openxmlformats.org/drawingml/2006/main">
            <a:off x="533400" y="6496050"/>
            <a:ext cx="947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050" b="0">
                <a:solidFill>
                  <a:srgbClr val="657581"/>
                </a:solidFill>
                <a:latin typeface="Malgun Gothic"/>
                <a:ea typeface="Malgun Gothic"/>
                <a:cs typeface="Malgun Gothic"/>
              </a:defRPr>
            </a:pPr>
            <a:r>
              <a:rPr sz="1050" b="0">
                <a:solidFill>
                  <a:srgbClr val="657581"/>
                </a:solidFill>
                <a:latin typeface="Malgun Gothic"/>
                <a:ea typeface="Malgun Gothic"/>
                <a:cs typeface="Malgun Gothic"/>
              </a:rPr>
              <a:t>전반부 원고 3쪽 · 본문은 원문 그대로 발췌</a:t>
            </a:r>
          </a:p>
        </p:txBody>
      </p:sp>
      <p:sp>
        <p:nvSpPr>
          <p:cNvPr id="16" name="">
            <a:extLst xmlns:a="http://schemas.openxmlformats.org/drawingml/2006/main">
              <a:ext uri="{FF2B5EF4-FFF2-40B4-BE49-F238E27FC236}">
                <a16:creationId xmlns:a16="http://schemas.microsoft.com/office/drawing/2014/main" id="{37BDB2A3-39F9-466A-9698-103A2B929581}"/>
              </a:ext>
            </a:extLst>
          </p:cNvPr>
          <p:cNvSpPr>
            <a:spLocks xmlns:a="http://schemas.openxmlformats.org/drawingml/2006/main" noGrp="1"/>
          </p:cNvSpPr>
          <p:nvPr/>
        </p:nvSpPr>
        <p:spPr>
          <a:xfrm xmlns:a="http://schemas.openxmlformats.org/drawingml/2006/main">
            <a:off x="11049000" y="647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125" b="0">
                <a:solidFill>
                  <a:srgbClr val="657581"/>
                </a:solidFill>
                <a:latin typeface="Malgun Gothic"/>
                <a:ea typeface="Malgun Gothic"/>
                <a:cs typeface="Malgun Gothic"/>
              </a:defRPr>
            </a:pPr>
            <a:r>
              <a:rPr sz="1125" b="0">
                <a:solidFill>
                  <a:srgbClr val="657581"/>
                </a:solidFill>
                <a:latin typeface="Malgun Gothic"/>
                <a:ea typeface="Malgun Gothic"/>
                <a:cs typeface="Malgun Gothic"/>
              </a:rPr>
              <a:t>4 / 6</a:t>
            </a:r>
          </a:p>
        </p:txBody>
      </p:sp>
    </p:spTree>
    <p:extLst>
      <p:ext uri="{BB962C8B-B14F-4D97-AF65-F5344CB8AC3E}">
        <p14:creationId xmlns:p14="http://schemas.microsoft.com/office/powerpoint/2010/main" val="524145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512D339-F0E2-49C9-BD48-C87D856A23A7}"/>
              </a:ext>
            </a:extLst>
          </p:cNvPr>
          <p:cNvSpPr>
            <a:spLocks xmlns:a="http://schemas.openxmlformats.org/drawingml/2006/main" noGrp="1"/>
          </p:cNvSpPr>
          <p:nvPr/>
        </p:nvSpPr>
        <p:spPr>
          <a:xfrm xmlns:a="http://schemas.openxmlformats.org/drawingml/2006/main">
            <a:off x="533400" y="323850"/>
            <a:ext cx="285750" cy="38100"/>
          </a:xfrm>
          <a:prstGeom xmlns:a="http://schemas.openxmlformats.org/drawingml/2006/main" prst="rect">
            <a:avLst/>
          </a:prstGeom>
          <a:solidFill xmlns:a="http://schemas.openxmlformats.org/drawingml/2006/main">
            <a:srgbClr val="186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E61EA7-F783-4BBE-A583-870E154B2DF2}"/>
              </a:ext>
            </a:extLst>
          </p:cNvPr>
          <p:cNvSpPr>
            <a:spLocks xmlns:a="http://schemas.openxmlformats.org/drawingml/2006/main" noGrp="1"/>
          </p:cNvSpPr>
          <p:nvPr/>
        </p:nvSpPr>
        <p:spPr>
          <a:xfrm xmlns:a="http://schemas.openxmlformats.org/drawingml/2006/main">
            <a:off x="942975" y="21907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Re:Found  /  연구방법 이전 원고</a:t>
            </a:r>
          </a:p>
        </p:txBody>
      </p:sp>
      <p:sp>
        <p:nvSpPr>
          <p:cNvPr id="3" name="">
            <a:extLst xmlns:a="http://schemas.openxmlformats.org/drawingml/2006/main">
              <a:ext uri="{FF2B5EF4-FFF2-40B4-BE49-F238E27FC236}">
                <a16:creationId xmlns:a16="http://schemas.microsoft.com/office/drawing/2014/main" id="{7283DFD1-D6FF-466E-943F-9C932A6538FB}"/>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550" b="1">
                <a:solidFill>
                  <a:srgbClr val="223848"/>
                </a:solidFill>
                <a:latin typeface="Malgun Gothic"/>
                <a:ea typeface="Malgun Gothic"/>
                <a:cs typeface="Malgun Gothic"/>
              </a:defRPr>
            </a:pPr>
            <a:r>
              <a:rPr sz="2550" b="1">
                <a:solidFill>
                  <a:srgbClr val="223848"/>
                </a:solidFill>
                <a:latin typeface="Malgun Gothic"/>
                <a:ea typeface="Malgun Gothic"/>
                <a:cs typeface="Malgun Gothic"/>
              </a:rPr>
              <a:t>2-3  멀티모달 추론과 전후 시각 증거</a:t>
            </a:r>
          </a:p>
        </p:txBody>
      </p:sp>
      <p:sp>
        <p:nvSpPr>
          <p:cNvPr id="4" name="">
            <a:extLst xmlns:a="http://schemas.openxmlformats.org/drawingml/2006/main">
              <a:ext uri="{FF2B5EF4-FFF2-40B4-BE49-F238E27FC236}">
                <a16:creationId xmlns:a16="http://schemas.microsoft.com/office/drawing/2014/main" id="{9D155AED-98AD-4161-958D-224D1EAD1AB4}"/>
              </a:ext>
            </a:extLst>
          </p:cNvPr>
          <p:cNvSpPr>
            <a:spLocks xmlns:a="http://schemas.openxmlformats.org/drawingml/2006/main" noGrp="1"/>
          </p:cNvSpPr>
          <p:nvPr/>
        </p:nvSpPr>
        <p:spPr>
          <a:xfrm xmlns:a="http://schemas.openxmlformats.org/drawingml/2006/main">
            <a:off x="533400" y="138112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이론적 배경 · 원문</a:t>
            </a:r>
          </a:p>
        </p:txBody>
      </p:sp>
      <p:sp>
        <p:nvSpPr>
          <p:cNvPr id="5" name="">
            <a:extLst xmlns:a="http://schemas.openxmlformats.org/drawingml/2006/main">
              <a:ext uri="{FF2B5EF4-FFF2-40B4-BE49-F238E27FC236}">
                <a16:creationId xmlns:a16="http://schemas.microsoft.com/office/drawing/2014/main" id="{E1E8E735-CE2A-4369-8C4A-BBC861A9D121}"/>
              </a:ext>
            </a:extLst>
          </p:cNvPr>
          <p:cNvSpPr>
            <a:spLocks xmlns:a="http://schemas.openxmlformats.org/drawingml/2006/main" noGrp="1"/>
          </p:cNvSpPr>
          <p:nvPr/>
        </p:nvSpPr>
        <p:spPr>
          <a:xfrm xmlns:a="http://schemas.openxmlformats.org/drawingml/2006/main">
            <a:off x="8791575" y="1400175"/>
            <a:ext cx="9525" cy="4514850"/>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5A223E-AC09-4514-A0E9-8F7C11211D0E}"/>
              </a:ext>
            </a:extLst>
          </p:cNvPr>
          <p:cNvSpPr>
            <a:spLocks xmlns:a="http://schemas.openxmlformats.org/drawingml/2006/main" noGrp="1"/>
          </p:cNvSpPr>
          <p:nvPr/>
        </p:nvSpPr>
        <p:spPr>
          <a:xfrm xmlns:a="http://schemas.openxmlformats.org/drawingml/2006/main">
            <a:off x="9105900" y="1381125"/>
            <a:ext cx="255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75" b="1">
                <a:solidFill>
                  <a:srgbClr val="186D78"/>
                </a:solidFill>
                <a:latin typeface="Malgun Gothic"/>
                <a:ea typeface="Malgun Gothic"/>
                <a:cs typeface="Malgun Gothic"/>
              </a:defRPr>
            </a:pPr>
            <a:r>
              <a:rPr sz="1275" b="1">
                <a:solidFill>
                  <a:srgbClr val="186D78"/>
                </a:solidFill>
                <a:latin typeface="Malgun Gothic"/>
                <a:ea typeface="Malgun Gothic"/>
                <a:cs typeface="Malgun Gothic"/>
              </a:rPr>
              <a:t>이해를 돕는 설명</a:t>
            </a:r>
          </a:p>
        </p:txBody>
      </p:sp>
      <p:sp>
        <p:nvSpPr>
          <p:cNvPr id="7" name="">
            <a:extLst xmlns:a="http://schemas.openxmlformats.org/drawingml/2006/main">
              <a:ext uri="{FF2B5EF4-FFF2-40B4-BE49-F238E27FC236}">
                <a16:creationId xmlns:a16="http://schemas.microsoft.com/office/drawing/2014/main" id="{F6EC8CB8-4C3F-4511-AB23-4C08F35D3CD0}"/>
              </a:ext>
            </a:extLst>
          </p:cNvPr>
          <p:cNvSpPr>
            <a:spLocks xmlns:a="http://schemas.openxmlformats.org/drawingml/2006/main" noGrp="1"/>
          </p:cNvSpPr>
          <p:nvPr/>
        </p:nvSpPr>
        <p:spPr>
          <a:xfrm xmlns:a="http://schemas.openxmlformats.org/drawingml/2006/main">
            <a:off x="9105900" y="190500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시각언어모델</a:t>
            </a:r>
          </a:p>
        </p:txBody>
      </p:sp>
      <p:sp>
        <p:nvSpPr>
          <p:cNvPr id="8" name="">
            <a:extLst xmlns:a="http://schemas.openxmlformats.org/drawingml/2006/main">
              <a:ext uri="{FF2B5EF4-FFF2-40B4-BE49-F238E27FC236}">
                <a16:creationId xmlns:a16="http://schemas.microsoft.com/office/drawing/2014/main" id="{90F24647-CD0E-4D8D-8F0E-082F8E43B36D}"/>
              </a:ext>
            </a:extLst>
          </p:cNvPr>
          <p:cNvSpPr>
            <a:spLocks xmlns:a="http://schemas.openxmlformats.org/drawingml/2006/main" noGrp="1"/>
          </p:cNvSpPr>
          <p:nvPr/>
        </p:nvSpPr>
        <p:spPr>
          <a:xfrm xmlns:a="http://schemas.openxmlformats.org/drawingml/2006/main">
            <a:off x="9105900" y="226695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이미지를 보고 물품의 특징이나 변화의 의미를 설명하는 AI입니다.</a:t>
            </a:r>
          </a:p>
        </p:txBody>
      </p:sp>
      <p:sp>
        <p:nvSpPr>
          <p:cNvPr id="9" name="">
            <a:extLst xmlns:a="http://schemas.openxmlformats.org/drawingml/2006/main">
              <a:ext uri="{FF2B5EF4-FFF2-40B4-BE49-F238E27FC236}">
                <a16:creationId xmlns:a16="http://schemas.microsoft.com/office/drawing/2014/main" id="{08A87A0A-DD15-469D-BDEB-ADF83AD6D424}"/>
              </a:ext>
            </a:extLst>
          </p:cNvPr>
          <p:cNvSpPr>
            <a:spLocks xmlns:a="http://schemas.openxmlformats.org/drawingml/2006/main" noGrp="1"/>
          </p:cNvSpPr>
          <p:nvPr/>
        </p:nvSpPr>
        <p:spPr>
          <a:xfrm xmlns:a="http://schemas.openxmlformats.org/drawingml/2006/main">
            <a:off x="9105900" y="32099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최대 네 장</a:t>
            </a:r>
          </a:p>
        </p:txBody>
      </p:sp>
      <p:sp>
        <p:nvSpPr>
          <p:cNvPr id="10" name="">
            <a:extLst xmlns:a="http://schemas.openxmlformats.org/drawingml/2006/main">
              <a:ext uri="{FF2B5EF4-FFF2-40B4-BE49-F238E27FC236}">
                <a16:creationId xmlns:a16="http://schemas.microsoft.com/office/drawing/2014/main" id="{A93FCAC6-8C00-4DA4-8686-4286312E0233}"/>
              </a:ext>
            </a:extLst>
          </p:cNvPr>
          <p:cNvSpPr>
            <a:spLocks xmlns:a="http://schemas.openxmlformats.org/drawingml/2006/main" noGrp="1"/>
          </p:cNvSpPr>
          <p:nvPr/>
        </p:nvSpPr>
        <p:spPr>
          <a:xfrm xmlns:a="http://schemas.openxmlformats.org/drawingml/2006/main">
            <a:off x="9105900" y="357187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전체 장면 전·후와 변화 영역 전·후를 함께 제공합니다.</a:t>
            </a:r>
          </a:p>
        </p:txBody>
      </p:sp>
      <p:sp>
        <p:nvSpPr>
          <p:cNvPr id="11" name="">
            <a:extLst xmlns:a="http://schemas.openxmlformats.org/drawingml/2006/main">
              <a:ext uri="{FF2B5EF4-FFF2-40B4-BE49-F238E27FC236}">
                <a16:creationId xmlns:a16="http://schemas.microsoft.com/office/drawing/2014/main" id="{37BE4C21-0290-4228-B0EF-68E0F9CCC34C}"/>
              </a:ext>
            </a:extLst>
          </p:cNvPr>
          <p:cNvSpPr>
            <a:spLocks xmlns:a="http://schemas.openxmlformats.org/drawingml/2006/main" noGrp="1"/>
          </p:cNvSpPr>
          <p:nvPr/>
        </p:nvSpPr>
        <p:spPr>
          <a:xfrm xmlns:a="http://schemas.openxmlformats.org/drawingml/2006/main">
            <a:off x="9105900" y="451485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검증할 부분</a:t>
            </a:r>
          </a:p>
        </p:txBody>
      </p:sp>
      <p:sp>
        <p:nvSpPr>
          <p:cNvPr id="12" name="">
            <a:extLst xmlns:a="http://schemas.openxmlformats.org/drawingml/2006/main">
              <a:ext uri="{FF2B5EF4-FFF2-40B4-BE49-F238E27FC236}">
                <a16:creationId xmlns:a16="http://schemas.microsoft.com/office/drawing/2014/main" id="{DA242A9B-1895-45E3-91A8-5FFF65430842}"/>
              </a:ext>
            </a:extLst>
          </p:cNvPr>
          <p:cNvSpPr>
            <a:spLocks xmlns:a="http://schemas.openxmlformats.org/drawingml/2006/main" noGrp="1"/>
          </p:cNvSpPr>
          <p:nvPr/>
        </p:nvSpPr>
        <p:spPr>
          <a:xfrm xmlns:a="http://schemas.openxmlformats.org/drawingml/2006/main">
            <a:off x="9105900" y="487680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네 장이 더 좋은지는 같은 사건의 1장·2장·4장 비교로 확인합니다.</a:t>
            </a:r>
          </a:p>
        </p:txBody>
      </p:sp>
      <p:sp>
        <p:nvSpPr>
          <p:cNvPr id="13" name="">
            <a:extLst xmlns:a="http://schemas.openxmlformats.org/drawingml/2006/main">
              <a:ext uri="{FF2B5EF4-FFF2-40B4-BE49-F238E27FC236}">
                <a16:creationId xmlns:a16="http://schemas.microsoft.com/office/drawing/2014/main" id="{1B9178F8-AE41-44D6-BCA0-4BCFD18DB2C7}"/>
              </a:ext>
            </a:extLst>
          </p:cNvPr>
          <p:cNvSpPr>
            <a:spLocks xmlns:a="http://schemas.openxmlformats.org/drawingml/2006/main" noGrp="1"/>
          </p:cNvSpPr>
          <p:nvPr/>
        </p:nvSpPr>
        <p:spPr>
          <a:xfrm xmlns:a="http://schemas.openxmlformats.org/drawingml/2006/main">
            <a:off x="533400" y="1790700"/>
            <a:ext cx="7886700" cy="443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1800" b="0">
                <a:solidFill>
                  <a:srgbClr val="202B34"/>
                </a:solidFill>
                <a:latin typeface="Malgun Gothic"/>
                <a:ea typeface="Malgun Gothic"/>
                <a:cs typeface="Malgun Gothic"/>
              </a:defRPr>
            </a:pPr>
            <a:r>
              <a:rPr sz="1800" b="0">
                <a:solidFill>
                  <a:srgbClr val="202B34"/>
                </a:solidFill>
                <a:latin typeface="Malgun Gothic"/>
                <a:ea typeface="Malgun Gothic"/>
                <a:cs typeface="Malgun Gothic"/>
              </a:rPr>
              <a:t>시각언어모델은 이미지와 언어 정보를 연결하여 이미지의 내용을 설명하거나 질문에 답하는 모델이다. BLIP-2[8]는 사전 학습된 이미지 인코더와 대규모 언어모델을 연결하는 학습 구조를 제시하고 이미지에서 텍스트를 생성하는 능력을 보였다. 이는 영상 특징을 자연어 설명과 연결하는 이론적 배경이며, Re:Found에 BLIP-2를 직접 탑재했다는 뜻은 아니다.</a:t>
            </a:r>
          </a:p>
          <a:p xmlns:a="http://schemas.openxmlformats.org/drawingml/2006/main">
            <a:r>
              <a:t/>
            </a:r>
          </a:p>
          <a:p xmlns:a="http://schemas.openxmlformats.org/drawingml/2006/main">
            <a:pPr>
              <a:lnSpc>
                <a:spcPct val="106000"/>
              </a:lnSpc>
              <a:buNone/>
              <a:defRPr sz="1800" b="0">
                <a:solidFill>
                  <a:srgbClr val="202B34"/>
                </a:solidFill>
                <a:latin typeface="Malgun Gothic"/>
                <a:ea typeface="Malgun Gothic"/>
                <a:cs typeface="Malgun Gothic"/>
              </a:defRPr>
            </a:pPr>
            <a:r>
              <a:rPr sz="1800" b="0">
                <a:solidFill>
                  <a:srgbClr val="202B34"/>
                </a:solidFill>
                <a:latin typeface="Malgun Gothic"/>
                <a:ea typeface="Malgun Gothic"/>
                <a:cs typeface="Malgun Gothic"/>
              </a:rPr>
              <a:t>분실물 관리에서는 물품이 무엇인지와 장면에서 어떤 상태 변화가 일어났는지를 함께 판단해야 한다. 변화 영역의 확대 이미지는 물품의 외형을, 전체 장면은 위치와 주변 맥락을 제공할 수 있다. 본 연구는 전체 장면 전후와 변화 영역 전후를 최대 네 장의 증거로 구성한다. 이 구성이 단일 이미지보다 유리한지는 향후 같은 사건에 대한 증거 구성 비교로 평가하며, 불확실한 응답을 운영 상태에 반영하는 방식도 함께 고려한다.</a:t>
            </a:r>
          </a:p>
        </p:txBody>
      </p:sp>
      <p:sp>
        <p:nvSpPr>
          <p:cNvPr id="14" name="">
            <a:extLst xmlns:a="http://schemas.openxmlformats.org/drawingml/2006/main">
              <a:ext uri="{FF2B5EF4-FFF2-40B4-BE49-F238E27FC236}">
                <a16:creationId xmlns:a16="http://schemas.microsoft.com/office/drawing/2014/main" id="{517A6C43-4F4D-4AC2-9F3B-EE5A8C548A2A}"/>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B6A236-5609-4762-B92A-EB90F7CBEEE8}"/>
              </a:ext>
            </a:extLst>
          </p:cNvPr>
          <p:cNvSpPr>
            <a:spLocks xmlns:a="http://schemas.openxmlformats.org/drawingml/2006/main" noGrp="1"/>
          </p:cNvSpPr>
          <p:nvPr/>
        </p:nvSpPr>
        <p:spPr>
          <a:xfrm xmlns:a="http://schemas.openxmlformats.org/drawingml/2006/main">
            <a:off x="533400" y="6496050"/>
            <a:ext cx="947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050" b="0">
                <a:solidFill>
                  <a:srgbClr val="657581"/>
                </a:solidFill>
                <a:latin typeface="Malgun Gothic"/>
                <a:ea typeface="Malgun Gothic"/>
                <a:cs typeface="Malgun Gothic"/>
              </a:defRPr>
            </a:pPr>
            <a:r>
              <a:rPr sz="1050" b="0">
                <a:solidFill>
                  <a:srgbClr val="657581"/>
                </a:solidFill>
                <a:latin typeface="Malgun Gothic"/>
                <a:ea typeface="Malgun Gothic"/>
                <a:cs typeface="Malgun Gothic"/>
              </a:rPr>
              <a:t>전반부 원고 3쪽 · 본문은 원문 그대로</a:t>
            </a:r>
          </a:p>
        </p:txBody>
      </p:sp>
      <p:sp>
        <p:nvSpPr>
          <p:cNvPr id="16" name="">
            <a:extLst xmlns:a="http://schemas.openxmlformats.org/drawingml/2006/main">
              <a:ext uri="{FF2B5EF4-FFF2-40B4-BE49-F238E27FC236}">
                <a16:creationId xmlns:a16="http://schemas.microsoft.com/office/drawing/2014/main" id="{BE1CC953-25E0-4D2E-8C92-D9B5C985D460}"/>
              </a:ext>
            </a:extLst>
          </p:cNvPr>
          <p:cNvSpPr>
            <a:spLocks xmlns:a="http://schemas.openxmlformats.org/drawingml/2006/main" noGrp="1"/>
          </p:cNvSpPr>
          <p:nvPr/>
        </p:nvSpPr>
        <p:spPr>
          <a:xfrm xmlns:a="http://schemas.openxmlformats.org/drawingml/2006/main">
            <a:off x="11049000" y="647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125" b="0">
                <a:solidFill>
                  <a:srgbClr val="657581"/>
                </a:solidFill>
                <a:latin typeface="Malgun Gothic"/>
                <a:ea typeface="Malgun Gothic"/>
                <a:cs typeface="Malgun Gothic"/>
              </a:defRPr>
            </a:pPr>
            <a:r>
              <a:rPr sz="1125" b="0">
                <a:solidFill>
                  <a:srgbClr val="657581"/>
                </a:solidFill>
                <a:latin typeface="Malgun Gothic"/>
                <a:ea typeface="Malgun Gothic"/>
                <a:cs typeface="Malgun Gothic"/>
              </a:rPr>
              <a:t>5 / 6</a:t>
            </a:r>
          </a:p>
        </p:txBody>
      </p:sp>
    </p:spTree>
    <p:extLst>
      <p:ext uri="{BB962C8B-B14F-4D97-AF65-F5344CB8AC3E}">
        <p14:creationId xmlns:p14="http://schemas.microsoft.com/office/powerpoint/2010/main" val="17455107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D7DEB79-34F4-4406-B94F-2E70A5C8FB1B}"/>
              </a:ext>
            </a:extLst>
          </p:cNvPr>
          <p:cNvSpPr>
            <a:spLocks xmlns:a="http://schemas.openxmlformats.org/drawingml/2006/main" noGrp="1"/>
          </p:cNvSpPr>
          <p:nvPr/>
        </p:nvSpPr>
        <p:spPr>
          <a:xfrm xmlns:a="http://schemas.openxmlformats.org/drawingml/2006/main">
            <a:off x="533400" y="323850"/>
            <a:ext cx="285750" cy="38100"/>
          </a:xfrm>
          <a:prstGeom xmlns:a="http://schemas.openxmlformats.org/drawingml/2006/main" prst="rect">
            <a:avLst/>
          </a:prstGeom>
          <a:solidFill xmlns:a="http://schemas.openxmlformats.org/drawingml/2006/main">
            <a:srgbClr val="186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2AC7A0-4F60-4D18-B825-6093A8DB64F0}"/>
              </a:ext>
            </a:extLst>
          </p:cNvPr>
          <p:cNvSpPr>
            <a:spLocks xmlns:a="http://schemas.openxmlformats.org/drawingml/2006/main" noGrp="1"/>
          </p:cNvSpPr>
          <p:nvPr/>
        </p:nvSpPr>
        <p:spPr>
          <a:xfrm xmlns:a="http://schemas.openxmlformats.org/drawingml/2006/main">
            <a:off x="942975" y="21907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Re:Found  /  연구방법 이전 원고</a:t>
            </a:r>
          </a:p>
        </p:txBody>
      </p:sp>
      <p:sp>
        <p:nvSpPr>
          <p:cNvPr id="3" name="">
            <a:extLst xmlns:a="http://schemas.openxmlformats.org/drawingml/2006/main">
              <a:ext uri="{FF2B5EF4-FFF2-40B4-BE49-F238E27FC236}">
                <a16:creationId xmlns:a16="http://schemas.microsoft.com/office/drawing/2014/main" id="{C457CFC8-CE81-407B-8390-218E7D9A3CF9}"/>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550" b="1">
                <a:solidFill>
                  <a:srgbClr val="223848"/>
                </a:solidFill>
                <a:latin typeface="Malgun Gothic"/>
                <a:ea typeface="Malgun Gothic"/>
                <a:cs typeface="Malgun Gothic"/>
              </a:defRPr>
            </a:pPr>
            <a:r>
              <a:rPr sz="2550" b="1">
                <a:solidFill>
                  <a:srgbClr val="223848"/>
                </a:solidFill>
                <a:latin typeface="Malgun Gothic"/>
                <a:ea typeface="Malgun Gothic"/>
                <a:cs typeface="Malgun Gothic"/>
              </a:rPr>
              <a:t>2-4  관련 연구와 본 연구의 위치</a:t>
            </a:r>
          </a:p>
        </p:txBody>
      </p:sp>
      <p:sp>
        <p:nvSpPr>
          <p:cNvPr id="4" name="">
            <a:extLst xmlns:a="http://schemas.openxmlformats.org/drawingml/2006/main">
              <a:ext uri="{FF2B5EF4-FFF2-40B4-BE49-F238E27FC236}">
                <a16:creationId xmlns:a16="http://schemas.microsoft.com/office/drawing/2014/main" id="{2D21B195-4BAD-498A-9007-CB00D443392C}"/>
              </a:ext>
            </a:extLst>
          </p:cNvPr>
          <p:cNvSpPr>
            <a:spLocks xmlns:a="http://schemas.openxmlformats.org/drawingml/2006/main" noGrp="1"/>
          </p:cNvSpPr>
          <p:nvPr/>
        </p:nvSpPr>
        <p:spPr>
          <a:xfrm xmlns:a="http://schemas.openxmlformats.org/drawingml/2006/main">
            <a:off x="533400" y="138112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00" b="0">
                <a:solidFill>
                  <a:srgbClr val="657581"/>
                </a:solidFill>
                <a:latin typeface="Malgun Gothic"/>
                <a:ea typeface="Malgun Gothic"/>
                <a:cs typeface="Malgun Gothic"/>
              </a:defRPr>
            </a:pPr>
            <a:r>
              <a:rPr sz="1200" b="0">
                <a:solidFill>
                  <a:srgbClr val="657581"/>
                </a:solidFill>
                <a:latin typeface="Malgun Gothic"/>
                <a:ea typeface="Malgun Gothic"/>
                <a:cs typeface="Malgun Gothic"/>
              </a:rPr>
              <a:t>관련 연구 · 표와 원문</a:t>
            </a:r>
          </a:p>
        </p:txBody>
      </p:sp>
      <p:sp>
        <p:nvSpPr>
          <p:cNvPr id="5" name="">
            <a:extLst xmlns:a="http://schemas.openxmlformats.org/drawingml/2006/main">
              <a:ext uri="{FF2B5EF4-FFF2-40B4-BE49-F238E27FC236}">
                <a16:creationId xmlns:a16="http://schemas.microsoft.com/office/drawing/2014/main" id="{159393C9-53CF-4F60-A741-13DF66FD3EBB}"/>
              </a:ext>
            </a:extLst>
          </p:cNvPr>
          <p:cNvSpPr>
            <a:spLocks xmlns:a="http://schemas.openxmlformats.org/drawingml/2006/main" noGrp="1"/>
          </p:cNvSpPr>
          <p:nvPr/>
        </p:nvSpPr>
        <p:spPr>
          <a:xfrm xmlns:a="http://schemas.openxmlformats.org/drawingml/2006/main">
            <a:off x="8791575" y="1400175"/>
            <a:ext cx="9525" cy="4514850"/>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054ECD-A243-4BDA-9018-C9B398D5DDB8}"/>
              </a:ext>
            </a:extLst>
          </p:cNvPr>
          <p:cNvSpPr>
            <a:spLocks xmlns:a="http://schemas.openxmlformats.org/drawingml/2006/main" noGrp="1"/>
          </p:cNvSpPr>
          <p:nvPr/>
        </p:nvSpPr>
        <p:spPr>
          <a:xfrm xmlns:a="http://schemas.openxmlformats.org/drawingml/2006/main">
            <a:off x="9105900" y="1381125"/>
            <a:ext cx="255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275" b="1">
                <a:solidFill>
                  <a:srgbClr val="186D78"/>
                </a:solidFill>
                <a:latin typeface="Malgun Gothic"/>
                <a:ea typeface="Malgun Gothic"/>
                <a:cs typeface="Malgun Gothic"/>
              </a:defRPr>
            </a:pPr>
            <a:r>
              <a:rPr sz="1275" b="1">
                <a:solidFill>
                  <a:srgbClr val="186D78"/>
                </a:solidFill>
                <a:latin typeface="Malgun Gothic"/>
                <a:ea typeface="Malgun Gothic"/>
                <a:cs typeface="Malgun Gothic"/>
              </a:rPr>
              <a:t>이해를 돕는 설명</a:t>
            </a:r>
          </a:p>
        </p:txBody>
      </p:sp>
      <p:sp>
        <p:nvSpPr>
          <p:cNvPr id="7" name="">
            <a:extLst xmlns:a="http://schemas.openxmlformats.org/drawingml/2006/main">
              <a:ext uri="{FF2B5EF4-FFF2-40B4-BE49-F238E27FC236}">
                <a16:creationId xmlns:a16="http://schemas.microsoft.com/office/drawing/2014/main" id="{E6E47D99-C453-40A5-B56A-F341B6D4F01E}"/>
              </a:ext>
            </a:extLst>
          </p:cNvPr>
          <p:cNvSpPr>
            <a:spLocks xmlns:a="http://schemas.openxmlformats.org/drawingml/2006/main" noGrp="1"/>
          </p:cNvSpPr>
          <p:nvPr/>
        </p:nvSpPr>
        <p:spPr>
          <a:xfrm xmlns:a="http://schemas.openxmlformats.org/drawingml/2006/main">
            <a:off x="9105900" y="190500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표를 읽는 방법</a:t>
            </a:r>
          </a:p>
        </p:txBody>
      </p:sp>
      <p:sp>
        <p:nvSpPr>
          <p:cNvPr id="8" name="">
            <a:extLst xmlns:a="http://schemas.openxmlformats.org/drawingml/2006/main">
              <a:ext uri="{FF2B5EF4-FFF2-40B4-BE49-F238E27FC236}">
                <a16:creationId xmlns:a16="http://schemas.microsoft.com/office/drawing/2014/main" id="{BC4CC74D-E8F7-43BB-9979-070AC00C7E46}"/>
              </a:ext>
            </a:extLst>
          </p:cNvPr>
          <p:cNvSpPr>
            <a:spLocks xmlns:a="http://schemas.openxmlformats.org/drawingml/2006/main" noGrp="1"/>
          </p:cNvSpPr>
          <p:nvPr/>
        </p:nvSpPr>
        <p:spPr>
          <a:xfrm xmlns:a="http://schemas.openxmlformats.org/drawingml/2006/main">
            <a:off x="9105900" y="226695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정확도 순위가 아니라 각 연구가 다루는 문제를 비교합니다.</a:t>
            </a:r>
          </a:p>
        </p:txBody>
      </p:sp>
      <p:sp>
        <p:nvSpPr>
          <p:cNvPr id="9" name="">
            <a:extLst xmlns:a="http://schemas.openxmlformats.org/drawingml/2006/main">
              <a:ext uri="{FF2B5EF4-FFF2-40B4-BE49-F238E27FC236}">
                <a16:creationId xmlns:a16="http://schemas.microsoft.com/office/drawing/2014/main" id="{08C1C117-E8B5-4722-9D1B-2A4E291947CE}"/>
              </a:ext>
            </a:extLst>
          </p:cNvPr>
          <p:cNvSpPr>
            <a:spLocks xmlns:a="http://schemas.openxmlformats.org/drawingml/2006/main" noGrp="1"/>
          </p:cNvSpPr>
          <p:nvPr/>
        </p:nvSpPr>
        <p:spPr>
          <a:xfrm xmlns:a="http://schemas.openxmlformats.org/drawingml/2006/main">
            <a:off x="9105900" y="32099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우리 연구의 초점</a:t>
            </a:r>
          </a:p>
        </p:txBody>
      </p:sp>
      <p:sp>
        <p:nvSpPr>
          <p:cNvPr id="10" name="">
            <a:extLst xmlns:a="http://schemas.openxmlformats.org/drawingml/2006/main">
              <a:ext uri="{FF2B5EF4-FFF2-40B4-BE49-F238E27FC236}">
                <a16:creationId xmlns:a16="http://schemas.microsoft.com/office/drawing/2014/main" id="{8741D19E-8874-4C82-88F9-59632B9D8BEA}"/>
              </a:ext>
            </a:extLst>
          </p:cNvPr>
          <p:cNvSpPr>
            <a:spLocks xmlns:a="http://schemas.openxmlformats.org/drawingml/2006/main" noGrp="1"/>
          </p:cNvSpPr>
          <p:nvPr/>
        </p:nvSpPr>
        <p:spPr>
          <a:xfrm xmlns:a="http://schemas.openxmlformats.org/drawingml/2006/main">
            <a:off x="9105900" y="3571875"/>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사건 선별 → 의미 추론 → 보관 관리 이력을 연결합니다.</a:t>
            </a:r>
          </a:p>
        </p:txBody>
      </p:sp>
      <p:sp>
        <p:nvSpPr>
          <p:cNvPr id="11" name="">
            <a:extLst xmlns:a="http://schemas.openxmlformats.org/drawingml/2006/main">
              <a:ext uri="{FF2B5EF4-FFF2-40B4-BE49-F238E27FC236}">
                <a16:creationId xmlns:a16="http://schemas.microsoft.com/office/drawing/2014/main" id="{F6E83AA4-61B4-4858-AE93-BC233A548FE1}"/>
              </a:ext>
            </a:extLst>
          </p:cNvPr>
          <p:cNvSpPr>
            <a:spLocks xmlns:a="http://schemas.openxmlformats.org/drawingml/2006/main" noGrp="1"/>
          </p:cNvSpPr>
          <p:nvPr/>
        </p:nvSpPr>
        <p:spPr>
          <a:xfrm xmlns:a="http://schemas.openxmlformats.org/drawingml/2006/main">
            <a:off x="9105900" y="4514850"/>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575" b="1">
                <a:solidFill>
                  <a:srgbClr val="223848"/>
                </a:solidFill>
                <a:latin typeface="Malgun Gothic"/>
                <a:ea typeface="Malgun Gothic"/>
                <a:cs typeface="Malgun Gothic"/>
              </a:defRPr>
            </a:pPr>
            <a:r>
              <a:rPr sz="1575" b="1">
                <a:solidFill>
                  <a:srgbClr val="223848"/>
                </a:solidFill>
                <a:latin typeface="Malgun Gothic"/>
                <a:ea typeface="Malgun Gothic"/>
                <a:cs typeface="Malgun Gothic"/>
              </a:rPr>
              <a:t>다음 본론</a:t>
            </a:r>
          </a:p>
        </p:txBody>
      </p:sp>
      <p:sp>
        <p:nvSpPr>
          <p:cNvPr id="12" name="">
            <a:extLst xmlns:a="http://schemas.openxmlformats.org/drawingml/2006/main">
              <a:ext uri="{FF2B5EF4-FFF2-40B4-BE49-F238E27FC236}">
                <a16:creationId xmlns:a16="http://schemas.microsoft.com/office/drawing/2014/main" id="{5DE66776-E551-4738-B6DE-679B08B2D5E9}"/>
              </a:ext>
            </a:extLst>
          </p:cNvPr>
          <p:cNvSpPr>
            <a:spLocks xmlns:a="http://schemas.openxmlformats.org/drawingml/2006/main" noGrp="1"/>
          </p:cNvSpPr>
          <p:nvPr/>
        </p:nvSpPr>
        <p:spPr>
          <a:xfrm xmlns:a="http://schemas.openxmlformats.org/drawingml/2006/main">
            <a:off x="9105900" y="4876800"/>
            <a:ext cx="2543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500" b="0">
                <a:solidFill>
                  <a:srgbClr val="202B34"/>
                </a:solidFill>
                <a:latin typeface="Malgun Gothic"/>
                <a:ea typeface="Malgun Gothic"/>
                <a:cs typeface="Malgun Gothic"/>
              </a:defRPr>
            </a:pPr>
            <a:r>
              <a:rPr sz="1500" b="0">
                <a:solidFill>
                  <a:srgbClr val="202B34"/>
                </a:solidFill>
                <a:latin typeface="Malgun Gothic"/>
                <a:ea typeface="Malgun Gothic"/>
                <a:cs typeface="Malgun Gothic"/>
              </a:rPr>
              <a:t>설계·알고리즘·실험 방법을 설명하고 실측 결과로 검증합니다.</a:t>
            </a:r>
          </a:p>
        </p:txBody>
      </p:sp>
      <p:graphicFrame>
        <p:nvGraphicFramePr>
          <p:cNvPr id="30" name=""/>
          <p:cNvGraphicFramePr/>
          <p:nvPr/>
        </p:nvGraphicFramePr>
        <p:xfrm>
          <a:off xmlns:a="http://schemas.openxmlformats.org/drawingml/2006/main" x="533400" y="1828800"/>
          <a:ext xmlns:a="http://schemas.openxmlformats.org/drawingml/2006/main" cx="7886700" cy="2857500"/>
        </p:xfrm>
        <a:graphic xmlns:a="http://schemas.openxmlformats.org/drawingml/2006/main">
          <a:graphicData uri="http://schemas.openxmlformats.org/drawingml/2006/table">
            <a:tbl>
              <a:tblPr firstRow="1" bandRow="0"/>
              <a:tblGrid>
                <a:gridCol w="1638300"/>
                <a:gridCol w="3105150"/>
                <a:gridCol w="3143250"/>
              </a:tblGrid>
              <a:tr h="476250">
                <a:tc>
                  <a:txBody>
                    <a:bodyPr/>
                    <a:lstStyle/>
                    <a:p>
                      <a:r>
                        <a:rPr sz="1425" b="1">
                          <a:solidFill>
                            <a:srgbClr val="223848"/>
                          </a:solidFill>
                          <a:latin typeface="Malgun Gothic"/>
                          <a:ea typeface="Malgun Gothic"/>
                          <a:cs typeface="Malgun Gothic"/>
                        </a:rPr>
                        <a:t>연구</a:t>
                      </a:r>
                    </a:p>
                  </a:txBody>
                  <a:tcPr marL="95250" marR="95250" marT="95250" marB="95250" anchor="ctr">
                    <a:solidFill>
                      <a:srgbClr val="F3F6F8"/>
                    </a:solidFill>
                  </a:tcPr>
                </a:tc>
                <a:tc>
                  <a:txBody>
                    <a:bodyPr/>
                    <a:lstStyle/>
                    <a:p>
                      <a:r>
                        <a:rPr sz="1425" b="1">
                          <a:solidFill>
                            <a:srgbClr val="223848"/>
                          </a:solidFill>
                          <a:latin typeface="Malgun Gothic"/>
                          <a:ea typeface="Malgun Gothic"/>
                          <a:cs typeface="Malgun Gothic"/>
                        </a:rPr>
                        <a:t>주요 대상과 접근</a:t>
                      </a:r>
                    </a:p>
                  </a:txBody>
                  <a:tcPr marL="95250" marR="95250" marT="95250" marB="95250" anchor="ctr">
                    <a:solidFill>
                      <a:srgbClr val="F3F6F8"/>
                    </a:solidFill>
                  </a:tcPr>
                </a:tc>
                <a:tc>
                  <a:txBody>
                    <a:bodyPr/>
                    <a:lstStyle/>
                    <a:p>
                      <a:r>
                        <a:rPr sz="1425" b="1">
                          <a:solidFill>
                            <a:srgbClr val="223848"/>
                          </a:solidFill>
                          <a:latin typeface="Malgun Gothic"/>
                          <a:ea typeface="Malgun Gothic"/>
                          <a:cs typeface="Malgun Gothic"/>
                        </a:rPr>
                        <a:t>본 연구에서 집중하는 문제</a:t>
                      </a:r>
                    </a:p>
                  </a:txBody>
                  <a:tcPr marL="95250" marR="95250" marT="95250" marB="95250" anchor="ctr">
                    <a:solidFill>
                      <a:srgbClr val="F3F6F8"/>
                    </a:solidFill>
                  </a:tcPr>
                </a:tc>
              </a:tr>
              <a:tr h="476250">
                <a:tc>
                  <a:txBody>
                    <a:bodyPr/>
                    <a:lstStyle/>
                    <a:p>
                      <a:r>
                        <a:rPr sz="1425">
                          <a:solidFill>
                            <a:srgbClr val="202B34"/>
                          </a:solidFill>
                          <a:latin typeface="Malgun Gothic"/>
                          <a:ea typeface="Malgun Gothic"/>
                          <a:cs typeface="Malgun Gothic"/>
                        </a:rPr>
                        <a:t>정하민 등[1]</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사진 기반 분류와 등록·조회</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영상에서 등록 시점 선별</a:t>
                      </a:r>
                    </a:p>
                  </a:txBody>
                  <a:tcPr marL="95250" marR="95250" marT="95250" marB="95250" anchor="ctr">
                    <a:solidFill>
                      <a:srgbClr val="FFFFFF"/>
                    </a:solidFill>
                  </a:tcPr>
                </a:tc>
              </a:tr>
              <a:tr h="476250">
                <a:tc>
                  <a:txBody>
                    <a:bodyPr/>
                    <a:lstStyle/>
                    <a:p>
                      <a:r>
                        <a:rPr sz="1425">
                          <a:solidFill>
                            <a:srgbClr val="202B34"/>
                          </a:solidFill>
                          <a:latin typeface="Malgun Gothic"/>
                          <a:ea typeface="Malgun Gothic"/>
                          <a:cs typeface="Malgun Gothic"/>
                        </a:rPr>
                        <a:t>장현상 등[2]</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사람·가방 추적과 소유 관계 매칭</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보관대 물품의 상태 변화</a:t>
                      </a:r>
                    </a:p>
                  </a:txBody>
                  <a:tcPr marL="95250" marR="95250" marT="95250" marB="95250" anchor="ctr">
                    <a:solidFill>
                      <a:srgbClr val="FFFFFF"/>
                    </a:solidFill>
                  </a:tcPr>
                </a:tc>
              </a:tr>
              <a:tr h="476250">
                <a:tc>
                  <a:txBody>
                    <a:bodyPr/>
                    <a:lstStyle/>
                    <a:p>
                      <a:r>
                        <a:rPr sz="1425">
                          <a:solidFill>
                            <a:srgbClr val="202B34"/>
                          </a:solidFill>
                          <a:latin typeface="Malgun Gothic"/>
                          <a:ea typeface="Malgun Gothic"/>
                          <a:cs typeface="Malgun Gothic"/>
                        </a:rPr>
                        <a:t>양형준·최규상[3]</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차량 전후 이미지의 변화 후보</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연속 감시 중 추가·이동·제거</a:t>
                      </a:r>
                    </a:p>
                  </a:txBody>
                  <a:tcPr marL="95250" marR="95250" marT="95250" marB="95250" anchor="ctr">
                    <a:solidFill>
                      <a:srgbClr val="FFFFFF"/>
                    </a:solidFill>
                  </a:tcPr>
                </a:tc>
              </a:tr>
              <a:tr h="476250">
                <a:tc>
                  <a:txBody>
                    <a:bodyPr/>
                    <a:lstStyle/>
                    <a:p>
                      <a:r>
                        <a:rPr sz="1425">
                          <a:solidFill>
                            <a:srgbClr val="202B34"/>
                          </a:solidFill>
                          <a:latin typeface="Malgun Gothic"/>
                          <a:ea typeface="Malgun Gothic"/>
                          <a:cs typeface="Malgun Gothic"/>
                        </a:rPr>
                        <a:t>NoScope[6]·</a:t>
                      </a:r>
                    </a:p>
                    <a:p>
                      <a:r>
                        <a:rPr sz="1425">
                          <a:solidFill>
                            <a:srgbClr val="202B34"/>
                          </a:solidFill>
                          <a:latin typeface="Malgun Gothic"/>
                          <a:ea typeface="Malgun Gothic"/>
                          <a:cs typeface="Malgun Gothic"/>
                        </a:rPr>
                        <a:t>Reducto[7]</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고비용 영상 분석 전 입력 선별</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사건 증거와 외부 의미 추론의 연결</a:t>
                      </a:r>
                    </a:p>
                  </a:txBody>
                  <a:tcPr marL="95250" marR="95250" marT="95250" marB="95250" anchor="ctr">
                    <a:solidFill>
                      <a:srgbClr val="FFFFFF"/>
                    </a:solidFill>
                  </a:tcPr>
                </a:tc>
              </a:tr>
              <a:tr h="476250">
                <a:tc>
                  <a:txBody>
                    <a:bodyPr/>
                    <a:lstStyle/>
                    <a:p>
                      <a:r>
                        <a:rPr sz="1425">
                          <a:solidFill>
                            <a:srgbClr val="202B34"/>
                          </a:solidFill>
                          <a:latin typeface="Malgun Gothic"/>
                          <a:ea typeface="Malgun Gothic"/>
                          <a:cs typeface="Malgun Gothic"/>
                        </a:rPr>
                        <a:t>Re:Found</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로컬 사건 선별과 선택적 외부 추론</a:t>
                      </a:r>
                    </a:p>
                  </a:txBody>
                  <a:tcPr marL="95250" marR="95250" marT="95250" marB="95250" anchor="ctr">
                    <a:solidFill>
                      <a:srgbClr val="FFFFFF"/>
                    </a:solidFill>
                  </a:tcPr>
                </a:tc>
                <a:tc>
                  <a:txBody>
                    <a:bodyPr/>
                    <a:lstStyle/>
                    <a:p>
                      <a:r>
                        <a:rPr sz="1425">
                          <a:solidFill>
                            <a:srgbClr val="202B34"/>
                          </a:solidFill>
                          <a:latin typeface="Malgun Gothic"/>
                          <a:ea typeface="Malgun Gothic"/>
                          <a:cs typeface="Malgun Gothic"/>
                        </a:rPr>
                        <a:t>감지부터 물품 관리 이력까지 통합</a:t>
                      </a:r>
                    </a:p>
                  </a:txBody>
                  <a:tcPr marL="95250" marR="95250" marT="95250" marB="9525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77478B0F-6217-4B0C-A299-17E43D3EE9A2}"/>
              </a:ext>
            </a:extLst>
          </p:cNvPr>
          <p:cNvSpPr>
            <a:spLocks xmlns:a="http://schemas.openxmlformats.org/drawingml/2006/main" noGrp="1"/>
          </p:cNvSpPr>
          <p:nvPr/>
        </p:nvSpPr>
        <p:spPr>
          <a:xfrm xmlns:a="http://schemas.openxmlformats.org/drawingml/2006/main">
            <a:off x="533400" y="4953000"/>
            <a:ext cx="78867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1613" b="0">
                <a:solidFill>
                  <a:srgbClr val="202B34"/>
                </a:solidFill>
                <a:latin typeface="Malgun Gothic"/>
                <a:ea typeface="Malgun Gothic"/>
                <a:cs typeface="Malgun Gothic"/>
              </a:defRPr>
            </a:pPr>
            <a:r>
              <a:rPr sz="1613" b="0">
                <a:solidFill>
                  <a:srgbClr val="202B34"/>
                </a:solidFill>
                <a:latin typeface="Malgun Gothic"/>
                <a:ea typeface="Malgun Gothic"/>
                <a:cs typeface="Malgun Gothic"/>
              </a:rPr>
              <a:t>본 연구의 기여는 안정 장면을 이용한 사건 선별, 선택적 의미 추론 및 물품 관리 이력을 연결하는 시스템 구성에 있다. 특히 오탐 억제와 지연, 외부 호출 감소와 사건 누락의 관계를 함께 평가한다. 관련 연구와 데이터·장치·평가 단위가 다르므로 문헌의 정확도를 직접 비교하지 않으며, 동일 영상에 적용한 비교 구성으로 설계의 효과와 한계를 확인한다.</a:t>
            </a:r>
          </a:p>
        </p:txBody>
      </p:sp>
      <p:sp>
        <p:nvSpPr>
          <p:cNvPr id="15" name="">
            <a:extLst xmlns:a="http://schemas.openxmlformats.org/drawingml/2006/main">
              <a:ext uri="{FF2B5EF4-FFF2-40B4-BE49-F238E27FC236}">
                <a16:creationId xmlns:a16="http://schemas.microsoft.com/office/drawing/2014/main" id="{09101E10-4E2A-4A9F-B064-E53F77EAF47F}"/>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CDD7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4FEE4B3-8080-4A24-A803-B101192E8406}"/>
              </a:ext>
            </a:extLst>
          </p:cNvPr>
          <p:cNvSpPr>
            <a:spLocks xmlns:a="http://schemas.openxmlformats.org/drawingml/2006/main" noGrp="1"/>
          </p:cNvSpPr>
          <p:nvPr/>
        </p:nvSpPr>
        <p:spPr>
          <a:xfrm xmlns:a="http://schemas.openxmlformats.org/drawingml/2006/main">
            <a:off x="533400" y="6496050"/>
            <a:ext cx="947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050" b="0">
                <a:solidFill>
                  <a:srgbClr val="657581"/>
                </a:solidFill>
                <a:latin typeface="Malgun Gothic"/>
                <a:ea typeface="Malgun Gothic"/>
                <a:cs typeface="Malgun Gothic"/>
              </a:defRPr>
            </a:pPr>
            <a:r>
              <a:rPr sz="1050" b="0">
                <a:solidFill>
                  <a:srgbClr val="657581"/>
                </a:solidFill>
                <a:latin typeface="Malgun Gothic"/>
                <a:ea typeface="Malgun Gothic"/>
                <a:cs typeface="Malgun Gothic"/>
              </a:rPr>
              <a:t>전반부 원고 4쪽 · 본문은 원문 그대로</a:t>
            </a:r>
          </a:p>
        </p:txBody>
      </p:sp>
      <p:sp>
        <p:nvSpPr>
          <p:cNvPr id="17" name="">
            <a:extLst xmlns:a="http://schemas.openxmlformats.org/drawingml/2006/main">
              <a:ext uri="{FF2B5EF4-FFF2-40B4-BE49-F238E27FC236}">
                <a16:creationId xmlns:a16="http://schemas.microsoft.com/office/drawing/2014/main" id="{A3AA1F45-BB42-40C3-A9EE-9FEFBD1B9413}"/>
              </a:ext>
            </a:extLst>
          </p:cNvPr>
          <p:cNvSpPr>
            <a:spLocks xmlns:a="http://schemas.openxmlformats.org/drawingml/2006/main" noGrp="1"/>
          </p:cNvSpPr>
          <p:nvPr/>
        </p:nvSpPr>
        <p:spPr>
          <a:xfrm xmlns:a="http://schemas.openxmlformats.org/drawingml/2006/main">
            <a:off x="11049000" y="647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8000"/>
              </a:lnSpc>
              <a:buNone/>
              <a:defRPr sz="1125" b="0">
                <a:solidFill>
                  <a:srgbClr val="657581"/>
                </a:solidFill>
                <a:latin typeface="Malgun Gothic"/>
                <a:ea typeface="Malgun Gothic"/>
                <a:cs typeface="Malgun Gothic"/>
              </a:defRPr>
            </a:pPr>
            <a:r>
              <a:rPr sz="1125" b="0">
                <a:solidFill>
                  <a:srgbClr val="657581"/>
                </a:solidFill>
                <a:latin typeface="Malgun Gothic"/>
                <a:ea typeface="Malgun Gothic"/>
                <a:cs typeface="Malgun Gothic"/>
              </a:rPr>
              <a:t>6 / 6</a:t>
            </a:r>
          </a:p>
        </p:txBody>
      </p:sp>
    </p:spTree>
    <p:extLst>
      <p:ext uri="{BB962C8B-B14F-4D97-AF65-F5344CB8AC3E}">
        <p14:creationId xmlns:p14="http://schemas.microsoft.com/office/powerpoint/2010/main" val="1967397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2026-09-16T05:41:29.3830000Z</dcterms:created>
  <dcterms:modified xsi:type="dcterms:W3CDTF">2026-09-16T05:41:29.3830000Z</dcterms:modified>
</coreProperties>
</file>